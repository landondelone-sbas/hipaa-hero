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05"/>
  </p:notesMasterIdLst>
  <p:sldIdLst>
    <p:sldId id="274" r:id="rId2"/>
    <p:sldId id="475" r:id="rId3"/>
    <p:sldId id="387" r:id="rId4"/>
    <p:sldId id="476" r:id="rId5"/>
    <p:sldId id="402" r:id="rId6"/>
    <p:sldId id="375" r:id="rId7"/>
    <p:sldId id="374" r:id="rId8"/>
    <p:sldId id="388" r:id="rId9"/>
    <p:sldId id="389" r:id="rId10"/>
    <p:sldId id="391" r:id="rId11"/>
    <p:sldId id="390" r:id="rId12"/>
    <p:sldId id="400" r:id="rId13"/>
    <p:sldId id="393" r:id="rId14"/>
    <p:sldId id="395" r:id="rId15"/>
    <p:sldId id="397" r:id="rId16"/>
    <p:sldId id="398" r:id="rId17"/>
    <p:sldId id="392" r:id="rId18"/>
    <p:sldId id="347" r:id="rId19"/>
    <p:sldId id="394" r:id="rId20"/>
    <p:sldId id="437" r:id="rId21"/>
    <p:sldId id="441" r:id="rId22"/>
    <p:sldId id="454" r:id="rId23"/>
    <p:sldId id="455" r:id="rId24"/>
    <p:sldId id="456" r:id="rId25"/>
    <p:sldId id="376" r:id="rId26"/>
    <p:sldId id="290" r:id="rId27"/>
    <p:sldId id="303" r:id="rId28"/>
    <p:sldId id="316" r:id="rId29"/>
    <p:sldId id="335" r:id="rId30"/>
    <p:sldId id="315" r:id="rId31"/>
    <p:sldId id="297" r:id="rId32"/>
    <p:sldId id="322" r:id="rId33"/>
    <p:sldId id="338" r:id="rId34"/>
    <p:sldId id="334" r:id="rId35"/>
    <p:sldId id="457" r:id="rId36"/>
    <p:sldId id="458" r:id="rId37"/>
    <p:sldId id="474" r:id="rId38"/>
    <p:sldId id="417" r:id="rId39"/>
    <p:sldId id="470" r:id="rId40"/>
    <p:sldId id="469" r:id="rId41"/>
    <p:sldId id="346" r:id="rId42"/>
    <p:sldId id="348" r:id="rId43"/>
    <p:sldId id="349" r:id="rId44"/>
    <p:sldId id="355" r:id="rId45"/>
    <p:sldId id="350" r:id="rId46"/>
    <p:sldId id="471" r:id="rId47"/>
    <p:sldId id="351" r:id="rId48"/>
    <p:sldId id="352" r:id="rId49"/>
    <p:sldId id="353" r:id="rId50"/>
    <p:sldId id="354" r:id="rId51"/>
    <p:sldId id="472" r:id="rId52"/>
    <p:sldId id="473" r:id="rId53"/>
    <p:sldId id="459" r:id="rId54"/>
    <p:sldId id="460" r:id="rId55"/>
    <p:sldId id="344" r:id="rId56"/>
    <p:sldId id="419" r:id="rId57"/>
    <p:sldId id="318" r:id="rId58"/>
    <p:sldId id="434" r:id="rId59"/>
    <p:sldId id="319" r:id="rId60"/>
    <p:sldId id="433" r:id="rId61"/>
    <p:sldId id="366" r:id="rId62"/>
    <p:sldId id="324" r:id="rId63"/>
    <p:sldId id="356" r:id="rId64"/>
    <p:sldId id="323" r:id="rId65"/>
    <p:sldId id="359" r:id="rId66"/>
    <p:sldId id="367" r:id="rId67"/>
    <p:sldId id="368" r:id="rId68"/>
    <p:sldId id="369" r:id="rId69"/>
    <p:sldId id="370" r:id="rId70"/>
    <p:sldId id="372" r:id="rId71"/>
    <p:sldId id="360" r:id="rId72"/>
    <p:sldId id="320" r:id="rId73"/>
    <p:sldId id="321" r:id="rId74"/>
    <p:sldId id="357" r:id="rId75"/>
    <p:sldId id="461" r:id="rId76"/>
    <p:sldId id="462" r:id="rId77"/>
    <p:sldId id="404" r:id="rId78"/>
    <p:sldId id="405" r:id="rId79"/>
    <p:sldId id="406" r:id="rId80"/>
    <p:sldId id="407" r:id="rId81"/>
    <p:sldId id="408" r:id="rId82"/>
    <p:sldId id="409" r:id="rId83"/>
    <p:sldId id="410" r:id="rId84"/>
    <p:sldId id="463" r:id="rId85"/>
    <p:sldId id="464" r:id="rId86"/>
    <p:sldId id="411" r:id="rId87"/>
    <p:sldId id="412" r:id="rId88"/>
    <p:sldId id="413" r:id="rId89"/>
    <p:sldId id="465" r:id="rId90"/>
    <p:sldId id="466" r:id="rId91"/>
    <p:sldId id="403" r:id="rId92"/>
    <p:sldId id="440" r:id="rId93"/>
    <p:sldId id="448" r:id="rId94"/>
    <p:sldId id="449" r:id="rId95"/>
    <p:sldId id="450" r:id="rId96"/>
    <p:sldId id="451" r:id="rId97"/>
    <p:sldId id="429" r:id="rId98"/>
    <p:sldId id="435" r:id="rId99"/>
    <p:sldId id="325" r:id="rId100"/>
    <p:sldId id="430" r:id="rId101"/>
    <p:sldId id="467" r:id="rId102"/>
    <p:sldId id="468" r:id="rId103"/>
    <p:sldId id="302" r:id="rId104"/>
  </p:sldIdLst>
  <p:sldSz cx="9144000" cy="6858000" type="screen4x3"/>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580" autoAdjust="0"/>
    <p:restoredTop sz="94639" autoAdjust="0"/>
  </p:normalViewPr>
  <p:slideViewPr>
    <p:cSldViewPr>
      <p:cViewPr varScale="1">
        <p:scale>
          <a:sx n="107" d="100"/>
          <a:sy n="107" d="100"/>
        </p:scale>
        <p:origin x="348" y="12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viewProps" Target="view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Breaches</a:t>
            </a:r>
            <a:r>
              <a:rPr lang="en-US" baseline="0" dirty="0" smtClean="0"/>
              <a:t> by Location &gt;500+</a:t>
            </a:r>
            <a:endParaRPr lang="en-US" dirty="0"/>
          </a:p>
        </c:rich>
      </c:tx>
      <c:overlay val="0"/>
    </c:title>
    <c:autoTitleDeleted val="0"/>
    <c:view3D>
      <c:rotX val="30"/>
      <c:rotY val="0"/>
      <c:rAngAx val="0"/>
    </c:view3D>
    <c:floor>
      <c:thickness val="0"/>
    </c:floor>
    <c:sideWall>
      <c:thickness val="0"/>
    </c:sideWall>
    <c:backWall>
      <c:thickness val="0"/>
    </c:backWall>
    <c:plotArea>
      <c:layout>
        <c:manualLayout>
          <c:layoutTarget val="inner"/>
          <c:xMode val="edge"/>
          <c:yMode val="edge"/>
          <c:x val="5.3742420128518417E-2"/>
          <c:y val="0.2639459626370233"/>
          <c:w val="0.8268337147511734"/>
          <c:h val="0.66293160413771812"/>
        </c:manualLayout>
      </c:layout>
      <c:pie3DChart>
        <c:varyColors val="1"/>
        <c:ser>
          <c:idx val="0"/>
          <c:order val="0"/>
          <c:dLbls>
            <c:spPr>
              <a:noFill/>
              <a:ln>
                <a:noFill/>
              </a:ln>
              <a:effectLst/>
            </c:spPr>
            <c:showLegendKey val="0"/>
            <c:showVal val="0"/>
            <c:showCatName val="1"/>
            <c:showSerName val="0"/>
            <c:showPercent val="1"/>
            <c:showBubbleSize val="0"/>
            <c:showLeaderLines val="1"/>
            <c:extLst>
              <c:ext xmlns:c15="http://schemas.microsoft.com/office/drawing/2012/chart" uri="{CE6537A1-D6FC-4f65-9D91-7224C49458BB}"/>
            </c:extLst>
          </c:dLbls>
          <c:cat>
            <c:strRef>
              <c:f>Sheet1!$A$4:$A$11</c:f>
              <c:strCache>
                <c:ptCount val="8"/>
                <c:pt idx="0">
                  <c:v>E-mail</c:v>
                </c:pt>
                <c:pt idx="1">
                  <c:v>Network Server</c:v>
                </c:pt>
                <c:pt idx="2">
                  <c:v>EMR</c:v>
                </c:pt>
                <c:pt idx="3">
                  <c:v>Portable Electronic Devices</c:v>
                </c:pt>
                <c:pt idx="4">
                  <c:v>Desktop Computers</c:v>
                </c:pt>
                <c:pt idx="5">
                  <c:v>Laptops</c:v>
                </c:pt>
                <c:pt idx="6">
                  <c:v>Paper Records</c:v>
                </c:pt>
                <c:pt idx="7">
                  <c:v>Other</c:v>
                </c:pt>
              </c:strCache>
            </c:strRef>
          </c:cat>
          <c:val>
            <c:numRef>
              <c:f>Sheet1!$B$4:$B$11</c:f>
              <c:numCache>
                <c:formatCode>0%</c:formatCode>
                <c:ptCount val="8"/>
                <c:pt idx="0">
                  <c:v>0.02</c:v>
                </c:pt>
                <c:pt idx="1">
                  <c:v>0.11</c:v>
                </c:pt>
                <c:pt idx="2">
                  <c:v>0.02</c:v>
                </c:pt>
                <c:pt idx="3">
                  <c:v>0.14000000000000001</c:v>
                </c:pt>
                <c:pt idx="4">
                  <c:v>0.15</c:v>
                </c:pt>
                <c:pt idx="5">
                  <c:v>0.23</c:v>
                </c:pt>
                <c:pt idx="6">
                  <c:v>0.22</c:v>
                </c:pt>
                <c:pt idx="7">
                  <c:v>0.1</c:v>
                </c:pt>
              </c:numCache>
            </c:numRef>
          </c:val>
        </c:ser>
        <c:dLbls>
          <c:showLegendKey val="0"/>
          <c:showVal val="0"/>
          <c:showCatName val="1"/>
          <c:showSerName val="0"/>
          <c:showPercent val="1"/>
          <c:showBubbleSize val="0"/>
          <c:showLeaderLines val="1"/>
        </c:dLbls>
      </c:pie3DChart>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t>Breaches by </a:t>
            </a:r>
            <a:r>
              <a:rPr lang="en-US" dirty="0" smtClean="0"/>
              <a:t>Type &gt;</a:t>
            </a:r>
            <a:r>
              <a:rPr lang="en-US" baseline="0" dirty="0" smtClean="0"/>
              <a:t> 500+</a:t>
            </a:r>
            <a:endParaRPr lang="en-US" dirty="0"/>
          </a:p>
        </c:rich>
      </c:tx>
      <c:overlay val="0"/>
    </c:title>
    <c:autoTitleDeleted val="0"/>
    <c:view3D>
      <c:rotX val="30"/>
      <c:rotY val="0"/>
      <c:rAngAx val="0"/>
    </c:view3D>
    <c:floor>
      <c:thickness val="0"/>
    </c:floor>
    <c:sideWall>
      <c:thickness val="0"/>
    </c:sideWall>
    <c:backWall>
      <c:thickness val="0"/>
    </c:backWall>
    <c:plotArea>
      <c:layout>
        <c:manualLayout>
          <c:layoutTarget val="inner"/>
          <c:xMode val="edge"/>
          <c:yMode val="edge"/>
          <c:x val="0"/>
          <c:y val="0.13419467999192408"/>
          <c:w val="0.96434721433016746"/>
          <c:h val="0.80744397334948514"/>
        </c:manualLayout>
      </c:layout>
      <c:pie3DChart>
        <c:varyColors val="1"/>
        <c:ser>
          <c:idx val="0"/>
          <c:order val="0"/>
          <c:dPt>
            <c:idx val="4"/>
            <c:bubble3D val="0"/>
            <c:spPr>
              <a:solidFill>
                <a:srgbClr val="0070C0"/>
              </a:solidFill>
            </c:spPr>
          </c:dPt>
          <c:dLbls>
            <c:dLbl>
              <c:idx val="1"/>
              <c:tx>
                <c:rich>
                  <a:bodyPr/>
                  <a:lstStyle/>
                  <a:p>
                    <a:r>
                      <a:rPr lang="en-US"/>
                      <a:t>Hacking/IT </a:t>
                    </a:r>
                    <a:r>
                      <a:rPr lang="en-US" smtClean="0"/>
                      <a:t>Incident</a:t>
                    </a:r>
                    <a:r>
                      <a:rPr lang="en-US" dirty="0"/>
                      <a:t>
8%</a:t>
                    </a:r>
                  </a:p>
                </c:rich>
              </c:tx>
              <c:showLegendKey val="0"/>
              <c:showVal val="0"/>
              <c:showCatName val="1"/>
              <c:showSerName val="0"/>
              <c:showPercent val="1"/>
              <c:showBubbleSize val="0"/>
              <c:extLst>
                <c:ext xmlns:c15="http://schemas.microsoft.com/office/drawing/2012/chart" uri="{CE6537A1-D6FC-4f65-9D91-7224C49458BB}"/>
              </c:extLst>
            </c:dLbl>
            <c:dLbl>
              <c:idx val="4"/>
              <c:layout>
                <c:manualLayout>
                  <c:x val="-0.19074931677354764"/>
                  <c:y val="-0.25961159903089037"/>
                </c:manualLayout>
              </c:layout>
              <c:spPr/>
              <c:txPr>
                <a:bodyPr/>
                <a:lstStyle/>
                <a:p>
                  <a:pPr>
                    <a:defRPr>
                      <a:solidFill>
                        <a:schemeClr val="bg1"/>
                      </a:solidFill>
                    </a:defRPr>
                  </a:pPr>
                  <a:endParaRPr lang="en-US"/>
                </a:p>
              </c:txPr>
              <c:showLegendKey val="0"/>
              <c:showVal val="0"/>
              <c:showCatName val="1"/>
              <c:showSerName val="0"/>
              <c:showPercent val="1"/>
              <c:showBubbleSize val="0"/>
              <c:extLst>
                <c:ext xmlns:c15="http://schemas.microsoft.com/office/drawing/2012/chart" uri="{CE6537A1-D6FC-4f65-9D91-7224C49458BB}"/>
              </c:extLst>
            </c:dLbl>
            <c:dLbl>
              <c:idx val="5"/>
              <c:layout>
                <c:manualLayout>
                  <c:x val="0.16763752469085694"/>
                  <c:y val="-0.10040808600847971"/>
                </c:manualLayout>
              </c:layout>
              <c:spPr/>
              <c:txPr>
                <a:bodyPr/>
                <a:lstStyle/>
                <a:p>
                  <a:pPr>
                    <a:defRPr>
                      <a:solidFill>
                        <a:schemeClr val="bg1"/>
                      </a:solidFill>
                    </a:defRPr>
                  </a:pPr>
                  <a:endParaRPr lang="en-US"/>
                </a:p>
              </c:txPr>
              <c:showLegendKey val="0"/>
              <c:showVal val="0"/>
              <c:showCatName val="1"/>
              <c:showSerName val="0"/>
              <c:showPercent val="1"/>
              <c:showBubbleSize val="0"/>
              <c:extLst>
                <c:ext xmlns:c15="http://schemas.microsoft.com/office/drawing/2012/chart" uri="{CE6537A1-D6FC-4f65-9D91-7224C49458BB}"/>
              </c:extLst>
            </c:dLbl>
            <c:spPr>
              <a:noFill/>
              <a:ln>
                <a:noFill/>
              </a:ln>
              <a:effectLst/>
            </c:spPr>
            <c:showLegendKey val="0"/>
            <c:showVal val="0"/>
            <c:showCatName val="1"/>
            <c:showSerName val="0"/>
            <c:showPercent val="1"/>
            <c:showBubbleSize val="0"/>
            <c:showLeaderLines val="1"/>
            <c:extLst>
              <c:ext xmlns:c15="http://schemas.microsoft.com/office/drawing/2012/chart" uri="{CE6537A1-D6FC-4f65-9D91-7224C49458BB}"/>
            </c:extLst>
          </c:dLbls>
          <c:cat>
            <c:strRef>
              <c:f>Sheet1!$A$14:$A$19</c:f>
              <c:strCache>
                <c:ptCount val="6"/>
                <c:pt idx="0">
                  <c:v>Loss</c:v>
                </c:pt>
                <c:pt idx="1">
                  <c:v>Hacking/IT Indident</c:v>
                </c:pt>
                <c:pt idx="2">
                  <c:v>Improper Disposal</c:v>
                </c:pt>
                <c:pt idx="3">
                  <c:v>Unknown</c:v>
                </c:pt>
                <c:pt idx="4">
                  <c:v>Unauthorized Access/Disclosure</c:v>
                </c:pt>
                <c:pt idx="5">
                  <c:v>Theft</c:v>
                </c:pt>
              </c:strCache>
            </c:strRef>
          </c:cat>
          <c:val>
            <c:numRef>
              <c:f>Sheet1!$B$14:$B$19</c:f>
              <c:numCache>
                <c:formatCode>0%</c:formatCode>
                <c:ptCount val="6"/>
                <c:pt idx="0">
                  <c:v>0.13</c:v>
                </c:pt>
                <c:pt idx="1">
                  <c:v>0.08</c:v>
                </c:pt>
                <c:pt idx="2">
                  <c:v>0.05</c:v>
                </c:pt>
                <c:pt idx="3">
                  <c:v>0.02</c:v>
                </c:pt>
                <c:pt idx="4">
                  <c:v>0.2</c:v>
                </c:pt>
                <c:pt idx="5">
                  <c:v>0.52</c:v>
                </c:pt>
              </c:numCache>
            </c:numRef>
          </c:val>
        </c:ser>
        <c:dLbls>
          <c:showLegendKey val="0"/>
          <c:showVal val="0"/>
          <c:showCatName val="1"/>
          <c:showSerName val="0"/>
          <c:showPercent val="1"/>
          <c:showBubbleSize val="0"/>
          <c:showLeaderLines val="1"/>
        </c:dLbls>
      </c:pie3DChart>
    </c:plotArea>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8C744087-3470-4C79-9CC1-AD53E3D11177}" type="datetimeFigureOut">
              <a:rPr lang="en-US" smtClean="0"/>
              <a:t>12/7/2015</a:t>
            </a:fld>
            <a:endParaRPr lang="en-US"/>
          </a:p>
        </p:txBody>
      </p:sp>
      <p:sp>
        <p:nvSpPr>
          <p:cNvPr id="4" name="Slide Image Placeholder 3"/>
          <p:cNvSpPr>
            <a:spLocks noGrp="1" noRot="1" noChangeAspect="1"/>
          </p:cNvSpPr>
          <p:nvPr>
            <p:ph type="sldImg" idx="2"/>
          </p:nvPr>
        </p:nvSpPr>
        <p:spPr>
          <a:xfrm>
            <a:off x="1204913" y="704850"/>
            <a:ext cx="4692650" cy="35194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459288"/>
            <a:ext cx="5683250" cy="42243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916988"/>
            <a:ext cx="3078163" cy="469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2725" y="8916988"/>
            <a:ext cx="3078163" cy="469900"/>
          </a:xfrm>
          <a:prstGeom prst="rect">
            <a:avLst/>
          </a:prstGeom>
        </p:spPr>
        <p:txBody>
          <a:bodyPr vert="horz" lIns="91440" tIns="45720" rIns="91440" bIns="45720" rtlCol="0" anchor="b"/>
          <a:lstStyle>
            <a:lvl1pPr algn="r">
              <a:defRPr sz="1200"/>
            </a:lvl1pPr>
          </a:lstStyle>
          <a:p>
            <a:fld id="{BF2FC9E9-44F2-4861-928A-47D1C5B96691}" type="slidenum">
              <a:rPr lang="en-US" smtClean="0"/>
              <a:t>‹#›</a:t>
            </a:fld>
            <a:endParaRPr lang="en-US"/>
          </a:p>
        </p:txBody>
      </p:sp>
    </p:spTree>
    <p:extLst>
      <p:ext uri="{BB962C8B-B14F-4D97-AF65-F5344CB8AC3E}">
        <p14:creationId xmlns:p14="http://schemas.microsoft.com/office/powerpoint/2010/main" val="682581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2FC9E9-44F2-4861-928A-47D1C5B96691}" type="slidenum">
              <a:rPr lang="en-US" smtClean="0"/>
              <a:t>39</a:t>
            </a:fld>
            <a:endParaRPr lang="en-US"/>
          </a:p>
        </p:txBody>
      </p:sp>
    </p:spTree>
    <p:extLst>
      <p:ext uri="{BB962C8B-B14F-4D97-AF65-F5344CB8AC3E}">
        <p14:creationId xmlns:p14="http://schemas.microsoft.com/office/powerpoint/2010/main" val="1520727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2FC9E9-44F2-4861-928A-47D1C5B96691}" type="slidenum">
              <a:rPr lang="en-US" smtClean="0"/>
              <a:t>40</a:t>
            </a:fld>
            <a:endParaRPr lang="en-US"/>
          </a:p>
        </p:txBody>
      </p:sp>
    </p:spTree>
    <p:extLst>
      <p:ext uri="{BB962C8B-B14F-4D97-AF65-F5344CB8AC3E}">
        <p14:creationId xmlns:p14="http://schemas.microsoft.com/office/powerpoint/2010/main" val="1520727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2FC9E9-44F2-4861-928A-47D1C5B96691}" type="slidenum">
              <a:rPr lang="en-US" smtClean="0"/>
              <a:t>47</a:t>
            </a:fld>
            <a:endParaRPr lang="en-US"/>
          </a:p>
        </p:txBody>
      </p:sp>
    </p:spTree>
    <p:extLst>
      <p:ext uri="{BB962C8B-B14F-4D97-AF65-F5344CB8AC3E}">
        <p14:creationId xmlns:p14="http://schemas.microsoft.com/office/powerpoint/2010/main" val="13737679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hasCustomPrompt="1"/>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baseline="0">
                <a:solidFill>
                  <a:schemeClr val="tx2"/>
                </a:solidFill>
                <a:effectLst>
                  <a:outerShdw blurRad="31750" dist="25400" dir="5400000" algn="tl" rotWithShape="0">
                    <a:srgbClr val="000000">
                      <a:alpha val="25000"/>
                    </a:srgbClr>
                  </a:outerShdw>
                </a:effectLst>
              </a:defRPr>
            </a:lvl1pPr>
            <a:extLst/>
          </a:lstStyle>
          <a:p>
            <a:r>
              <a:rPr kumimoji="0" lang="en-US" dirty="0" smtClean="0"/>
              <a:t>Guide to Privacy and Security of Health Information</a:t>
            </a:r>
            <a:endParaRPr kumimoji="0" lang="en-US" dirty="0"/>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dirty="0" smtClean="0"/>
              <a:t>Click to edit Master subtitle style</a:t>
            </a:r>
            <a:endParaRPr kumimoji="0" lang="en-US" dirty="0"/>
          </a:p>
        </p:txBody>
      </p:sp>
      <p:grpSp>
        <p:nvGrpSpPr>
          <p:cNvPr id="2" name="Group 1"/>
          <p:cNvGrpSpPr/>
          <p:nvPr/>
        </p:nvGrpSpPr>
        <p:grpSpPr>
          <a:xfrm>
            <a:off x="76200" y="48006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60F92FE8-7B87-4A4C-A547-8817016A5D96}" type="datetimeFigureOut">
              <a:rPr lang="en-US" smtClean="0"/>
              <a:t>12/7/2015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68F0D95-123E-40A8-8B63-06AAE6D685F4}"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0F92FE8-7B87-4A4C-A547-8817016A5D96}" type="datetimeFigureOut">
              <a:rPr lang="en-US" smtClean="0"/>
              <a:t>12/7/2015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68F0D95-123E-40A8-8B63-06AAE6D685F4}"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60F92FE8-7B87-4A4C-A547-8817016A5D96}" type="datetimeFigureOut">
              <a:rPr lang="en-US" smtClean="0"/>
              <a:t>12/7/2015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68F0D95-123E-40A8-8B63-06AAE6D685F4}"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0F92FE8-7B87-4A4C-A547-8817016A5D96}" type="datetimeFigureOut">
              <a:rPr lang="en-US" smtClean="0"/>
              <a:t>12/7/2015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68F0D95-123E-40A8-8B63-06AAE6D685F4}"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0F92FE8-7B87-4A4C-A547-8817016A5D96}" type="datetimeFigureOut">
              <a:rPr lang="en-US" smtClean="0"/>
              <a:t>12/7/2015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68F0D95-123E-40A8-8B63-06AAE6D685F4}"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60F92FE8-7B87-4A4C-A547-8817016A5D96}" type="datetimeFigureOut">
              <a:rPr lang="en-US" smtClean="0"/>
              <a:t>12/7/2015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68F0D95-123E-40A8-8B63-06AAE6D685F4}"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60F92FE8-7B87-4A4C-A547-8817016A5D96}" type="datetimeFigureOut">
              <a:rPr lang="en-US" smtClean="0"/>
              <a:t>12/7/2015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68F0D95-123E-40A8-8B63-06AAE6D685F4}"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94B7499E-3031-413E-B01E-B94970708CAA}" type="datetime4">
              <a:rPr lang="en-US" smtClean="0"/>
              <a:pPr/>
              <a:t>December 7, 2015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2754ED01-E2A0-4C1E-8E21-014B99041579}" type="slidenum">
              <a:rPr lang="en-US" smtClean="0"/>
              <a:pPr/>
              <a:t>‹#›</a:t>
            </a:fld>
            <a:endParaRPr lang="en-US"/>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5275" y="6243437"/>
            <a:ext cx="571500" cy="266779"/>
          </a:xfrm>
          <a:prstGeom prst="rect">
            <a:avLst/>
          </a:prstGeom>
        </p:spPr>
      </p:pic>
      <p:cxnSp>
        <p:nvCxnSpPr>
          <p:cNvPr id="6" name="Straight Connector 5"/>
          <p:cNvCxnSpPr/>
          <p:nvPr userDrawn="1"/>
        </p:nvCxnSpPr>
        <p:spPr>
          <a:xfrm>
            <a:off x="726775" y="1134094"/>
            <a:ext cx="7620000" cy="0"/>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7" name="Rectangle 6"/>
          <p:cNvSpPr/>
          <p:nvPr userDrawn="1"/>
        </p:nvSpPr>
        <p:spPr>
          <a:xfrm>
            <a:off x="7543800" y="6548801"/>
            <a:ext cx="1295400" cy="184666"/>
          </a:xfrm>
          <a:prstGeom prst="rect">
            <a:avLst/>
          </a:prstGeom>
        </p:spPr>
        <p:txBody>
          <a:bodyPr wrap="square">
            <a:spAutoFit/>
          </a:bodyPr>
          <a:lstStyle/>
          <a:p>
            <a:r>
              <a:rPr lang="en-US" sz="600" i="1" dirty="0" smtClean="0">
                <a:solidFill>
                  <a:schemeClr val="tx1"/>
                </a:solidFill>
              </a:rPr>
              <a:t>www.sbasinfo.com</a:t>
            </a:r>
            <a:endParaRPr lang="en-US" sz="600" i="1" dirty="0">
              <a:solidFill>
                <a:schemeClr val="tx1"/>
              </a:solidFill>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60F92FE8-7B87-4A4C-A547-8817016A5D96}" type="datetimeFigureOut">
              <a:rPr lang="en-US" smtClean="0"/>
              <a:t>12/7/2015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68F0D95-123E-40A8-8B63-06AAE6D685F4}"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0F92FE8-7B87-4A4C-A547-8817016A5D96}" type="datetimeFigureOut">
              <a:rPr lang="en-US" smtClean="0"/>
              <a:t>12/7/2015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68F0D95-123E-40A8-8B63-06AAE6D685F4}"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0F92FE8-7B87-4A4C-A547-8817016A5D96}" type="datetimeFigureOut">
              <a:rPr lang="en-US" smtClean="0"/>
              <a:t>12/7/2015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68F0D95-123E-40A8-8B63-06AAE6D685F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60F92FE8-7B87-4A4C-A547-8817016A5D96}" type="datetimeFigureOut">
              <a:rPr lang="en-US" smtClean="0"/>
              <a:t>12/7/2015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68F0D95-123E-40A8-8B63-06AAE6D685F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4" r:id="rId7"/>
    <p:sldLayoutId id="2147483763" r:id="rId8"/>
    <p:sldLayoutId id="2147483765" r:id="rId9"/>
    <p:sldLayoutId id="2147483766" r:id="rId10"/>
    <p:sldLayoutId id="2147483767" r:id="rId11"/>
  </p:sldLayoutIdLst>
  <p:timing>
    <p:tnLst>
      <p:par>
        <p:cTn id="1" dur="indefinite" restart="never" nodeType="tmRoot"/>
      </p:par>
    </p:tnLst>
  </p:timing>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slideLayout" Target="../slideLayouts/slideLayout8.xml"/><Relationship Id="rId1" Type="http://schemas.openxmlformats.org/officeDocument/2006/relationships/video" Target="https://www.youtube.com/embed/HuEoKsN6RKU" TargetMode="External"/><Relationship Id="rId6" Type="http://schemas.openxmlformats.org/officeDocument/2006/relationships/image" Target="../media/image7.jpeg"/><Relationship Id="rId11" Type="http://schemas.openxmlformats.org/officeDocument/2006/relationships/image" Target="../media/image12.png"/><Relationship Id="rId5" Type="http://schemas.openxmlformats.org/officeDocument/2006/relationships/image" Target="../media/image6.jpeg"/><Relationship Id="rId10" Type="http://schemas.openxmlformats.org/officeDocument/2006/relationships/image" Target="../media/image11.jpeg"/><Relationship Id="rId4" Type="http://schemas.openxmlformats.org/officeDocument/2006/relationships/image" Target="../media/image5.jpeg"/><Relationship Id="rId9"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7.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vmlDrawing" Target="../drawings/vmlDrawing1.vml"/><Relationship Id="rId5" Type="http://schemas.openxmlformats.org/officeDocument/2006/relationships/image" Target="../media/image13.emf"/><Relationship Id="rId4" Type="http://schemas.openxmlformats.org/officeDocument/2006/relationships/package" Target="../embeddings/Microsoft_Word_Document1.docx"/></Relationships>
</file>

<file path=ppt/slides/_rels/slide1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slideLayout" Target="../slideLayouts/slideLayout8.xml"/><Relationship Id="rId4" Type="http://schemas.openxmlformats.org/officeDocument/2006/relationships/image" Target="../media/image16.wmf"/></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2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27.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10" Type="http://schemas.openxmlformats.org/officeDocument/2006/relationships/image" Target="../media/image18.png"/><Relationship Id="rId4" Type="http://schemas.openxmlformats.org/officeDocument/2006/relationships/image" Target="../media/image6.jpeg"/><Relationship Id="rId9" Type="http://schemas.openxmlformats.org/officeDocument/2006/relationships/image" Target="../media/image1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10" Type="http://schemas.openxmlformats.org/officeDocument/2006/relationships/image" Target="../media/image19.wmf"/><Relationship Id="rId4" Type="http://schemas.openxmlformats.org/officeDocument/2006/relationships/image" Target="../media/image6.jpeg"/><Relationship Id="rId9" Type="http://schemas.openxmlformats.org/officeDocument/2006/relationships/image" Target="../media/image11.jpeg"/></Relationships>
</file>

<file path=ppt/slides/_rels/slide30.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11" Type="http://schemas.openxmlformats.org/officeDocument/2006/relationships/image" Target="../media/image22.jpeg"/><Relationship Id="rId5" Type="http://schemas.openxmlformats.org/officeDocument/2006/relationships/image" Target="../media/image7.jpeg"/><Relationship Id="rId10" Type="http://schemas.openxmlformats.org/officeDocument/2006/relationships/image" Target="../media/image21.png"/><Relationship Id="rId4" Type="http://schemas.openxmlformats.org/officeDocument/2006/relationships/image" Target="../media/image6.jpeg"/><Relationship Id="rId9" Type="http://schemas.openxmlformats.org/officeDocument/2006/relationships/image" Target="../media/image11.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25.gif"/><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11" Type="http://schemas.openxmlformats.org/officeDocument/2006/relationships/image" Target="../media/image27.jpg"/><Relationship Id="rId5" Type="http://schemas.openxmlformats.org/officeDocument/2006/relationships/image" Target="../media/image7.jpeg"/><Relationship Id="rId10" Type="http://schemas.openxmlformats.org/officeDocument/2006/relationships/image" Target="../media/image21.png"/><Relationship Id="rId4" Type="http://schemas.openxmlformats.org/officeDocument/2006/relationships/image" Target="../media/image6.jpeg"/><Relationship Id="rId9" Type="http://schemas.openxmlformats.org/officeDocument/2006/relationships/image" Target="../media/image11.jpeg"/></Relationships>
</file>

<file path=ppt/slides/_rels/slide5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hyperlink" Target="http://www.google.com/url?sa=i&amp;rct=j&amp;q=&amp;esrc=s&amp;source=images&amp;cd=&amp;cad=rja&amp;uact=8&amp;docid=EQesTZx88-nT3M&amp;tbnid=U-340tpi5guWVM:&amp;ved=0CAUQjRw&amp;url=http://apyxx.com/new-orleans-disaster-recovery-planning/&amp;ei=uTyiU6TjLoiQqAaAnICQDA&amp;bvm=bv.69411363,d.b2k&amp;psig=AFQjCNFrAdiu3mJ2D1bW2z-hGE8etEIUkQ&amp;ust=1403227470092670" TargetMode="Externa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hyperlink" Target="http://www.google.com/url?sa=i&amp;rct=j&amp;q=&amp;esrc=s&amp;source=images&amp;cd=&amp;cad=rja&amp;uact=8&amp;docid=Zs2ookWDV5_dcM&amp;tbnid=pmBTscLzuimMCM:&amp;ved=0CAUQjRw&amp;url=http://www.ikrishna.com/US/DataBackup.html&amp;ei=5D-iU5mlB6XJ8wHq9YGwCA&amp;bvm=bv.69411363,d.b2k&amp;psig=AFQjCNE3F44G8hcO0EvmVjkXuxl8Ifsdcw&amp;ust=1403228359438385" TargetMode="Externa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hyperlink" Target="http://www.google.com/url?sa=i&amp;rct=j&amp;q=&amp;esrc=s&amp;source=images&amp;cd=&amp;cad=rja&amp;uact=8&amp;docid=nfkS9sdsxzCOUM&amp;tbnid=xBKYLlowO408gM:&amp;ved=0CAUQjRw&amp;url=http://brendanmoran.ie/page/2/&amp;ei=dkSiU8blCfOt8gH2m4HgBA&amp;bvm=bv.69411363,d.b2U&amp;psig=AFQjCNGwLCVK0mkZjYiFcqYwyoqUO_6k5g&amp;ust=1403229100255429" TargetMode="Externa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hyperlink" Target="http://www.google.com/url?sa=i&amp;rct=j&amp;q=&amp;esrc=s&amp;source=images&amp;cd=&amp;cad=rja&amp;uact=8&amp;docid=uV3YpUGtZE9FGM&amp;tbnid=JD0Xs2EXZHw35M:&amp;ved=0CAUQjRw&amp;url=http://www.hdtglobal.com/products/shelters/applications-shelters/medical-emergency-operations/&amp;ei=bEaiU8_ICMPJ8AGh_YHoBQ&amp;bvm=bv.69411363,d.b2U&amp;psig=AFQjCNFMQo8GLlo2BtE7ZtgQu1Skm0ETtg&amp;ust=1403229961900052" TargetMode="External"/><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11" Type="http://schemas.openxmlformats.org/officeDocument/2006/relationships/image" Target="../media/image22.jpeg"/><Relationship Id="rId5" Type="http://schemas.openxmlformats.org/officeDocument/2006/relationships/image" Target="../media/image7.jpeg"/><Relationship Id="rId10" Type="http://schemas.openxmlformats.org/officeDocument/2006/relationships/image" Target="../media/image21.png"/><Relationship Id="rId4" Type="http://schemas.openxmlformats.org/officeDocument/2006/relationships/image" Target="../media/image6.jpeg"/><Relationship Id="rId9" Type="http://schemas.openxmlformats.org/officeDocument/2006/relationships/image" Target="../media/image11.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hart" Target="../charts/chart2.xm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11" Type="http://schemas.openxmlformats.org/officeDocument/2006/relationships/image" Target="../media/image48.jpeg"/><Relationship Id="rId5" Type="http://schemas.openxmlformats.org/officeDocument/2006/relationships/image" Target="../media/image7.jpeg"/><Relationship Id="rId10" Type="http://schemas.openxmlformats.org/officeDocument/2006/relationships/image" Target="../media/image21.png"/><Relationship Id="rId4" Type="http://schemas.openxmlformats.org/officeDocument/2006/relationships/image" Target="../media/image6.jpeg"/><Relationship Id="rId9" Type="http://schemas.openxmlformats.org/officeDocument/2006/relationships/image" Target="../media/image11.jpeg"/></Relationships>
</file>

<file path=ppt/slides/_rels/slide8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678385" y="1447372"/>
            <a:ext cx="6154265" cy="2453185"/>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4800" dirty="0" smtClean="0"/>
              <a:t>HIPAA Privacy and Security Training for Staff Members</a:t>
            </a:r>
            <a:endParaRPr lang="en-US" sz="4800" dirty="0"/>
          </a:p>
        </p:txBody>
      </p:sp>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5" name="Group 14"/>
          <p:cNvGrpSpPr/>
          <p:nvPr/>
        </p:nvGrpSpPr>
        <p:grpSpPr>
          <a:xfrm>
            <a:off x="7189" y="5040270"/>
            <a:ext cx="9147765" cy="1912088"/>
            <a:chOff x="-3765" y="4832896"/>
            <a:chExt cx="9147765" cy="2032192"/>
          </a:xfrm>
        </p:grpSpPr>
        <p:sp>
          <p:nvSpPr>
            <p:cNvPr id="17" name="Freeform 1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Freeform 1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Freeform 18"/>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20" name="Straight Connector 1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 y="5816199"/>
            <a:ext cx="914400" cy="426846"/>
          </a:xfrm>
          <a:prstGeom prst="rect">
            <a:avLst/>
          </a:prstGeom>
        </p:spPr>
      </p:pic>
      <p:grpSp>
        <p:nvGrpSpPr>
          <p:cNvPr id="3" name="Group 2"/>
          <p:cNvGrpSpPr/>
          <p:nvPr/>
        </p:nvGrpSpPr>
        <p:grpSpPr>
          <a:xfrm>
            <a:off x="597844" y="3900557"/>
            <a:ext cx="3085436" cy="882720"/>
            <a:chOff x="597844" y="3733800"/>
            <a:chExt cx="3085436" cy="882720"/>
          </a:xfrm>
        </p:grpSpPr>
        <p:sp>
          <p:nvSpPr>
            <p:cNvPr id="16" name="Rectangle 2"/>
            <p:cNvSpPr txBox="1">
              <a:spLocks noChangeArrowheads="1"/>
            </p:cNvSpPr>
            <p:nvPr/>
          </p:nvSpPr>
          <p:spPr bwMode="auto">
            <a:xfrm>
              <a:off x="597844" y="3733800"/>
              <a:ext cx="2209800" cy="818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a:lstStyle>
            <a:p>
              <a:pPr eaLnBrk="1" hangingPunct="1"/>
              <a:r>
                <a:rPr lang="en-US" sz="6600" b="1" dirty="0" smtClean="0">
                  <a:solidFill>
                    <a:srgbClr val="0070C0"/>
                  </a:solidFill>
                  <a:latin typeface="FangSong" pitchFamily="49" charset="-122"/>
                  <a:ea typeface="FangSong" pitchFamily="49" charset="-122"/>
                </a:rPr>
                <a:t>S</a:t>
              </a:r>
              <a:r>
                <a:rPr lang="en-US" sz="5400" b="1" dirty="0" smtClean="0">
                  <a:solidFill>
                    <a:srgbClr val="0070C0"/>
                  </a:solidFill>
                  <a:latin typeface="FangSong" pitchFamily="49" charset="-122"/>
                  <a:ea typeface="FangSong" pitchFamily="49" charset="-122"/>
                </a:rPr>
                <a:t>BAS</a:t>
              </a:r>
              <a:r>
                <a:rPr lang="en-US" sz="5400" b="1" dirty="0" smtClean="0">
                  <a:latin typeface="Times New Roman" pitchFamily="18" charset="0"/>
                </a:rPr>
                <a:t>  </a:t>
              </a:r>
            </a:p>
          </p:txBody>
        </p:sp>
        <p:sp>
          <p:nvSpPr>
            <p:cNvPr id="22" name="Rectangle 2"/>
            <p:cNvSpPr txBox="1">
              <a:spLocks noChangeArrowheads="1"/>
            </p:cNvSpPr>
            <p:nvPr/>
          </p:nvSpPr>
          <p:spPr bwMode="auto">
            <a:xfrm>
              <a:off x="2298605" y="3900557"/>
              <a:ext cx="138467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a:lstStyle>
            <a:p>
              <a:pPr algn="l" eaLnBrk="1" hangingPunct="1"/>
              <a:r>
                <a:rPr lang="en-US" sz="1800" b="1" dirty="0" smtClean="0">
                  <a:latin typeface="FangSong" pitchFamily="49" charset="-122"/>
                  <a:ea typeface="FangSong" pitchFamily="49" charset="-122"/>
                </a:rPr>
                <a:t>Training Series </a:t>
              </a:r>
            </a:p>
          </p:txBody>
        </p:sp>
        <p:cxnSp>
          <p:nvCxnSpPr>
            <p:cNvPr id="23" name="Straight Connector 22"/>
            <p:cNvCxnSpPr/>
            <p:nvPr/>
          </p:nvCxnSpPr>
          <p:spPr>
            <a:xfrm flipV="1">
              <a:off x="2298605" y="3965249"/>
              <a:ext cx="0" cy="5865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 name="Group 1"/>
          <p:cNvGrpSpPr/>
          <p:nvPr/>
        </p:nvGrpSpPr>
        <p:grpSpPr>
          <a:xfrm>
            <a:off x="6331789" y="5875243"/>
            <a:ext cx="1731876" cy="850448"/>
            <a:chOff x="6677861" y="4045046"/>
            <a:chExt cx="1731876" cy="850448"/>
          </a:xfrm>
        </p:grpSpPr>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6912" y="4538878"/>
              <a:ext cx="993773" cy="356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Rectangle 2"/>
            <p:cNvSpPr txBox="1">
              <a:spLocks noChangeArrowheads="1"/>
            </p:cNvSpPr>
            <p:nvPr/>
          </p:nvSpPr>
          <p:spPr bwMode="auto">
            <a:xfrm>
              <a:off x="6677861" y="4045046"/>
              <a:ext cx="1731876" cy="42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a:lstStyle>
            <a:p>
              <a:pPr algn="ctr" eaLnBrk="1" hangingPunct="1"/>
              <a:r>
                <a:rPr lang="en-US" sz="1200" b="1" dirty="0" smtClean="0">
                  <a:latin typeface="FrankRuehl" panose="020E0503060101010101" pitchFamily="34" charset="-79"/>
                  <a:ea typeface="Malgun Gothic" panose="020B0503020000020004" pitchFamily="34" charset="-127"/>
                  <a:cs typeface="FrankRuehl" panose="020E0503060101010101" pitchFamily="34" charset="-79"/>
                </a:rPr>
                <a:t>Larry C Delone </a:t>
              </a:r>
            </a:p>
            <a:p>
              <a:pPr algn="ctr" eaLnBrk="1" hangingPunct="1"/>
              <a:r>
                <a:rPr lang="en-US" sz="1200" b="1" dirty="0" smtClean="0">
                  <a:latin typeface="FrankRuehl" panose="020E0503060101010101" pitchFamily="34" charset="-79"/>
                  <a:ea typeface="Malgun Gothic" panose="020B0503020000020004" pitchFamily="34" charset="-127"/>
                  <a:cs typeface="FrankRuehl" panose="020E0503060101010101" pitchFamily="34" charset="-79"/>
                </a:rPr>
                <a:t>CHTS-IM, CHPSE</a:t>
              </a:r>
            </a:p>
          </p:txBody>
        </p:sp>
      </p:grpSp>
    </p:spTree>
    <p:extLst>
      <p:ext uri="{BB962C8B-B14F-4D97-AF65-F5344CB8AC3E}">
        <p14:creationId xmlns:p14="http://schemas.microsoft.com/office/powerpoint/2010/main" val="34176087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39083" y="381000"/>
            <a:ext cx="6246760"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smtClean="0"/>
              <a:t>Disclaimer</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17"/>
          <p:cNvSpPr/>
          <p:nvPr/>
        </p:nvSpPr>
        <p:spPr>
          <a:xfrm>
            <a:off x="685800" y="1371600"/>
            <a:ext cx="7772400" cy="4093428"/>
          </a:xfrm>
          <a:prstGeom prst="rect">
            <a:avLst/>
          </a:prstGeom>
        </p:spPr>
        <p:txBody>
          <a:bodyPr wrap="square">
            <a:spAutoFit/>
          </a:bodyPr>
          <a:lstStyle/>
          <a:p>
            <a:pPr algn="just"/>
            <a:r>
              <a:rPr lang="en-US" altLang="en-US" sz="2000" dirty="0" smtClean="0"/>
              <a:t>The information contained in this presentation is provided for information purposes only.  While efforts were made to verify the completeness and accuracy of the information contained in this presentation, it is provided “as is” without warranty of any kind, expressed or implied. </a:t>
            </a:r>
            <a:r>
              <a:rPr lang="en-US" sz="2000" dirty="0">
                <a:solidFill>
                  <a:srgbClr val="000000"/>
                </a:solidFill>
              </a:rPr>
              <a:t>Any and all information contained herein is not intended to constitute legal advice and accordingly, you should consult with your own attorneys </a:t>
            </a:r>
            <a:r>
              <a:rPr lang="en-US" sz="2000" dirty="0" smtClean="0">
                <a:solidFill>
                  <a:srgbClr val="000000"/>
                </a:solidFill>
              </a:rPr>
              <a:t>prior to taking action based upon this content. </a:t>
            </a:r>
            <a:r>
              <a:rPr lang="en-US" altLang="en-US" sz="2000" dirty="0" smtClean="0"/>
              <a:t>SBAS.info </a:t>
            </a:r>
            <a:r>
              <a:rPr lang="en-US" altLang="en-US" sz="2000" dirty="0"/>
              <a:t>LLC makes no claim, promise, or guarantee of any kind about the accuracy, completeness, or adequacy of the content of </a:t>
            </a:r>
            <a:r>
              <a:rPr lang="en-US" altLang="en-US" sz="2000" dirty="0" smtClean="0"/>
              <a:t>this </a:t>
            </a:r>
            <a:r>
              <a:rPr lang="en-US" altLang="en-US" sz="2000" dirty="0"/>
              <a:t>presentation and </a:t>
            </a:r>
            <a:r>
              <a:rPr lang="en-US" altLang="en-US" sz="2000" dirty="0" smtClean="0"/>
              <a:t>shall not be responsible for any damages arising out of the use of, or otherwise related to, this presentation or supporting documentation.</a:t>
            </a:r>
            <a:endParaRPr lang="en-US" sz="2000" b="1" dirty="0"/>
          </a:p>
        </p:txBody>
      </p:sp>
    </p:spTree>
    <p:extLst>
      <p:ext uri="{BB962C8B-B14F-4D97-AF65-F5344CB8AC3E}">
        <p14:creationId xmlns:p14="http://schemas.microsoft.com/office/powerpoint/2010/main" val="24079200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Rectangle 1"/>
          <p:cNvSpPr/>
          <p:nvPr/>
        </p:nvSpPr>
        <p:spPr>
          <a:xfrm>
            <a:off x="1143000" y="1429109"/>
            <a:ext cx="7195318" cy="4832092"/>
          </a:xfrm>
          <a:prstGeom prst="rect">
            <a:avLst/>
          </a:prstGeom>
        </p:spPr>
        <p:txBody>
          <a:bodyPr wrap="square">
            <a:spAutoFit/>
          </a:bodyPr>
          <a:lstStyle/>
          <a:p>
            <a:pPr marL="285750" indent="-285750">
              <a:buFont typeface="Wingdings" panose="05000000000000000000" pitchFamily="2" charset="2"/>
              <a:buChar char="q"/>
            </a:pPr>
            <a:r>
              <a:rPr lang="en-US" sz="2800" dirty="0" smtClean="0"/>
              <a:t>Session 1 – 	Introduction to Privacy 			and Security </a:t>
            </a:r>
          </a:p>
          <a:p>
            <a:pPr marL="742950" lvl="1" indent="-285750">
              <a:buFont typeface="Wingdings" panose="05000000000000000000" pitchFamily="2" charset="2"/>
              <a:buChar char="q"/>
            </a:pPr>
            <a:endParaRPr lang="en-US" sz="2800" dirty="0" smtClean="0"/>
          </a:p>
          <a:p>
            <a:pPr marL="285750" indent="-285750">
              <a:buFont typeface="Wingdings" panose="05000000000000000000" pitchFamily="2" charset="2"/>
              <a:buChar char="q"/>
            </a:pPr>
            <a:r>
              <a:rPr lang="en-US" sz="2800" dirty="0" smtClean="0"/>
              <a:t>Session 2 – 	HIPAA Privacy and 				Security Rule Standards</a:t>
            </a:r>
          </a:p>
          <a:p>
            <a:pPr marL="285750" indent="-285750">
              <a:buFont typeface="Wingdings" panose="05000000000000000000" pitchFamily="2" charset="2"/>
              <a:buChar char="q"/>
            </a:pPr>
            <a:endParaRPr lang="en-US" sz="2800" dirty="0" smtClean="0"/>
          </a:p>
          <a:p>
            <a:pPr marL="285750" indent="-285750">
              <a:buFont typeface="Wingdings" panose="05000000000000000000" pitchFamily="2" charset="2"/>
              <a:buChar char="q"/>
            </a:pPr>
            <a:r>
              <a:rPr lang="en-US" sz="2800" dirty="0" smtClean="0"/>
              <a:t>Session 3 – 	Methods and Processes 			that Constitute a Strong 			Information Security 				Program</a:t>
            </a:r>
          </a:p>
          <a:p>
            <a:endParaRPr lang="en-US" sz="2800" dirty="0"/>
          </a:p>
        </p:txBody>
      </p:sp>
    </p:spTree>
    <p:extLst>
      <p:ext uri="{BB962C8B-B14F-4D97-AF65-F5344CB8AC3E}">
        <p14:creationId xmlns:p14="http://schemas.microsoft.com/office/powerpoint/2010/main" val="24322393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Rectangle 1"/>
          <p:cNvSpPr/>
          <p:nvPr/>
        </p:nvSpPr>
        <p:spPr>
          <a:xfrm>
            <a:off x="1143000" y="1429109"/>
            <a:ext cx="7195318" cy="3108543"/>
          </a:xfrm>
          <a:prstGeom prst="rect">
            <a:avLst/>
          </a:prstGeom>
        </p:spPr>
        <p:txBody>
          <a:bodyPr wrap="square">
            <a:spAutoFit/>
          </a:bodyPr>
          <a:lstStyle/>
          <a:p>
            <a:pPr marL="285750" indent="-285750">
              <a:buFont typeface="Wingdings" panose="05000000000000000000" pitchFamily="2" charset="2"/>
              <a:buChar char="q"/>
            </a:pPr>
            <a:r>
              <a:rPr lang="en-US" sz="2800" dirty="0" smtClean="0"/>
              <a:t>Session 1 – 	HIPAA Privacy Rule </a:t>
            </a:r>
          </a:p>
          <a:p>
            <a:pPr marL="742950" lvl="1" indent="-285750">
              <a:buFont typeface="Wingdings" panose="05000000000000000000" pitchFamily="2" charset="2"/>
              <a:buChar char="q"/>
            </a:pPr>
            <a:endParaRPr lang="en-US" sz="2800" dirty="0" smtClean="0"/>
          </a:p>
          <a:p>
            <a:pPr marL="285750" indent="-285750">
              <a:buFont typeface="Wingdings" panose="05000000000000000000" pitchFamily="2" charset="2"/>
              <a:buChar char="q"/>
            </a:pPr>
            <a:r>
              <a:rPr lang="en-US" sz="2800" dirty="0" smtClean="0"/>
              <a:t>Session 2 – 	HIPAA Security Rule 				Standards</a:t>
            </a:r>
          </a:p>
          <a:p>
            <a:pPr marL="285750" indent="-285750">
              <a:buFont typeface="Wingdings" panose="05000000000000000000" pitchFamily="2" charset="2"/>
              <a:buChar char="q"/>
            </a:pPr>
            <a:endParaRPr lang="en-US" sz="2800" dirty="0" smtClean="0"/>
          </a:p>
          <a:p>
            <a:pPr marL="285750" indent="-285750">
              <a:buFont typeface="Wingdings" panose="05000000000000000000" pitchFamily="2" charset="2"/>
              <a:buChar char="q"/>
            </a:pPr>
            <a:r>
              <a:rPr lang="en-US" sz="2800" dirty="0" smtClean="0"/>
              <a:t>Session 3 – 	HIPAA Breach 					Notification Rule</a:t>
            </a:r>
            <a:endParaRPr lang="en-US" sz="2800" dirty="0"/>
          </a:p>
        </p:txBody>
      </p:sp>
      <p:sp>
        <p:nvSpPr>
          <p:cNvPr id="3" name="Rectangle 2"/>
          <p:cNvSpPr/>
          <p:nvPr/>
        </p:nvSpPr>
        <p:spPr>
          <a:xfrm>
            <a:off x="3352800" y="4800600"/>
            <a:ext cx="4572000" cy="646331"/>
          </a:xfrm>
          <a:prstGeom prst="rect">
            <a:avLst/>
          </a:prstGeom>
        </p:spPr>
        <p:txBody>
          <a:bodyPr>
            <a:spAutoFit/>
          </a:bodyPr>
          <a:lstStyle/>
          <a:p>
            <a:r>
              <a:rPr lang="en-US" dirty="0"/>
              <a:t>https://www.youtube.com/watch?v=8RGzf0xbUi8</a:t>
            </a:r>
          </a:p>
        </p:txBody>
      </p:sp>
      <p:sp>
        <p:nvSpPr>
          <p:cNvPr id="4" name="Rectangle 3"/>
          <p:cNvSpPr/>
          <p:nvPr/>
        </p:nvSpPr>
        <p:spPr>
          <a:xfrm>
            <a:off x="3505200" y="5562600"/>
            <a:ext cx="4572000" cy="646331"/>
          </a:xfrm>
          <a:prstGeom prst="rect">
            <a:avLst/>
          </a:prstGeom>
        </p:spPr>
        <p:txBody>
          <a:bodyPr>
            <a:spAutoFit/>
          </a:bodyPr>
          <a:lstStyle/>
          <a:p>
            <a:r>
              <a:rPr lang="en-US" dirty="0"/>
              <a:t>https://www.youtube.com/watch?v=HuEoKsN6RKU</a:t>
            </a:r>
          </a:p>
        </p:txBody>
      </p:sp>
    </p:spTree>
    <p:extLst>
      <p:ext uri="{BB962C8B-B14F-4D97-AF65-F5344CB8AC3E}">
        <p14:creationId xmlns:p14="http://schemas.microsoft.com/office/powerpoint/2010/main" val="23721190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39083" y="381000"/>
            <a:ext cx="6246760"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smtClean="0"/>
              <a:t>Session 1</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7585" y="7620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9839" y="-309533"/>
            <a:ext cx="5163040" cy="224074"/>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609600" y="1444758"/>
            <a:ext cx="4160113" cy="369332"/>
          </a:xfrm>
          <a:prstGeom prst="rect">
            <a:avLst/>
          </a:prstGeom>
        </p:spPr>
        <p:txBody>
          <a:bodyPr wrap="none">
            <a:spAutoFit/>
          </a:bodyPr>
          <a:lstStyle/>
          <a:p>
            <a:r>
              <a:rPr lang="en-US" dirty="0"/>
              <a:t>Introduction to Privacy and Security</a:t>
            </a:r>
            <a:endParaRPr lang="en-US" baseline="30000" dirty="0"/>
          </a:p>
        </p:txBody>
      </p:sp>
      <p:sp>
        <p:nvSpPr>
          <p:cNvPr id="19" name="Rectangle 18"/>
          <p:cNvSpPr/>
          <p:nvPr/>
        </p:nvSpPr>
        <p:spPr>
          <a:xfrm>
            <a:off x="744747" y="1905000"/>
            <a:ext cx="4251485" cy="369332"/>
          </a:xfrm>
          <a:prstGeom prst="rect">
            <a:avLst/>
          </a:prstGeom>
        </p:spPr>
        <p:txBody>
          <a:bodyPr wrap="none">
            <a:spAutoFit/>
          </a:bodyPr>
          <a:lstStyle/>
          <a:p>
            <a:r>
              <a:rPr lang="en-US" dirty="0" smtClean="0"/>
              <a:t>Self Compliance vs. CSF certification</a:t>
            </a:r>
            <a:endParaRPr lang="en-US" baseline="30000" dirty="0"/>
          </a:p>
        </p:txBody>
      </p:sp>
      <p:pic>
        <p:nvPicPr>
          <p:cNvPr id="20" name="HuEoKsN6RKU"/>
          <p:cNvPicPr>
            <a:picLocks noRot="1" noChangeAspect="1"/>
          </p:cNvPicPr>
          <p:nvPr>
            <a:videoFile r:link="rId1"/>
          </p:nvPr>
        </p:nvPicPr>
        <p:blipFill>
          <a:blip r:embed="rId11"/>
          <a:stretch>
            <a:fillRect/>
          </a:stretch>
        </p:blipFill>
        <p:spPr>
          <a:xfrm>
            <a:off x="2010638" y="2438400"/>
            <a:ext cx="5971187" cy="3358793"/>
          </a:xfrm>
          <a:prstGeom prst="rect">
            <a:avLst/>
          </a:prstGeom>
        </p:spPr>
      </p:pic>
    </p:spTree>
    <p:extLst>
      <p:ext uri="{BB962C8B-B14F-4D97-AF65-F5344CB8AC3E}">
        <p14:creationId xmlns:p14="http://schemas.microsoft.com/office/powerpoint/2010/main" val="20367182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435608" y="457200"/>
            <a:ext cx="4899792" cy="514709"/>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smtClean="0"/>
              <a:t>Definitions…..</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Title 1"/>
          <p:cNvSpPr txBox="1">
            <a:spLocks/>
          </p:cNvSpPr>
          <p:nvPr/>
        </p:nvSpPr>
        <p:spPr>
          <a:xfrm rot="20647778">
            <a:off x="131154" y="2836965"/>
            <a:ext cx="1865153" cy="1219200"/>
          </a:xfrm>
          <a:prstGeom prst="rect">
            <a:avLst/>
          </a:prstGeom>
        </p:spPr>
        <p:txBody>
          <a:bodyPr>
            <a:no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Protected Health Information (PHI)</a:t>
            </a:r>
            <a:endParaRPr lang="en-US" sz="1800" b="1" cap="all" baseline="3000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
        <p:nvSpPr>
          <p:cNvPr id="19" name="Title 1"/>
          <p:cNvSpPr txBox="1">
            <a:spLocks/>
          </p:cNvSpPr>
          <p:nvPr/>
        </p:nvSpPr>
        <p:spPr>
          <a:xfrm rot="687754">
            <a:off x="2287064" y="3111151"/>
            <a:ext cx="1518417" cy="1155580"/>
          </a:xfrm>
          <a:prstGeom prst="rect">
            <a:avLst/>
          </a:prstGeom>
        </p:spPr>
        <p:txBody>
          <a:bodyPr>
            <a:noAutofit/>
            <a:scene3d>
              <a:camera prst="orthographicFront"/>
              <a:lightRig rig="glow" dir="tl">
                <a:rot lat="0" lon="0" rev="5400000"/>
              </a:lightRig>
            </a:scene3d>
            <a:sp3d contourW="12700">
              <a:bevelT w="25400" h="25400"/>
              <a:contourClr>
                <a:schemeClr val="accent6">
                  <a:shade val="73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Personally Identifiable Information (PII)</a:t>
            </a:r>
            <a:endParaRPr lang="en-US" sz="1800" b="1" baseline="3000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20" name="Title 1"/>
          <p:cNvSpPr txBox="1">
            <a:spLocks/>
          </p:cNvSpPr>
          <p:nvPr/>
        </p:nvSpPr>
        <p:spPr>
          <a:xfrm rot="1030115">
            <a:off x="4421872" y="1552507"/>
            <a:ext cx="1518417" cy="1373984"/>
          </a:xfrm>
          <a:prstGeom prst="rect">
            <a:avLst/>
          </a:prstGeom>
        </p:spPr>
        <p:txBody>
          <a:bodyPr>
            <a:no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dirty="0" smtClean="0">
                <a:ln/>
                <a:solidFill>
                  <a:schemeClr val="accent3"/>
                </a:solidFill>
              </a:rPr>
              <a:t>Electronic Medical Records (EMR)</a:t>
            </a:r>
          </a:p>
          <a:p>
            <a:endParaRPr lang="en-US" sz="2000" b="1" baseline="30000" dirty="0">
              <a:ln/>
              <a:solidFill>
                <a:schemeClr val="accent3"/>
              </a:solidFill>
            </a:endParaRPr>
          </a:p>
        </p:txBody>
      </p:sp>
      <p:sp>
        <p:nvSpPr>
          <p:cNvPr id="21" name="Title 1"/>
          <p:cNvSpPr txBox="1">
            <a:spLocks/>
          </p:cNvSpPr>
          <p:nvPr/>
        </p:nvSpPr>
        <p:spPr>
          <a:xfrm>
            <a:off x="1524000" y="1399854"/>
            <a:ext cx="1670817" cy="1219200"/>
          </a:xfrm>
          <a:prstGeom prst="rect">
            <a:avLst/>
          </a:prstGeom>
        </p:spPr>
        <p:txBody>
          <a:bodyPr>
            <a:noAutofit/>
            <a:scene3d>
              <a:camera prst="orthographicFront"/>
              <a:lightRig rig="flat" dir="tl">
                <a:rot lat="0" lon="0" rev="6600000"/>
              </a:lightRig>
            </a:scene3d>
            <a:sp3d extrusionH="25400" contourW="8890">
              <a:bevelT w="38100" h="31750"/>
              <a:contourClr>
                <a:schemeClr val="accent2">
                  <a:shade val="75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Electronic Health Records (EHR)</a:t>
            </a:r>
            <a:endParaRPr lang="en-US" sz="2400" b="1" baseline="3000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2" name="Title 1"/>
          <p:cNvSpPr txBox="1">
            <a:spLocks/>
          </p:cNvSpPr>
          <p:nvPr/>
        </p:nvSpPr>
        <p:spPr>
          <a:xfrm rot="1428140">
            <a:off x="5580014" y="3083693"/>
            <a:ext cx="1518417" cy="40948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Privacy</a:t>
            </a:r>
          </a:p>
          <a:p>
            <a:endParaRPr lang="en-US" sz="2800" b="1" baseline="30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3" name="Title 1"/>
          <p:cNvSpPr txBox="1">
            <a:spLocks/>
          </p:cNvSpPr>
          <p:nvPr/>
        </p:nvSpPr>
        <p:spPr>
          <a:xfrm rot="20356393">
            <a:off x="5938213" y="3827371"/>
            <a:ext cx="1912376" cy="40948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Security</a:t>
            </a:r>
          </a:p>
          <a:p>
            <a:endParaRPr lang="en-US" sz="2800" b="1" cap="all" baseline="3000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24" name="Title 1"/>
          <p:cNvSpPr txBox="1">
            <a:spLocks/>
          </p:cNvSpPr>
          <p:nvPr/>
        </p:nvSpPr>
        <p:spPr>
          <a:xfrm>
            <a:off x="6424613" y="1241490"/>
            <a:ext cx="1844400" cy="40948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Confidentiality</a:t>
            </a:r>
            <a:endParaRPr lang="en-US" sz="1800" b="1" baseline="3000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25" name="Title 1"/>
          <p:cNvSpPr txBox="1">
            <a:spLocks/>
          </p:cNvSpPr>
          <p:nvPr/>
        </p:nvSpPr>
        <p:spPr>
          <a:xfrm rot="1030115">
            <a:off x="4254818" y="3796567"/>
            <a:ext cx="1518417" cy="471088"/>
          </a:xfrm>
          <a:prstGeom prst="rect">
            <a:avLst/>
          </a:prstGeom>
        </p:spPr>
        <p:txBody>
          <a:bodyP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HIPAA</a:t>
            </a:r>
          </a:p>
          <a:p>
            <a:endParaRPr lang="en-US" sz="2800" b="1" spc="50" baseline="3000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6" name="Title 1"/>
          <p:cNvSpPr txBox="1">
            <a:spLocks/>
          </p:cNvSpPr>
          <p:nvPr/>
        </p:nvSpPr>
        <p:spPr>
          <a:xfrm rot="343925">
            <a:off x="3684962" y="4377841"/>
            <a:ext cx="1518417" cy="471088"/>
          </a:xfrm>
          <a:prstGeom prst="rect">
            <a:avLst/>
          </a:prstGeom>
        </p:spPr>
        <p:txBody>
          <a:bodyPr>
            <a:no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HITECH</a:t>
            </a:r>
          </a:p>
          <a:p>
            <a:endParaRPr lang="en-US" sz="2800" b="1" baseline="30000"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sp>
        <p:nvSpPr>
          <p:cNvPr id="27" name="Title 1"/>
          <p:cNvSpPr txBox="1">
            <a:spLocks/>
          </p:cNvSpPr>
          <p:nvPr/>
        </p:nvSpPr>
        <p:spPr>
          <a:xfrm rot="19883166">
            <a:off x="3269249" y="5514811"/>
            <a:ext cx="1931804" cy="47108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OMNIBUS</a:t>
            </a:r>
          </a:p>
          <a:p>
            <a:endParaRPr lang="en-US" sz="2800" b="1" baseline="30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8" name="Title 1"/>
          <p:cNvSpPr txBox="1">
            <a:spLocks/>
          </p:cNvSpPr>
          <p:nvPr/>
        </p:nvSpPr>
        <p:spPr>
          <a:xfrm rot="20356393">
            <a:off x="6054836" y="5116512"/>
            <a:ext cx="1752385" cy="1215363"/>
          </a:xfrm>
          <a:prstGeom prst="rect">
            <a:avLst/>
          </a:prstGeom>
        </p:spPr>
        <p:txBody>
          <a:bodyPr>
            <a:noAutofit/>
            <a:scene3d>
              <a:camera prst="orthographicFront"/>
              <a:lightRig rig="flat" dir="tl">
                <a:rot lat="0" lon="0" rev="6600000"/>
              </a:lightRig>
            </a:scene3d>
            <a:sp3d extrusionH="25400" contourW="8890">
              <a:bevelT w="38100" h="31750"/>
              <a:contourClr>
                <a:schemeClr val="accent2">
                  <a:shade val="75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Health Information Technology (HIT)</a:t>
            </a:r>
          </a:p>
          <a:p>
            <a:endParaRPr lang="en-US" sz="2000" b="1" baseline="3000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0" name="Title 1"/>
          <p:cNvSpPr txBox="1">
            <a:spLocks/>
          </p:cNvSpPr>
          <p:nvPr/>
        </p:nvSpPr>
        <p:spPr>
          <a:xfrm rot="523540">
            <a:off x="927832" y="4471404"/>
            <a:ext cx="1865153" cy="12192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Electronic-Protected Health Information (ePHI)</a:t>
            </a:r>
            <a:endParaRPr lang="en-US" sz="1800" b="1" baseline="3000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sp>
        <p:nvSpPr>
          <p:cNvPr id="31" name="Title 1"/>
          <p:cNvSpPr txBox="1">
            <a:spLocks/>
          </p:cNvSpPr>
          <p:nvPr/>
        </p:nvSpPr>
        <p:spPr>
          <a:xfrm rot="20233696">
            <a:off x="6547631" y="2095802"/>
            <a:ext cx="2345704" cy="40948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Impermissible</a:t>
            </a:r>
            <a:endParaRPr lang="en-US" sz="2400" b="1" baseline="3000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sp>
        <p:nvSpPr>
          <p:cNvPr id="32" name="Title 1"/>
          <p:cNvSpPr txBox="1">
            <a:spLocks/>
          </p:cNvSpPr>
          <p:nvPr/>
        </p:nvSpPr>
        <p:spPr>
          <a:xfrm rot="16856321">
            <a:off x="2864371" y="1959447"/>
            <a:ext cx="1844400" cy="40948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Risk Analysis</a:t>
            </a:r>
            <a:endParaRPr lang="en-US" sz="1800" b="1" baseline="3000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3" name="Title 1"/>
          <p:cNvSpPr txBox="1">
            <a:spLocks/>
          </p:cNvSpPr>
          <p:nvPr/>
        </p:nvSpPr>
        <p:spPr>
          <a:xfrm rot="1689530">
            <a:off x="2504724" y="4833093"/>
            <a:ext cx="1912376" cy="40948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Breach</a:t>
            </a:r>
          </a:p>
          <a:p>
            <a:endParaRPr lang="en-US" sz="2800" b="1" cap="all" baseline="3000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34" name="Title 1"/>
          <p:cNvSpPr txBox="1">
            <a:spLocks/>
          </p:cNvSpPr>
          <p:nvPr/>
        </p:nvSpPr>
        <p:spPr>
          <a:xfrm rot="523540">
            <a:off x="7154238" y="4486339"/>
            <a:ext cx="1653492" cy="6096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Uses and Disclosures</a:t>
            </a:r>
            <a:endParaRPr lang="en-US" sz="1800" b="1" baseline="3000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sp>
        <p:nvSpPr>
          <p:cNvPr id="35" name="Title 1"/>
          <p:cNvSpPr txBox="1">
            <a:spLocks/>
          </p:cNvSpPr>
          <p:nvPr/>
        </p:nvSpPr>
        <p:spPr>
          <a:xfrm rot="18701458">
            <a:off x="144962" y="1864318"/>
            <a:ext cx="1518417" cy="471088"/>
          </a:xfrm>
          <a:prstGeom prst="rect">
            <a:avLst/>
          </a:prstGeom>
        </p:spPr>
        <p:txBody>
          <a:bodyP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Audits</a:t>
            </a:r>
          </a:p>
          <a:p>
            <a:endParaRPr lang="en-US" sz="2800" b="1" spc="50" baseline="3000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6" name="Title 1"/>
          <p:cNvSpPr txBox="1">
            <a:spLocks/>
          </p:cNvSpPr>
          <p:nvPr/>
        </p:nvSpPr>
        <p:spPr>
          <a:xfrm rot="244726">
            <a:off x="7142022" y="3010880"/>
            <a:ext cx="1700068" cy="391151"/>
          </a:xfrm>
          <a:prstGeom prst="rect">
            <a:avLst/>
          </a:prstGeom>
        </p:spPr>
        <p:txBody>
          <a:bodyPr>
            <a:no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dirty="0" err="1" smtClean="0">
                <a:ln/>
                <a:solidFill>
                  <a:schemeClr val="accent3"/>
                </a:solidFill>
              </a:rPr>
              <a:t>Safequards</a:t>
            </a:r>
            <a:endParaRPr lang="en-US" sz="2000" b="1" baseline="30000" dirty="0">
              <a:ln/>
              <a:solidFill>
                <a:schemeClr val="accent3"/>
              </a:solidFill>
            </a:endParaRPr>
          </a:p>
        </p:txBody>
      </p:sp>
      <p:sp>
        <p:nvSpPr>
          <p:cNvPr id="37" name="Title 1"/>
          <p:cNvSpPr txBox="1">
            <a:spLocks/>
          </p:cNvSpPr>
          <p:nvPr/>
        </p:nvSpPr>
        <p:spPr>
          <a:xfrm rot="2712210">
            <a:off x="4589981" y="6009879"/>
            <a:ext cx="925756" cy="471088"/>
          </a:xfrm>
          <a:prstGeom prst="rect">
            <a:avLst/>
          </a:prstGeom>
        </p:spPr>
        <p:txBody>
          <a:bodyP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NPP</a:t>
            </a:r>
            <a:endParaRPr lang="en-US" sz="2400" b="1" spc="50" baseline="3000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8" name="Title 1"/>
          <p:cNvSpPr txBox="1">
            <a:spLocks/>
          </p:cNvSpPr>
          <p:nvPr/>
        </p:nvSpPr>
        <p:spPr>
          <a:xfrm rot="897568">
            <a:off x="6131885" y="1762124"/>
            <a:ext cx="1329541" cy="471088"/>
          </a:xfrm>
          <a:prstGeom prst="rect">
            <a:avLst/>
          </a:prstGeom>
        </p:spPr>
        <p:txBody>
          <a:bodyPr>
            <a:no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Threats</a:t>
            </a:r>
          </a:p>
          <a:p>
            <a:endParaRPr lang="en-US" sz="2000" b="1" baseline="30000"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sp>
        <p:nvSpPr>
          <p:cNvPr id="39" name="Title 1"/>
          <p:cNvSpPr txBox="1">
            <a:spLocks/>
          </p:cNvSpPr>
          <p:nvPr/>
        </p:nvSpPr>
        <p:spPr>
          <a:xfrm rot="18377949">
            <a:off x="-178597" y="4610293"/>
            <a:ext cx="1900546" cy="470908"/>
          </a:xfrm>
          <a:prstGeom prst="rect">
            <a:avLst/>
          </a:prstGeom>
        </p:spPr>
        <p:txBody>
          <a:bodyPr>
            <a:noAutofit/>
            <a:scene3d>
              <a:camera prst="orthographicFront"/>
              <a:lightRig rig="glow" dir="tl">
                <a:rot lat="0" lon="0" rev="5400000"/>
              </a:lightRig>
            </a:scene3d>
            <a:sp3d contourW="12700">
              <a:bevelT w="25400" h="25400"/>
              <a:contourClr>
                <a:schemeClr val="accent6">
                  <a:shade val="73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Vulnerabilities</a:t>
            </a:r>
            <a:endParaRPr lang="en-US" sz="1800" b="1" baseline="3000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40" name="Title 1"/>
          <p:cNvSpPr txBox="1">
            <a:spLocks/>
          </p:cNvSpPr>
          <p:nvPr/>
        </p:nvSpPr>
        <p:spPr>
          <a:xfrm rot="20647778">
            <a:off x="4014449" y="3137095"/>
            <a:ext cx="1744666" cy="319384"/>
          </a:xfrm>
          <a:prstGeom prst="rect">
            <a:avLst/>
          </a:prstGeom>
        </p:spPr>
        <p:txBody>
          <a:bodyPr>
            <a:no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6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Encryption</a:t>
            </a:r>
            <a:endParaRPr lang="en-US" sz="1600" b="1" cap="all" baseline="3000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
        <p:nvSpPr>
          <p:cNvPr id="41" name="Title 1"/>
          <p:cNvSpPr txBox="1">
            <a:spLocks/>
          </p:cNvSpPr>
          <p:nvPr/>
        </p:nvSpPr>
        <p:spPr>
          <a:xfrm rot="3538889">
            <a:off x="5126205" y="4713517"/>
            <a:ext cx="1482127" cy="40948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Covered </a:t>
            </a:r>
          </a:p>
          <a:p>
            <a:r>
              <a:rPr lang="en-US" sz="1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Entity</a:t>
            </a:r>
            <a:endParaRPr lang="en-US" sz="1800" b="1" baseline="3000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extLst>
      <p:ext uri="{BB962C8B-B14F-4D97-AF65-F5344CB8AC3E}">
        <p14:creationId xmlns:p14="http://schemas.microsoft.com/office/powerpoint/2010/main" val="15600749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39083" y="381000"/>
            <a:ext cx="6246760"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smtClean="0"/>
              <a:t>Privacy and Security</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Rectangle 18"/>
          <p:cNvSpPr/>
          <p:nvPr/>
        </p:nvSpPr>
        <p:spPr>
          <a:xfrm>
            <a:off x="541419" y="1447800"/>
            <a:ext cx="7711296" cy="892552"/>
          </a:xfrm>
          <a:prstGeom prst="rect">
            <a:avLst/>
          </a:prstGeom>
        </p:spPr>
        <p:txBody>
          <a:bodyPr wrap="square">
            <a:spAutoFit/>
          </a:bodyPr>
          <a:lstStyle/>
          <a:p>
            <a:r>
              <a:rPr lang="en-US" sz="2400" b="1" dirty="0" smtClean="0"/>
              <a:t>“</a:t>
            </a:r>
            <a:r>
              <a:rPr lang="en-US" sz="2800" b="1" dirty="0" smtClean="0"/>
              <a:t>Privacy</a:t>
            </a:r>
            <a:r>
              <a:rPr lang="en-US" sz="2400" b="1" dirty="0" smtClean="0"/>
              <a:t>” – an individual’s right to control the use or disclosure of personal information</a:t>
            </a:r>
          </a:p>
        </p:txBody>
      </p:sp>
      <p:sp>
        <p:nvSpPr>
          <p:cNvPr id="20" name="Rectangle 19"/>
          <p:cNvSpPr/>
          <p:nvPr/>
        </p:nvSpPr>
        <p:spPr>
          <a:xfrm>
            <a:off x="626149" y="4419600"/>
            <a:ext cx="7711296" cy="1261884"/>
          </a:xfrm>
          <a:prstGeom prst="rect">
            <a:avLst/>
          </a:prstGeom>
        </p:spPr>
        <p:txBody>
          <a:bodyPr wrap="square">
            <a:spAutoFit/>
          </a:bodyPr>
          <a:lstStyle/>
          <a:p>
            <a:r>
              <a:rPr lang="en-US" sz="2400" b="1" dirty="0" smtClean="0"/>
              <a:t>“</a:t>
            </a:r>
            <a:r>
              <a:rPr lang="en-US" sz="2800" b="1" dirty="0" smtClean="0"/>
              <a:t>Security</a:t>
            </a:r>
            <a:r>
              <a:rPr lang="en-US" sz="2400" b="1" dirty="0" smtClean="0"/>
              <a:t>” – refers to the mechanisms in place to protect the confidentiality and privacy of personal information</a:t>
            </a:r>
          </a:p>
        </p:txBody>
      </p:sp>
      <p:sp>
        <p:nvSpPr>
          <p:cNvPr id="21" name="Rectangle 20"/>
          <p:cNvSpPr/>
          <p:nvPr/>
        </p:nvSpPr>
        <p:spPr>
          <a:xfrm>
            <a:off x="611772" y="2667000"/>
            <a:ext cx="7711296" cy="1261884"/>
          </a:xfrm>
          <a:prstGeom prst="rect">
            <a:avLst/>
          </a:prstGeom>
        </p:spPr>
        <p:txBody>
          <a:bodyPr wrap="square">
            <a:spAutoFit/>
          </a:bodyPr>
          <a:lstStyle/>
          <a:p>
            <a:r>
              <a:rPr lang="en-US" sz="2400" b="1" dirty="0" smtClean="0"/>
              <a:t>“</a:t>
            </a:r>
            <a:r>
              <a:rPr lang="en-US" sz="2800" b="1" dirty="0" smtClean="0"/>
              <a:t>Confidentiality</a:t>
            </a:r>
            <a:r>
              <a:rPr lang="en-US" sz="2400" b="1" dirty="0" smtClean="0"/>
              <a:t>” – set of rules or promises that limits access or places restrictions on certain types of information [personal or health]</a:t>
            </a:r>
          </a:p>
        </p:txBody>
      </p:sp>
    </p:spTree>
    <p:extLst>
      <p:ext uri="{BB962C8B-B14F-4D97-AF65-F5344CB8AC3E}">
        <p14:creationId xmlns:p14="http://schemas.microsoft.com/office/powerpoint/2010/main" val="39996209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590800" y="152400"/>
            <a:ext cx="3581400" cy="838200"/>
          </a:xfrm>
        </p:spPr>
        <p:txBody>
          <a:bodyPr>
            <a:normAutofit/>
          </a:bodyPr>
          <a:lstStyle/>
          <a:p>
            <a:pPr algn="ctr"/>
            <a:r>
              <a:rPr lang="en-US" sz="3600" dirty="0" smtClean="0"/>
              <a:t>EMR vs. EHR</a:t>
            </a:r>
            <a:endParaRPr lang="en-US" sz="3600" dirty="0"/>
          </a:p>
        </p:txBody>
      </p:sp>
      <p:sp>
        <p:nvSpPr>
          <p:cNvPr id="3" name="Rectangle 2"/>
          <p:cNvSpPr/>
          <p:nvPr/>
        </p:nvSpPr>
        <p:spPr>
          <a:xfrm>
            <a:off x="396812" y="1479788"/>
            <a:ext cx="8203721" cy="4401205"/>
          </a:xfrm>
          <a:prstGeom prst="rect">
            <a:avLst/>
          </a:prstGeom>
        </p:spPr>
        <p:txBody>
          <a:bodyPr wrap="square">
            <a:spAutoFit/>
          </a:bodyPr>
          <a:lstStyle/>
          <a:p>
            <a:pPr marL="457200" indent="-457200">
              <a:buFont typeface="Arial" pitchFamily="34" charset="0"/>
              <a:buChar char="•"/>
            </a:pPr>
            <a:r>
              <a:rPr lang="en-US" sz="2000" b="1" dirty="0" smtClean="0"/>
              <a:t>“Electronic Medical Records (EMR)” is a digital version of a paper chart that contains all of a patients medical history from one practice, primarily used by providers for diagnosis and treatment.  Information in EMRs don’t typically or easily travel outside provider practice.</a:t>
            </a:r>
          </a:p>
          <a:p>
            <a:endParaRPr lang="en-US" sz="2000" b="1" dirty="0" smtClean="0"/>
          </a:p>
          <a:p>
            <a:pPr marL="457200" indent="-457200">
              <a:buFont typeface="Arial" pitchFamily="34" charset="0"/>
              <a:buChar char="•"/>
            </a:pPr>
            <a:r>
              <a:rPr lang="en-US" sz="2000" b="1" dirty="0" smtClean="0"/>
              <a:t>“Electronic Health Records (EHR)” are EMRs that focus on total health of patient and goes beyond standard clinical data collected in providers office and includes a broader view of patients care: </a:t>
            </a:r>
            <a:r>
              <a:rPr lang="en-US" sz="2000" b="1" dirty="0" err="1" smtClean="0"/>
              <a:t>ie</a:t>
            </a:r>
            <a:r>
              <a:rPr lang="en-US" sz="2000" b="1" dirty="0" smtClean="0"/>
              <a:t>.</a:t>
            </a:r>
          </a:p>
          <a:p>
            <a:pPr marL="914400" lvl="1" indent="-457200">
              <a:buFont typeface="Arial" pitchFamily="34" charset="0"/>
              <a:buChar char="•"/>
            </a:pPr>
            <a:r>
              <a:rPr lang="en-US" sz="2000" b="1" dirty="0" smtClean="0"/>
              <a:t>Built to share information with other health care providers </a:t>
            </a:r>
            <a:r>
              <a:rPr lang="en-US" sz="2000" b="1" dirty="0" err="1" smtClean="0"/>
              <a:t>ie</a:t>
            </a:r>
            <a:r>
              <a:rPr lang="en-US" sz="2000" b="1" dirty="0" smtClean="0"/>
              <a:t>. lab and specialists</a:t>
            </a:r>
          </a:p>
          <a:p>
            <a:pPr marL="914400" lvl="1" indent="-457200">
              <a:buFont typeface="Arial" pitchFamily="34" charset="0"/>
              <a:buChar char="•"/>
            </a:pPr>
            <a:r>
              <a:rPr lang="en-US" sz="2000" b="1" dirty="0" smtClean="0"/>
              <a:t>Patient information moves with the patient</a:t>
            </a:r>
          </a:p>
          <a:p>
            <a:pPr marL="914400" lvl="1" indent="-457200">
              <a:buFont typeface="Arial" pitchFamily="34" charset="0"/>
              <a:buChar char="•"/>
            </a:pPr>
            <a:r>
              <a:rPr lang="en-US" sz="2000" b="1" dirty="0" smtClean="0"/>
              <a:t>Patient information is easily shared with all stakeholders</a:t>
            </a:r>
            <a:endParaRPr lang="en-US" sz="2000" dirty="0"/>
          </a:p>
        </p:txBody>
      </p:sp>
    </p:spTree>
    <p:extLst>
      <p:ext uri="{BB962C8B-B14F-4D97-AF65-F5344CB8AC3E}">
        <p14:creationId xmlns:p14="http://schemas.microsoft.com/office/powerpoint/2010/main" val="23155773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590800" y="152400"/>
            <a:ext cx="3581400" cy="838200"/>
          </a:xfrm>
        </p:spPr>
        <p:txBody>
          <a:bodyPr>
            <a:normAutofit/>
          </a:bodyPr>
          <a:lstStyle/>
          <a:p>
            <a:pPr algn="ctr"/>
            <a:r>
              <a:rPr lang="en-US" sz="3600" dirty="0" smtClean="0"/>
              <a:t>PII vs. PHI</a:t>
            </a:r>
            <a:endParaRPr lang="en-US" sz="3600" dirty="0"/>
          </a:p>
        </p:txBody>
      </p:sp>
      <p:sp>
        <p:nvSpPr>
          <p:cNvPr id="3" name="Rectangle 2"/>
          <p:cNvSpPr/>
          <p:nvPr/>
        </p:nvSpPr>
        <p:spPr>
          <a:xfrm>
            <a:off x="396812" y="1371600"/>
            <a:ext cx="8203721" cy="3477875"/>
          </a:xfrm>
          <a:prstGeom prst="rect">
            <a:avLst/>
          </a:prstGeom>
        </p:spPr>
        <p:txBody>
          <a:bodyPr wrap="square">
            <a:spAutoFit/>
          </a:bodyPr>
          <a:lstStyle/>
          <a:p>
            <a:pPr marL="457200" indent="-457200">
              <a:buFont typeface="Arial" pitchFamily="34" charset="0"/>
              <a:buChar char="•"/>
            </a:pPr>
            <a:r>
              <a:rPr lang="en-US" sz="2000" b="1" dirty="0" smtClean="0"/>
              <a:t>“Personally Identifiable Information (PII)” as used in US Privacy law and information security, is information that can be used on its own or with other information to identify, contact, or locate a single person, or to identify an individual in context.  There are approximately 15 primary examples of PII identifiers.</a:t>
            </a:r>
          </a:p>
          <a:p>
            <a:endParaRPr lang="en-US" sz="2000" b="1" dirty="0" smtClean="0"/>
          </a:p>
          <a:p>
            <a:pPr marL="457200" indent="-457200">
              <a:buFont typeface="Arial" pitchFamily="34" charset="0"/>
              <a:buChar char="•"/>
            </a:pPr>
            <a:r>
              <a:rPr lang="en-US" sz="2000" b="1" dirty="0" smtClean="0"/>
              <a:t>“Protected Health Information (PHI)” is any information about the health status, provision of health care, or payment for health care that can be linked to a specific individual.  Under HIPAA, PHI is based upon 18 identifiers.  </a:t>
            </a:r>
          </a:p>
        </p:txBody>
      </p:sp>
      <p:sp>
        <p:nvSpPr>
          <p:cNvPr id="4" name="Rectangle 3"/>
          <p:cNvSpPr/>
          <p:nvPr/>
        </p:nvSpPr>
        <p:spPr>
          <a:xfrm>
            <a:off x="1295400" y="4953000"/>
            <a:ext cx="7086599" cy="1015663"/>
          </a:xfrm>
          <a:prstGeom prst="rect">
            <a:avLst/>
          </a:prstGeom>
          <a:solidFill>
            <a:srgbClr val="00B050"/>
          </a:solidFill>
          <a:effectLst>
            <a:innerShdw blurRad="63500" dist="50800" dir="8100000">
              <a:prstClr val="black">
                <a:alpha val="50000"/>
              </a:prstClr>
            </a:innerShdw>
          </a:effectLst>
        </p:spPr>
        <p:txBody>
          <a:bodyPr wrap="square">
            <a:spAutoFit/>
          </a:bodyPr>
          <a:lstStyle/>
          <a:p>
            <a:pPr algn="ctr"/>
            <a:r>
              <a:rPr lang="en-US" sz="2000" b="1" dirty="0" smtClean="0"/>
              <a:t>HIPAA/HITECH laws protect both PII and PHI from unauthorized uses and disclosures-other laws supplement protection provisions</a:t>
            </a:r>
            <a:endParaRPr lang="en-US" sz="2000" b="1" dirty="0"/>
          </a:p>
        </p:txBody>
      </p:sp>
    </p:spTree>
    <p:extLst>
      <p:ext uri="{BB962C8B-B14F-4D97-AF65-F5344CB8AC3E}">
        <p14:creationId xmlns:p14="http://schemas.microsoft.com/office/powerpoint/2010/main" val="23462930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516356"/>
            <a:ext cx="3810000" cy="3693319"/>
          </a:xfrm>
          <a:prstGeom prst="rect">
            <a:avLst/>
          </a:prstGeom>
        </p:spPr>
        <p:txBody>
          <a:bodyPr wrap="square">
            <a:spAutoFit/>
          </a:bodyPr>
          <a:lstStyle/>
          <a:p>
            <a:pPr marL="342900" indent="-342900">
              <a:buFont typeface="Wingdings" panose="05000000000000000000" pitchFamily="2" charset="2"/>
              <a:buChar char="q"/>
            </a:pPr>
            <a:r>
              <a:rPr lang="en-US" dirty="0" smtClean="0"/>
              <a:t>Full Name (if not common)</a:t>
            </a:r>
          </a:p>
          <a:p>
            <a:pPr marL="342900" indent="-342900">
              <a:buFont typeface="Wingdings" panose="05000000000000000000" pitchFamily="2" charset="2"/>
              <a:buChar char="q"/>
            </a:pPr>
            <a:r>
              <a:rPr lang="en-US" dirty="0" smtClean="0"/>
              <a:t>Home Address</a:t>
            </a:r>
          </a:p>
          <a:p>
            <a:pPr marL="342900" indent="-342900">
              <a:buFont typeface="Wingdings" panose="05000000000000000000" pitchFamily="2" charset="2"/>
              <a:buChar char="q"/>
            </a:pPr>
            <a:r>
              <a:rPr lang="en-US" dirty="0"/>
              <a:t>Email address</a:t>
            </a:r>
          </a:p>
          <a:p>
            <a:pPr marL="342900" indent="-342900">
              <a:buFont typeface="Wingdings" panose="05000000000000000000" pitchFamily="2" charset="2"/>
              <a:buChar char="q"/>
            </a:pPr>
            <a:r>
              <a:rPr lang="en-US" dirty="0" smtClean="0"/>
              <a:t>National Identification Number (SSN)</a:t>
            </a:r>
          </a:p>
          <a:p>
            <a:pPr marL="342900" indent="-342900">
              <a:buFont typeface="Wingdings" panose="05000000000000000000" pitchFamily="2" charset="2"/>
              <a:buChar char="q"/>
            </a:pPr>
            <a:r>
              <a:rPr lang="en-US" dirty="0" smtClean="0"/>
              <a:t>Internet </a:t>
            </a:r>
            <a:r>
              <a:rPr lang="en-US" dirty="0"/>
              <a:t>Protocol (IP) address </a:t>
            </a:r>
            <a:r>
              <a:rPr lang="en-US" dirty="0" smtClean="0"/>
              <a:t>numbers (in some cases)</a:t>
            </a:r>
          </a:p>
          <a:p>
            <a:pPr marL="342900" indent="-342900">
              <a:buFont typeface="Wingdings" panose="05000000000000000000" pitchFamily="2" charset="2"/>
              <a:buChar char="q"/>
            </a:pPr>
            <a:r>
              <a:rPr lang="en-US" dirty="0" smtClean="0"/>
              <a:t>Vehicle registration plate number</a:t>
            </a:r>
          </a:p>
          <a:p>
            <a:pPr marL="342900" indent="-342900">
              <a:buFont typeface="Wingdings" panose="05000000000000000000" pitchFamily="2" charset="2"/>
              <a:buChar char="q"/>
            </a:pPr>
            <a:r>
              <a:rPr lang="en-US" dirty="0" smtClean="0"/>
              <a:t>Drivers license number</a:t>
            </a:r>
            <a:endParaRPr lang="en-US" dirty="0"/>
          </a:p>
          <a:p>
            <a:pPr marL="342900" indent="-342900">
              <a:buFont typeface="Wingdings" panose="05000000000000000000" pitchFamily="2" charset="2"/>
              <a:buChar char="q"/>
            </a:pPr>
            <a:r>
              <a:rPr lang="en-US" dirty="0" smtClean="0"/>
              <a:t>Face, fingerprints, or handwriting</a:t>
            </a:r>
          </a:p>
          <a:p>
            <a:pPr marL="342900" indent="-342900">
              <a:buFont typeface="Wingdings" panose="05000000000000000000" pitchFamily="2" charset="2"/>
              <a:buChar char="q"/>
            </a:pPr>
            <a:r>
              <a:rPr lang="en-US" dirty="0" smtClean="0"/>
              <a:t>Credit Card Numbers</a:t>
            </a:r>
          </a:p>
        </p:txBody>
      </p:sp>
      <p:sp>
        <p:nvSpPr>
          <p:cNvPr id="3" name="Title 1"/>
          <p:cNvSpPr txBox="1">
            <a:spLocks/>
          </p:cNvSpPr>
          <p:nvPr/>
        </p:nvSpPr>
        <p:spPr>
          <a:xfrm>
            <a:off x="457200" y="393940"/>
            <a:ext cx="6324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dirty="0" smtClean="0"/>
              <a:t>Fifteen (15) PII Examples</a:t>
            </a:r>
            <a:endParaRPr lang="en-US" sz="3200" dirty="0"/>
          </a:p>
        </p:txBody>
      </p:sp>
      <p:sp>
        <p:nvSpPr>
          <p:cNvPr id="4" name="Rectangle 3"/>
          <p:cNvSpPr/>
          <p:nvPr/>
        </p:nvSpPr>
        <p:spPr>
          <a:xfrm>
            <a:off x="4876799" y="1295400"/>
            <a:ext cx="3310393" cy="2308324"/>
          </a:xfrm>
          <a:prstGeom prst="rect">
            <a:avLst/>
          </a:prstGeom>
        </p:spPr>
        <p:txBody>
          <a:bodyPr wrap="square">
            <a:spAutoFit/>
          </a:bodyPr>
          <a:lstStyle/>
          <a:p>
            <a:pPr marL="342900" indent="-342900">
              <a:buFont typeface="Wingdings" panose="05000000000000000000" pitchFamily="2" charset="2"/>
              <a:buChar char="q"/>
            </a:pPr>
            <a:r>
              <a:rPr lang="en-US" dirty="0" smtClean="0"/>
              <a:t>Digital Identity</a:t>
            </a:r>
          </a:p>
          <a:p>
            <a:pPr marL="342900" indent="-342900">
              <a:buFont typeface="Wingdings" panose="05000000000000000000" pitchFamily="2" charset="2"/>
              <a:buChar char="q"/>
            </a:pPr>
            <a:r>
              <a:rPr lang="en-US" dirty="0" smtClean="0"/>
              <a:t>Date of birth</a:t>
            </a:r>
          </a:p>
          <a:p>
            <a:pPr marL="342900" indent="-342900">
              <a:buFont typeface="Wingdings" panose="05000000000000000000" pitchFamily="2" charset="2"/>
              <a:buChar char="q"/>
            </a:pPr>
            <a:r>
              <a:rPr lang="en-US" dirty="0" smtClean="0"/>
              <a:t>Birthplace</a:t>
            </a:r>
          </a:p>
          <a:p>
            <a:pPr marL="342900" indent="-342900">
              <a:buFont typeface="Wingdings" panose="05000000000000000000" pitchFamily="2" charset="2"/>
              <a:buChar char="q"/>
            </a:pPr>
            <a:r>
              <a:rPr lang="en-US" dirty="0" smtClean="0"/>
              <a:t>Genetic Information</a:t>
            </a:r>
          </a:p>
          <a:p>
            <a:pPr marL="342900" indent="-342900">
              <a:buFont typeface="Wingdings" panose="05000000000000000000" pitchFamily="2" charset="2"/>
              <a:buChar char="q"/>
            </a:pPr>
            <a:r>
              <a:rPr lang="en-US" dirty="0" smtClean="0"/>
              <a:t>Login name, screen name, nickname, or handle</a:t>
            </a:r>
          </a:p>
          <a:p>
            <a:pPr marL="342900" indent="-342900">
              <a:buFont typeface="Wingdings" panose="05000000000000000000" pitchFamily="2" charset="2"/>
              <a:buChar char="q"/>
            </a:pPr>
            <a:r>
              <a:rPr lang="en-US" dirty="0" smtClean="0"/>
              <a:t>Telephone number</a:t>
            </a:r>
          </a:p>
        </p:txBody>
      </p:sp>
      <p:sp>
        <p:nvSpPr>
          <p:cNvPr id="5" name="Rectangle 4"/>
          <p:cNvSpPr/>
          <p:nvPr/>
        </p:nvSpPr>
        <p:spPr>
          <a:xfrm>
            <a:off x="4876800" y="4038600"/>
            <a:ext cx="3310393" cy="2308324"/>
          </a:xfrm>
          <a:prstGeom prst="rect">
            <a:avLst/>
          </a:prstGeom>
        </p:spPr>
        <p:txBody>
          <a:bodyPr wrap="square">
            <a:spAutoFit/>
          </a:bodyPr>
          <a:lstStyle/>
          <a:p>
            <a:pPr marL="342900" indent="-342900">
              <a:buFont typeface="Wingdings" panose="05000000000000000000" pitchFamily="2" charset="2"/>
              <a:buChar char="q"/>
            </a:pPr>
            <a:r>
              <a:rPr lang="en-US" dirty="0" smtClean="0"/>
              <a:t>Country, State or City of residence</a:t>
            </a:r>
          </a:p>
          <a:p>
            <a:pPr marL="342900" indent="-342900">
              <a:buFont typeface="Wingdings" panose="05000000000000000000" pitchFamily="2" charset="2"/>
              <a:buChar char="q"/>
            </a:pPr>
            <a:r>
              <a:rPr lang="en-US" dirty="0" smtClean="0"/>
              <a:t>Age </a:t>
            </a:r>
          </a:p>
          <a:p>
            <a:pPr marL="342900" indent="-342900">
              <a:buFont typeface="Wingdings" panose="05000000000000000000" pitchFamily="2" charset="2"/>
              <a:buChar char="q"/>
            </a:pPr>
            <a:r>
              <a:rPr lang="en-US" dirty="0" smtClean="0"/>
              <a:t>Gender or Race</a:t>
            </a:r>
          </a:p>
          <a:p>
            <a:pPr marL="342900" indent="-342900">
              <a:buFont typeface="Wingdings" panose="05000000000000000000" pitchFamily="2" charset="2"/>
              <a:buChar char="q"/>
            </a:pPr>
            <a:r>
              <a:rPr lang="en-US" dirty="0" smtClean="0"/>
              <a:t>Name of School</a:t>
            </a:r>
          </a:p>
          <a:p>
            <a:pPr marL="342900" indent="-342900">
              <a:buFont typeface="Wingdings" panose="05000000000000000000" pitchFamily="2" charset="2"/>
              <a:buChar char="q"/>
            </a:pPr>
            <a:r>
              <a:rPr lang="en-US" dirty="0" smtClean="0"/>
              <a:t>Grades, salary, or job position</a:t>
            </a:r>
          </a:p>
          <a:p>
            <a:pPr marL="342900" indent="-342900">
              <a:buFont typeface="Wingdings" panose="05000000000000000000" pitchFamily="2" charset="2"/>
              <a:buChar char="q"/>
            </a:pPr>
            <a:r>
              <a:rPr lang="en-US" dirty="0" smtClean="0"/>
              <a:t>Criminal Record</a:t>
            </a:r>
          </a:p>
        </p:txBody>
      </p:sp>
      <p:sp>
        <p:nvSpPr>
          <p:cNvPr id="6" name="TextBox 5"/>
          <p:cNvSpPr txBox="1"/>
          <p:nvPr/>
        </p:nvSpPr>
        <p:spPr>
          <a:xfrm>
            <a:off x="4341962" y="3614494"/>
            <a:ext cx="3300682" cy="400110"/>
          </a:xfrm>
          <a:prstGeom prst="rect">
            <a:avLst/>
          </a:prstGeom>
          <a:noFill/>
        </p:spPr>
        <p:txBody>
          <a:bodyPr wrap="square" rtlCol="0">
            <a:spAutoFit/>
          </a:bodyPr>
          <a:lstStyle/>
          <a:p>
            <a:pPr algn="ctr"/>
            <a:r>
              <a:rPr lang="en-US" sz="2000" b="1" i="1" dirty="0" smtClean="0"/>
              <a:t>Used but less common </a:t>
            </a:r>
            <a:endParaRPr lang="en-US" sz="2000" b="1" i="1" dirty="0"/>
          </a:p>
        </p:txBody>
      </p:sp>
    </p:spTree>
    <p:extLst>
      <p:ext uri="{BB962C8B-B14F-4D97-AF65-F5344CB8AC3E}">
        <p14:creationId xmlns:p14="http://schemas.microsoft.com/office/powerpoint/2010/main" val="4102632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1676400"/>
            <a:ext cx="3310393" cy="4247317"/>
          </a:xfrm>
          <a:prstGeom prst="rect">
            <a:avLst/>
          </a:prstGeom>
        </p:spPr>
        <p:txBody>
          <a:bodyPr wrap="square">
            <a:spAutoFit/>
          </a:bodyPr>
          <a:lstStyle/>
          <a:p>
            <a:pPr marL="342900" indent="-342900">
              <a:buFont typeface="Wingdings" panose="05000000000000000000" pitchFamily="2" charset="2"/>
              <a:buChar char="q"/>
            </a:pPr>
            <a:r>
              <a:rPr lang="en-US" dirty="0" smtClean="0"/>
              <a:t>Name</a:t>
            </a:r>
          </a:p>
          <a:p>
            <a:pPr marL="342900" indent="-342900">
              <a:buFont typeface="Wingdings" panose="05000000000000000000" pitchFamily="2" charset="2"/>
              <a:buChar char="q"/>
            </a:pPr>
            <a:r>
              <a:rPr lang="en-US" dirty="0" smtClean="0"/>
              <a:t>Address</a:t>
            </a:r>
          </a:p>
          <a:p>
            <a:pPr marL="342900" indent="-342900">
              <a:buFont typeface="Wingdings" panose="05000000000000000000" pitchFamily="2" charset="2"/>
              <a:buChar char="q"/>
            </a:pPr>
            <a:r>
              <a:rPr lang="en-US" dirty="0" smtClean="0"/>
              <a:t>Dates related to an individual</a:t>
            </a:r>
          </a:p>
          <a:p>
            <a:pPr marL="342900" indent="-342900">
              <a:buFont typeface="Wingdings" panose="05000000000000000000" pitchFamily="2" charset="2"/>
              <a:buChar char="q"/>
            </a:pPr>
            <a:r>
              <a:rPr lang="en-US" dirty="0" smtClean="0"/>
              <a:t>Telephone numbers</a:t>
            </a:r>
          </a:p>
          <a:p>
            <a:pPr marL="342900" indent="-342900">
              <a:buFont typeface="Wingdings" panose="05000000000000000000" pitchFamily="2" charset="2"/>
              <a:buChar char="q"/>
            </a:pPr>
            <a:r>
              <a:rPr lang="en-US" dirty="0" smtClean="0"/>
              <a:t>Fax number</a:t>
            </a:r>
          </a:p>
          <a:p>
            <a:pPr marL="342900" indent="-342900">
              <a:buFont typeface="Wingdings" panose="05000000000000000000" pitchFamily="2" charset="2"/>
              <a:buChar char="q"/>
            </a:pPr>
            <a:r>
              <a:rPr lang="en-US" dirty="0" smtClean="0"/>
              <a:t>Email address</a:t>
            </a:r>
          </a:p>
          <a:p>
            <a:pPr marL="342900" indent="-342900">
              <a:buFont typeface="Wingdings" panose="05000000000000000000" pitchFamily="2" charset="2"/>
              <a:buChar char="q"/>
            </a:pPr>
            <a:r>
              <a:rPr lang="en-US" dirty="0" smtClean="0"/>
              <a:t>Social Security Number</a:t>
            </a:r>
          </a:p>
          <a:p>
            <a:pPr marL="342900" indent="-342900">
              <a:buFont typeface="Wingdings" panose="05000000000000000000" pitchFamily="2" charset="2"/>
              <a:buChar char="q"/>
            </a:pPr>
            <a:r>
              <a:rPr lang="en-US" dirty="0" smtClean="0"/>
              <a:t>Medical Record Number</a:t>
            </a:r>
          </a:p>
          <a:p>
            <a:pPr marL="342900" indent="-342900">
              <a:buFont typeface="Wingdings" panose="05000000000000000000" pitchFamily="2" charset="2"/>
              <a:buChar char="q"/>
            </a:pPr>
            <a:r>
              <a:rPr lang="en-US" dirty="0" smtClean="0"/>
              <a:t>Health plan beneficiary number</a:t>
            </a:r>
          </a:p>
          <a:p>
            <a:pPr marL="342900" indent="-342900">
              <a:buFont typeface="Wingdings" panose="05000000000000000000" pitchFamily="2" charset="2"/>
              <a:buChar char="q"/>
            </a:pPr>
            <a:r>
              <a:rPr lang="en-US" dirty="0" smtClean="0"/>
              <a:t>Account number</a:t>
            </a:r>
          </a:p>
          <a:p>
            <a:pPr marL="342900" indent="-342900">
              <a:buFont typeface="Wingdings" panose="05000000000000000000" pitchFamily="2" charset="2"/>
              <a:buChar char="q"/>
            </a:pPr>
            <a:r>
              <a:rPr lang="en-US" dirty="0" smtClean="0"/>
              <a:t>Certificate/license number</a:t>
            </a:r>
          </a:p>
          <a:p>
            <a:pPr marL="342900" indent="-342900">
              <a:buFont typeface="Wingdings" panose="05000000000000000000" pitchFamily="2" charset="2"/>
              <a:buChar char="q"/>
            </a:pPr>
            <a:endParaRPr lang="en-US" dirty="0" smtClean="0"/>
          </a:p>
        </p:txBody>
      </p:sp>
      <p:sp>
        <p:nvSpPr>
          <p:cNvPr id="3" name="Title 1"/>
          <p:cNvSpPr txBox="1">
            <a:spLocks/>
          </p:cNvSpPr>
          <p:nvPr/>
        </p:nvSpPr>
        <p:spPr>
          <a:xfrm>
            <a:off x="1638300" y="408318"/>
            <a:ext cx="6324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dirty="0" smtClean="0"/>
              <a:t>Eighteen (18) ePHI Elements</a:t>
            </a:r>
            <a:endParaRPr lang="en-US" sz="3200" dirty="0"/>
          </a:p>
        </p:txBody>
      </p:sp>
      <p:sp>
        <p:nvSpPr>
          <p:cNvPr id="4" name="Rectangle 3"/>
          <p:cNvSpPr/>
          <p:nvPr/>
        </p:nvSpPr>
        <p:spPr>
          <a:xfrm>
            <a:off x="4800600" y="1828800"/>
            <a:ext cx="3310393" cy="3693319"/>
          </a:xfrm>
          <a:prstGeom prst="rect">
            <a:avLst/>
          </a:prstGeom>
        </p:spPr>
        <p:txBody>
          <a:bodyPr wrap="square">
            <a:spAutoFit/>
          </a:bodyPr>
          <a:lstStyle/>
          <a:p>
            <a:pPr marL="342900" indent="-342900">
              <a:buFont typeface="Wingdings" panose="05000000000000000000" pitchFamily="2" charset="2"/>
              <a:buChar char="q"/>
            </a:pPr>
            <a:r>
              <a:rPr lang="en-US" dirty="0" smtClean="0"/>
              <a:t>Any vehicle or other device serial number</a:t>
            </a:r>
          </a:p>
          <a:p>
            <a:pPr marL="342900" indent="-342900">
              <a:buFont typeface="Wingdings" panose="05000000000000000000" pitchFamily="2" charset="2"/>
              <a:buChar char="q"/>
            </a:pPr>
            <a:r>
              <a:rPr lang="en-US" dirty="0" smtClean="0"/>
              <a:t>Device identifiers or serial numbers</a:t>
            </a:r>
          </a:p>
          <a:p>
            <a:pPr marL="342900" indent="-342900">
              <a:buFont typeface="Wingdings" panose="05000000000000000000" pitchFamily="2" charset="2"/>
              <a:buChar char="q"/>
            </a:pPr>
            <a:r>
              <a:rPr lang="en-US" dirty="0" smtClean="0"/>
              <a:t>Web URL</a:t>
            </a:r>
          </a:p>
          <a:p>
            <a:pPr marL="342900" indent="-342900">
              <a:buFont typeface="Wingdings" panose="05000000000000000000" pitchFamily="2" charset="2"/>
              <a:buChar char="q"/>
            </a:pPr>
            <a:r>
              <a:rPr lang="en-US" dirty="0" smtClean="0"/>
              <a:t>Internet Protocol (IP) address numbers</a:t>
            </a:r>
          </a:p>
          <a:p>
            <a:pPr marL="342900" indent="-342900">
              <a:buFont typeface="Wingdings" panose="05000000000000000000" pitchFamily="2" charset="2"/>
              <a:buChar char="q"/>
            </a:pPr>
            <a:r>
              <a:rPr lang="en-US" dirty="0" smtClean="0"/>
              <a:t>Finger or voice prints</a:t>
            </a:r>
          </a:p>
          <a:p>
            <a:pPr marL="342900" indent="-342900">
              <a:buFont typeface="Wingdings" panose="05000000000000000000" pitchFamily="2" charset="2"/>
              <a:buChar char="q"/>
            </a:pPr>
            <a:r>
              <a:rPr lang="en-US" dirty="0" smtClean="0"/>
              <a:t>Photographic images</a:t>
            </a:r>
          </a:p>
          <a:p>
            <a:pPr marL="342900" indent="-342900">
              <a:buFont typeface="Wingdings" panose="05000000000000000000" pitchFamily="2" charset="2"/>
              <a:buChar char="q"/>
            </a:pPr>
            <a:r>
              <a:rPr lang="en-US" dirty="0" smtClean="0"/>
              <a:t>Any other characteristics that could uniquely identify the individual</a:t>
            </a:r>
          </a:p>
          <a:p>
            <a:pPr marL="342900" indent="-342900">
              <a:buFont typeface="Wingdings" panose="05000000000000000000" pitchFamily="2" charset="2"/>
              <a:buChar char="q"/>
            </a:pPr>
            <a:endParaRPr lang="en-US" dirty="0" smtClean="0"/>
          </a:p>
        </p:txBody>
      </p:sp>
    </p:spTree>
    <p:extLst>
      <p:ext uri="{BB962C8B-B14F-4D97-AF65-F5344CB8AC3E}">
        <p14:creationId xmlns:p14="http://schemas.microsoft.com/office/powerpoint/2010/main" val="27394492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371600" y="457200"/>
            <a:ext cx="6477000" cy="609600"/>
          </a:xfrm>
        </p:spPr>
        <p:txBody>
          <a:bodyPr>
            <a:normAutofit fontScale="90000"/>
          </a:bodyPr>
          <a:lstStyle/>
          <a:p>
            <a:pPr algn="ctr"/>
            <a:r>
              <a:rPr lang="en-US" sz="3600" dirty="0" smtClean="0"/>
              <a:t>Threats and Vulnerabilities</a:t>
            </a:r>
            <a:endParaRPr lang="en-US" sz="3600" dirty="0"/>
          </a:p>
        </p:txBody>
      </p:sp>
      <p:sp>
        <p:nvSpPr>
          <p:cNvPr id="3" name="Rectangle 2"/>
          <p:cNvSpPr/>
          <p:nvPr/>
        </p:nvSpPr>
        <p:spPr>
          <a:xfrm>
            <a:off x="388185" y="1371600"/>
            <a:ext cx="8203721" cy="1846659"/>
          </a:xfrm>
          <a:prstGeom prst="rect">
            <a:avLst/>
          </a:prstGeom>
        </p:spPr>
        <p:txBody>
          <a:bodyPr wrap="square">
            <a:spAutoFit/>
          </a:bodyPr>
          <a:lstStyle/>
          <a:p>
            <a:pPr algn="just"/>
            <a:r>
              <a:rPr lang="en-US" sz="2000" b="1" dirty="0" smtClean="0"/>
              <a:t>“Threat” is any circumstance or event with the potential to adversely impact assets, operations, individuals or organizations.  Threat are categorized by threat sources:</a:t>
            </a:r>
          </a:p>
          <a:p>
            <a:pPr marL="1257300" lvl="2" indent="-342900" algn="just">
              <a:buFont typeface="Wingdings" panose="05000000000000000000" pitchFamily="2" charset="2"/>
              <a:buChar char="q"/>
            </a:pPr>
            <a:r>
              <a:rPr lang="en-US" b="1" dirty="0" smtClean="0"/>
              <a:t>Natural-floods, earthquakes, tornadoes, etc.</a:t>
            </a:r>
          </a:p>
          <a:p>
            <a:pPr marL="1257300" lvl="2" indent="-342900" algn="just">
              <a:buFont typeface="Wingdings" panose="05000000000000000000" pitchFamily="2" charset="2"/>
              <a:buChar char="q"/>
            </a:pPr>
            <a:r>
              <a:rPr lang="en-US" b="1" dirty="0" smtClean="0"/>
              <a:t>Human-enabled or caused by people</a:t>
            </a:r>
          </a:p>
          <a:p>
            <a:pPr marL="1257300" lvl="2" indent="-342900" algn="just">
              <a:buFont typeface="Wingdings" panose="05000000000000000000" pitchFamily="2" charset="2"/>
              <a:buChar char="q"/>
            </a:pPr>
            <a:r>
              <a:rPr lang="en-US" b="1" dirty="0" smtClean="0"/>
              <a:t>Environmental-power failure, pollution, chemical, etc.  </a:t>
            </a:r>
          </a:p>
        </p:txBody>
      </p:sp>
      <p:sp>
        <p:nvSpPr>
          <p:cNvPr id="7" name="Rectangle 6"/>
          <p:cNvSpPr/>
          <p:nvPr/>
        </p:nvSpPr>
        <p:spPr>
          <a:xfrm>
            <a:off x="388185" y="3429000"/>
            <a:ext cx="8203721" cy="1015663"/>
          </a:xfrm>
          <a:prstGeom prst="rect">
            <a:avLst/>
          </a:prstGeom>
        </p:spPr>
        <p:txBody>
          <a:bodyPr wrap="square">
            <a:spAutoFit/>
          </a:bodyPr>
          <a:lstStyle/>
          <a:p>
            <a:pPr algn="just"/>
            <a:r>
              <a:rPr lang="en-US" sz="2000" b="1" dirty="0" smtClean="0"/>
              <a:t>“Vulnerability” are flaws or weakness in a systems security system, design, implementation or control that could be intentionally or unintentionally exercised by a “Threat”</a:t>
            </a:r>
          </a:p>
        </p:txBody>
      </p:sp>
      <p:sp>
        <p:nvSpPr>
          <p:cNvPr id="8" name="Rectangle 7"/>
          <p:cNvSpPr/>
          <p:nvPr/>
        </p:nvSpPr>
        <p:spPr>
          <a:xfrm>
            <a:off x="388185" y="4800600"/>
            <a:ext cx="8203721" cy="1015663"/>
          </a:xfrm>
          <a:prstGeom prst="rect">
            <a:avLst/>
          </a:prstGeom>
        </p:spPr>
        <p:txBody>
          <a:bodyPr wrap="square">
            <a:spAutoFit/>
          </a:bodyPr>
          <a:lstStyle/>
          <a:p>
            <a:pPr algn="just"/>
            <a:r>
              <a:rPr lang="en-US" sz="2000" b="1" dirty="0" smtClean="0"/>
              <a:t>“Risk” is the potential impact that a “Threat” can have on the confidentiality, integrity, and availability on ePHI by exploiting a “Vulnerability” </a:t>
            </a:r>
          </a:p>
        </p:txBody>
      </p:sp>
    </p:spTree>
    <p:extLst>
      <p:ext uri="{BB962C8B-B14F-4D97-AF65-F5344CB8AC3E}">
        <p14:creationId xmlns:p14="http://schemas.microsoft.com/office/powerpoint/2010/main" val="2399399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3241372" y="381000"/>
            <a:ext cx="2549828" cy="609600"/>
          </a:xfrm>
        </p:spPr>
        <p:txBody>
          <a:bodyPr>
            <a:normAutofit fontScale="90000"/>
          </a:bodyPr>
          <a:lstStyle/>
          <a:p>
            <a:pPr algn="ctr"/>
            <a:r>
              <a:rPr lang="en-US" sz="3600" dirty="0" smtClean="0"/>
              <a:t>Breach</a:t>
            </a:r>
            <a:endParaRPr lang="en-US" sz="3600" dirty="0"/>
          </a:p>
        </p:txBody>
      </p:sp>
      <p:sp>
        <p:nvSpPr>
          <p:cNvPr id="3" name="Rectangle 2"/>
          <p:cNvSpPr/>
          <p:nvPr/>
        </p:nvSpPr>
        <p:spPr>
          <a:xfrm>
            <a:off x="396812" y="1371600"/>
            <a:ext cx="8203721" cy="1938992"/>
          </a:xfrm>
          <a:prstGeom prst="rect">
            <a:avLst/>
          </a:prstGeom>
        </p:spPr>
        <p:txBody>
          <a:bodyPr wrap="square">
            <a:spAutoFit/>
          </a:bodyPr>
          <a:lstStyle/>
          <a:p>
            <a:pPr algn="just"/>
            <a:r>
              <a:rPr lang="en-US" sz="2000" b="1" dirty="0" smtClean="0"/>
              <a:t>“Breach” is a impermissible use or disclosure under the Privacy Rule that compromises the security or privacy of the protected health information (PHI).  An impermissible use or disclosure of PHI is presumed to be a BREACH </a:t>
            </a:r>
            <a:r>
              <a:rPr lang="en-US" sz="2000" b="1" i="1" dirty="0" smtClean="0"/>
              <a:t>unless</a:t>
            </a:r>
            <a:r>
              <a:rPr lang="en-US" sz="2000" b="1" dirty="0" smtClean="0"/>
              <a:t> the ‘covered entity’ demonstrates via a Risk Assessment, that there is a low probability that the PHI has been compromised.  </a:t>
            </a:r>
          </a:p>
        </p:txBody>
      </p:sp>
      <p:sp>
        <p:nvSpPr>
          <p:cNvPr id="2" name="Rectangle 1"/>
          <p:cNvSpPr/>
          <p:nvPr/>
        </p:nvSpPr>
        <p:spPr>
          <a:xfrm>
            <a:off x="1190445" y="3685688"/>
            <a:ext cx="3279472" cy="369332"/>
          </a:xfrm>
          <a:prstGeom prst="rect">
            <a:avLst/>
          </a:prstGeom>
          <a:solidFill>
            <a:srgbClr val="00B0F0"/>
          </a:solidFill>
          <a:effectLst>
            <a:innerShdw blurRad="63500" dist="50800" dir="18900000">
              <a:prstClr val="black">
                <a:alpha val="50000"/>
              </a:prstClr>
            </a:innerShdw>
          </a:effectLst>
        </p:spPr>
        <p:txBody>
          <a:bodyPr wrap="square">
            <a:spAutoFit/>
          </a:bodyPr>
          <a:lstStyle/>
          <a:p>
            <a:r>
              <a:rPr lang="en-US" b="1" dirty="0" smtClean="0"/>
              <a:t>Risk Assessment elements:</a:t>
            </a:r>
            <a:endParaRPr lang="en-US" b="1" dirty="0"/>
          </a:p>
        </p:txBody>
      </p:sp>
      <p:sp>
        <p:nvSpPr>
          <p:cNvPr id="6" name="Rectangle 5"/>
          <p:cNvSpPr/>
          <p:nvPr/>
        </p:nvSpPr>
        <p:spPr>
          <a:xfrm>
            <a:off x="1535502" y="4419600"/>
            <a:ext cx="6418053" cy="1477328"/>
          </a:xfrm>
          <a:prstGeom prst="rect">
            <a:avLst/>
          </a:prstGeom>
        </p:spPr>
        <p:txBody>
          <a:bodyPr wrap="square">
            <a:spAutoFit/>
          </a:bodyPr>
          <a:lstStyle/>
          <a:p>
            <a:pPr marL="342900" indent="-342900">
              <a:buFont typeface="+mj-lt"/>
              <a:buAutoNum type="arabicPeriod"/>
            </a:pPr>
            <a:r>
              <a:rPr lang="en-US" b="1" dirty="0" smtClean="0"/>
              <a:t>The nature and extent of the PHI involved</a:t>
            </a:r>
          </a:p>
          <a:p>
            <a:pPr marL="342900" indent="-342900">
              <a:buFont typeface="+mj-lt"/>
              <a:buAutoNum type="arabicPeriod"/>
            </a:pPr>
            <a:r>
              <a:rPr lang="en-US" b="1" dirty="0" smtClean="0"/>
              <a:t>The unauthorized person who viewed the PHI</a:t>
            </a:r>
          </a:p>
          <a:p>
            <a:pPr marL="342900" indent="-342900">
              <a:buFont typeface="+mj-lt"/>
              <a:buAutoNum type="arabicPeriod"/>
            </a:pPr>
            <a:r>
              <a:rPr lang="en-US" b="1" dirty="0" smtClean="0"/>
              <a:t>Whether the PHI was actually viewed or acquired</a:t>
            </a:r>
          </a:p>
          <a:p>
            <a:pPr marL="342900" indent="-342900">
              <a:buFont typeface="+mj-lt"/>
              <a:buAutoNum type="arabicPeriod"/>
            </a:pPr>
            <a:r>
              <a:rPr lang="en-US" b="1" dirty="0" smtClean="0"/>
              <a:t>The extent to which the risk to the PHI was mitigated</a:t>
            </a:r>
            <a:endParaRPr lang="en-US" b="1" dirty="0"/>
          </a:p>
        </p:txBody>
      </p:sp>
    </p:spTree>
    <p:extLst>
      <p:ext uri="{BB962C8B-B14F-4D97-AF65-F5344CB8AC3E}">
        <p14:creationId xmlns:p14="http://schemas.microsoft.com/office/powerpoint/2010/main" val="12502345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317939850"/>
              </p:ext>
            </p:extLst>
          </p:nvPr>
        </p:nvGraphicFramePr>
        <p:xfrm>
          <a:off x="457200" y="304800"/>
          <a:ext cx="8382000" cy="5638800"/>
        </p:xfrm>
        <a:graphic>
          <a:graphicData uri="http://schemas.openxmlformats.org/presentationml/2006/ole">
            <mc:AlternateContent xmlns:mc="http://schemas.openxmlformats.org/markup-compatibility/2006">
              <mc:Choice xmlns:v="urn:schemas-microsoft-com:vml" Requires="v">
                <p:oleObj spid="_x0000_s1064" name="Document" r:id="rId4" imgW="10075839" imgH="7657308" progId="Word.Document.12">
                  <p:embed/>
                </p:oleObj>
              </mc:Choice>
              <mc:Fallback>
                <p:oleObj name="Document" r:id="rId4" imgW="10075839" imgH="7657308" progId="Word.Document.12">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304800"/>
                        <a:ext cx="8382000" cy="5638800"/>
                      </a:xfrm>
                      <a:prstGeom prst="rect">
                        <a:avLst/>
                      </a:prstGeom>
                      <a:noFill/>
                      <a:ln>
                        <a:noFill/>
                      </a:ln>
                    </p:spPr>
                  </p:pic>
                </p:oleObj>
              </mc:Fallback>
            </mc:AlternateContent>
          </a:graphicData>
        </a:graphic>
      </p:graphicFrame>
      <p:sp>
        <p:nvSpPr>
          <p:cNvPr id="3" name="Rectangle 2"/>
          <p:cNvSpPr/>
          <p:nvPr/>
        </p:nvSpPr>
        <p:spPr>
          <a:xfrm>
            <a:off x="372374" y="228600"/>
            <a:ext cx="8466826" cy="838200"/>
          </a:xfrm>
          <a:prstGeom prst="rect">
            <a:avLst/>
          </a:prstGeom>
          <a:ln w="12700"/>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34037" y="386090"/>
            <a:ext cx="5287274" cy="523220"/>
          </a:xfrm>
          <a:prstGeom prst="rect">
            <a:avLst/>
          </a:prstGeom>
          <a:noFill/>
        </p:spPr>
        <p:txBody>
          <a:bodyPr wrap="square" rtlCol="0">
            <a:spAutoFit/>
          </a:bodyPr>
          <a:lstStyle/>
          <a:p>
            <a:r>
              <a:rPr lang="en-US" sz="2800" dirty="0" smtClean="0"/>
              <a:t>Typical Clinical Operations</a:t>
            </a:r>
            <a:endParaRPr lang="en-US" sz="2800" dirty="0"/>
          </a:p>
        </p:txBody>
      </p:sp>
    </p:spTree>
    <p:extLst>
      <p:ext uri="{BB962C8B-B14F-4D97-AF65-F5344CB8AC3E}">
        <p14:creationId xmlns:p14="http://schemas.microsoft.com/office/powerpoint/2010/main" val="19138820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346209" y="2905112"/>
            <a:ext cx="1505311" cy="15786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5" name="TextBox 4"/>
          <p:cNvSpPr txBox="1"/>
          <p:nvPr/>
        </p:nvSpPr>
        <p:spPr>
          <a:xfrm>
            <a:off x="3275761" y="3021954"/>
            <a:ext cx="1604514" cy="1323439"/>
          </a:xfrm>
          <a:prstGeom prst="rect">
            <a:avLst/>
          </a:prstGeom>
          <a:noFill/>
        </p:spPr>
        <p:txBody>
          <a:bodyPr wrap="square" rtlCol="0">
            <a:spAutoFit/>
          </a:bodyPr>
          <a:lstStyle/>
          <a:p>
            <a:pPr algn="ctr"/>
            <a:r>
              <a:rPr lang="en-US" sz="1600" dirty="0" smtClean="0"/>
              <a:t>Patient’s individually identifiable </a:t>
            </a:r>
            <a:r>
              <a:rPr lang="en-US" sz="1600" dirty="0"/>
              <a:t>h</a:t>
            </a:r>
            <a:r>
              <a:rPr lang="en-US" sz="1600" dirty="0" smtClean="0"/>
              <a:t>ealthcare </a:t>
            </a:r>
            <a:r>
              <a:rPr lang="en-US" sz="1600" dirty="0"/>
              <a:t>i</a:t>
            </a:r>
            <a:r>
              <a:rPr lang="en-US" sz="1600" dirty="0" smtClean="0"/>
              <a:t>nformation</a:t>
            </a:r>
          </a:p>
        </p:txBody>
      </p:sp>
      <p:pic>
        <p:nvPicPr>
          <p:cNvPr id="16388" name="Picture 4" descr="C:\Users\larry delone\AppData\Local\Microsoft\Windows\Temporary Internet Files\Content.IE5\BU8281M9\MC900183432[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2830" y="4471762"/>
            <a:ext cx="1104987" cy="1288077"/>
          </a:xfrm>
          <a:prstGeom prst="rect">
            <a:avLst/>
          </a:prstGeom>
          <a:noFill/>
          <a:extLst>
            <a:ext uri="{909E8E84-426E-40DD-AFC4-6F175D3DCCD1}">
              <a14:hiddenFill xmlns:a14="http://schemas.microsoft.com/office/drawing/2010/main">
                <a:solidFill>
                  <a:srgbClr val="FFFFFF"/>
                </a:solidFill>
              </a14:hiddenFill>
            </a:ext>
          </a:extLst>
        </p:spPr>
      </p:pic>
      <p:pic>
        <p:nvPicPr>
          <p:cNvPr id="16389" name="Picture 5" descr="C:\Users\larry delone\AppData\Local\Microsoft\Windows\Temporary Internet Files\Content.IE5\BU8281M9\MC900358915[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6266" y="3123701"/>
            <a:ext cx="818117" cy="988604"/>
          </a:xfrm>
          <a:prstGeom prst="rect">
            <a:avLst/>
          </a:prstGeom>
          <a:noFill/>
          <a:extLst>
            <a:ext uri="{909E8E84-426E-40DD-AFC4-6F175D3DCCD1}">
              <a14:hiddenFill xmlns:a14="http://schemas.microsoft.com/office/drawing/2010/main">
                <a:solidFill>
                  <a:srgbClr val="FFFFFF"/>
                </a:solidFill>
              </a14:hiddenFill>
            </a:ext>
          </a:extLst>
        </p:spPr>
      </p:pic>
      <p:sp>
        <p:nvSpPr>
          <p:cNvPr id="15" name="Content Placeholder 1"/>
          <p:cNvSpPr txBox="1">
            <a:spLocks/>
          </p:cNvSpPr>
          <p:nvPr/>
        </p:nvSpPr>
        <p:spPr>
          <a:xfrm>
            <a:off x="1313797" y="4227265"/>
            <a:ext cx="892114" cy="281800"/>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100" dirty="0" smtClean="0"/>
              <a:t>Patient</a:t>
            </a:r>
            <a:endParaRPr lang="en-US" sz="1100" dirty="0"/>
          </a:p>
        </p:txBody>
      </p:sp>
      <p:sp>
        <p:nvSpPr>
          <p:cNvPr id="16" name="Content Placeholder 1"/>
          <p:cNvSpPr txBox="1">
            <a:spLocks/>
          </p:cNvSpPr>
          <p:nvPr/>
        </p:nvSpPr>
        <p:spPr>
          <a:xfrm>
            <a:off x="989380" y="5740245"/>
            <a:ext cx="1290127" cy="281800"/>
          </a:xfrm>
          <a:prstGeom prst="rect">
            <a:avLst/>
          </a:prstGeom>
        </p:spPr>
        <p:txBody>
          <a:bodyPr vert="horz">
            <a:normAutofit fontScale="925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100" dirty="0" smtClean="0"/>
              <a:t>Hospital or Other</a:t>
            </a:r>
            <a:endParaRPr lang="en-US" sz="1100" dirty="0"/>
          </a:p>
        </p:txBody>
      </p:sp>
      <p:sp>
        <p:nvSpPr>
          <p:cNvPr id="17" name="Content Placeholder 1"/>
          <p:cNvSpPr txBox="1">
            <a:spLocks/>
          </p:cNvSpPr>
          <p:nvPr/>
        </p:nvSpPr>
        <p:spPr>
          <a:xfrm>
            <a:off x="1184389" y="2790585"/>
            <a:ext cx="1041873" cy="281800"/>
          </a:xfrm>
          <a:prstGeom prst="rect">
            <a:avLst/>
          </a:prstGeom>
        </p:spPr>
        <p:txBody>
          <a:bodyPr vert="horz">
            <a:normAutofit fontScale="47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2400" dirty="0" smtClean="0"/>
              <a:t>Physician (s)</a:t>
            </a:r>
            <a:endParaRPr lang="en-US" sz="2400" dirty="0"/>
          </a:p>
        </p:txBody>
      </p:sp>
      <p:grpSp>
        <p:nvGrpSpPr>
          <p:cNvPr id="3" name="Group 2"/>
          <p:cNvGrpSpPr/>
          <p:nvPr/>
        </p:nvGrpSpPr>
        <p:grpSpPr>
          <a:xfrm>
            <a:off x="1235684" y="1715535"/>
            <a:ext cx="970227" cy="1089168"/>
            <a:chOff x="225422" y="2139901"/>
            <a:chExt cx="970227" cy="1089168"/>
          </a:xfrm>
        </p:grpSpPr>
        <p:pic>
          <p:nvPicPr>
            <p:cNvPr id="16387" name="Picture 3" descr="C:\Users\larry delone\AppData\Local\Microsoft\Windows\Temporary Internet Files\Content.IE5\8EMZ1ANN\MC900436009[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5422" y="2597606"/>
              <a:ext cx="709697" cy="63146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3" descr="C:\Users\larry delone\AppData\Local\Microsoft\Windows\Temporary Internet Files\Content.IE5\8EMZ1ANN\MC900436009[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2071" y="2363798"/>
              <a:ext cx="709697" cy="63146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3" descr="C:\Users\larry delone\AppData\Local\Microsoft\Windows\Temporary Internet Files\Content.IE5\8EMZ1ANN\MC900436009[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5952" y="2139901"/>
              <a:ext cx="709697" cy="631463"/>
            </a:xfrm>
            <a:prstGeom prst="rect">
              <a:avLst/>
            </a:prstGeom>
            <a:noFill/>
            <a:extLst>
              <a:ext uri="{909E8E84-426E-40DD-AFC4-6F175D3DCCD1}">
                <a14:hiddenFill xmlns:a14="http://schemas.microsoft.com/office/drawing/2010/main">
                  <a:solidFill>
                    <a:srgbClr val="FFFFFF"/>
                  </a:solidFill>
                </a14:hiddenFill>
              </a:ext>
            </a:extLst>
          </p:spPr>
        </p:pic>
      </p:grpSp>
      <p:sp>
        <p:nvSpPr>
          <p:cNvPr id="22" name="Content Placeholder 1"/>
          <p:cNvSpPr txBox="1">
            <a:spLocks/>
          </p:cNvSpPr>
          <p:nvPr/>
        </p:nvSpPr>
        <p:spPr>
          <a:xfrm>
            <a:off x="4915061" y="1700990"/>
            <a:ext cx="2362199" cy="4395009"/>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285750" indent="-285750">
              <a:buClrTx/>
              <a:buFont typeface="Wingdings" panose="05000000000000000000" pitchFamily="2" charset="2"/>
              <a:buChar char="q"/>
            </a:pPr>
            <a:r>
              <a:rPr lang="en-US" sz="1600" b="1" dirty="0" smtClean="0"/>
              <a:t>Protect patients Rights – Uses and Disclosures</a:t>
            </a:r>
          </a:p>
          <a:p>
            <a:pPr marL="285750" indent="-285750">
              <a:buClrTx/>
              <a:buFont typeface="Wingdings" panose="05000000000000000000" pitchFamily="2" charset="2"/>
              <a:buChar char="q"/>
            </a:pPr>
            <a:r>
              <a:rPr lang="en-US" sz="1600" b="1" dirty="0" smtClean="0"/>
              <a:t>Safeguard PHI from unauthorized uses and Disclosures</a:t>
            </a:r>
          </a:p>
          <a:p>
            <a:pPr marL="285750" indent="-285750">
              <a:buClrTx/>
              <a:buFont typeface="Wingdings" panose="05000000000000000000" pitchFamily="2" charset="2"/>
              <a:buChar char="q"/>
            </a:pPr>
            <a:r>
              <a:rPr lang="en-US" sz="1600" b="1" dirty="0" smtClean="0"/>
              <a:t>Develop and Manage Administrative, Technical and Physical Safeguards to protect confidentiality, integrity and availability of ePHI </a:t>
            </a:r>
          </a:p>
          <a:p>
            <a:pPr marL="285750" indent="-285750" algn="ctr" fontAlgn="auto">
              <a:buClrTx/>
              <a:buFont typeface="Wingdings" panose="05000000000000000000" pitchFamily="2" charset="2"/>
              <a:buChar char="q"/>
            </a:pPr>
            <a:endParaRPr lang="en-US" sz="1600" b="1" dirty="0"/>
          </a:p>
        </p:txBody>
      </p:sp>
      <p:sp>
        <p:nvSpPr>
          <p:cNvPr id="12" name="Rectangle 11"/>
          <p:cNvSpPr/>
          <p:nvPr/>
        </p:nvSpPr>
        <p:spPr>
          <a:xfrm>
            <a:off x="3193809" y="1465522"/>
            <a:ext cx="4267200" cy="47244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485952" y="457200"/>
            <a:ext cx="8077200" cy="5334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smtClean="0"/>
              <a:t>Integrating Privacy and Security into Practice</a:t>
            </a:r>
            <a:endParaRPr lang="en-US" sz="2800" baseline="30000" dirty="0"/>
          </a:p>
        </p:txBody>
      </p:sp>
      <p:sp>
        <p:nvSpPr>
          <p:cNvPr id="4" name="Right Brace 3"/>
          <p:cNvSpPr/>
          <p:nvPr/>
        </p:nvSpPr>
        <p:spPr>
          <a:xfrm>
            <a:off x="2584209" y="1923815"/>
            <a:ext cx="340065" cy="3388377"/>
          </a:xfrm>
          <a:prstGeom prst="rightBrace">
            <a:avLst>
              <a:gd name="adj1" fmla="val 8333"/>
              <a:gd name="adj2" fmla="val 50255"/>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3962400" y="1191875"/>
            <a:ext cx="2495909" cy="276999"/>
          </a:xfrm>
          <a:prstGeom prst="rect">
            <a:avLst/>
          </a:prstGeom>
          <a:noFill/>
        </p:spPr>
        <p:txBody>
          <a:bodyPr wrap="square" rtlCol="0">
            <a:spAutoFit/>
          </a:bodyPr>
          <a:lstStyle/>
          <a:p>
            <a:r>
              <a:rPr lang="en-US" sz="1200" b="1" dirty="0" smtClean="0"/>
              <a:t>Information Security Program</a:t>
            </a:r>
            <a:endParaRPr lang="en-US" sz="1200" b="1" dirty="0"/>
          </a:p>
        </p:txBody>
      </p:sp>
      <p:sp>
        <p:nvSpPr>
          <p:cNvPr id="25" name="TextBox 24"/>
          <p:cNvSpPr txBox="1"/>
          <p:nvPr/>
        </p:nvSpPr>
        <p:spPr>
          <a:xfrm>
            <a:off x="3599315" y="4609381"/>
            <a:ext cx="1048885" cy="276999"/>
          </a:xfrm>
          <a:prstGeom prst="rect">
            <a:avLst/>
          </a:prstGeom>
          <a:noFill/>
        </p:spPr>
        <p:txBody>
          <a:bodyPr wrap="square" rtlCol="0">
            <a:spAutoFit/>
          </a:bodyPr>
          <a:lstStyle/>
          <a:p>
            <a:r>
              <a:rPr lang="en-US" sz="1200" b="1" dirty="0" smtClean="0"/>
              <a:t>PHI or ePHI</a:t>
            </a:r>
            <a:endParaRPr lang="en-US" sz="1200" b="1" dirty="0"/>
          </a:p>
        </p:txBody>
      </p:sp>
    </p:spTree>
    <p:extLst>
      <p:ext uri="{BB962C8B-B14F-4D97-AF65-F5344CB8AC3E}">
        <p14:creationId xmlns:p14="http://schemas.microsoft.com/office/powerpoint/2010/main" val="90611984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
          <p:cNvSpPr txBox="1">
            <a:spLocks/>
          </p:cNvSpPr>
          <p:nvPr/>
        </p:nvSpPr>
        <p:spPr>
          <a:xfrm>
            <a:off x="5181600" y="1676400"/>
            <a:ext cx="3657600" cy="4395009"/>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285750" indent="-285750">
              <a:buClrTx/>
              <a:buFont typeface="Wingdings" panose="05000000000000000000" pitchFamily="2" charset="2"/>
              <a:buChar char="q"/>
            </a:pPr>
            <a:r>
              <a:rPr lang="en-US" sz="1800" b="1" dirty="0" smtClean="0"/>
              <a:t>PHI must be protected at rest (created or maintained) or transmitted or received</a:t>
            </a:r>
          </a:p>
          <a:p>
            <a:pPr marL="285750" indent="-285750">
              <a:buClrTx/>
              <a:buFont typeface="Wingdings" panose="05000000000000000000" pitchFamily="2" charset="2"/>
              <a:buChar char="q"/>
            </a:pPr>
            <a:r>
              <a:rPr lang="en-US" sz="2000" b="1" i="1" dirty="0" smtClean="0"/>
              <a:t>Confidentiality</a:t>
            </a:r>
            <a:r>
              <a:rPr lang="en-US" sz="1800" b="1" dirty="0" smtClean="0"/>
              <a:t> must be protected –”unauthorized use or disclosures”</a:t>
            </a:r>
          </a:p>
          <a:p>
            <a:pPr marL="285750" indent="-285750">
              <a:buClrTx/>
              <a:buFont typeface="Wingdings" panose="05000000000000000000" pitchFamily="2" charset="2"/>
              <a:buChar char="q"/>
            </a:pPr>
            <a:r>
              <a:rPr lang="en-US" sz="2000" b="1" i="1" dirty="0" smtClean="0"/>
              <a:t>Integrity </a:t>
            </a:r>
            <a:r>
              <a:rPr lang="en-US" sz="1800" b="1" dirty="0" smtClean="0"/>
              <a:t>must be protected – “free from unauthorized modification or destruction”</a:t>
            </a:r>
          </a:p>
          <a:p>
            <a:pPr marL="285750" indent="-285750">
              <a:buClrTx/>
              <a:buFont typeface="Wingdings" panose="05000000000000000000" pitchFamily="2" charset="2"/>
              <a:buChar char="q"/>
            </a:pPr>
            <a:r>
              <a:rPr lang="en-US" sz="2000" b="1" i="1" dirty="0" smtClean="0"/>
              <a:t>Availability</a:t>
            </a:r>
            <a:r>
              <a:rPr lang="en-US" sz="1800" b="1" dirty="0" smtClean="0"/>
              <a:t> must be protected – “information is available to those authorized to access when needed”</a:t>
            </a:r>
          </a:p>
          <a:p>
            <a:pPr marL="285750" indent="-285750" algn="ctr" fontAlgn="auto">
              <a:buClrTx/>
              <a:buFont typeface="Wingdings" panose="05000000000000000000" pitchFamily="2" charset="2"/>
              <a:buChar char="q"/>
            </a:pPr>
            <a:endParaRPr lang="en-US" sz="1800" b="1" dirty="0"/>
          </a:p>
        </p:txBody>
      </p:sp>
      <p:sp>
        <p:nvSpPr>
          <p:cNvPr id="21" name="Title 1"/>
          <p:cNvSpPr txBox="1">
            <a:spLocks/>
          </p:cNvSpPr>
          <p:nvPr/>
        </p:nvSpPr>
        <p:spPr>
          <a:xfrm>
            <a:off x="485952" y="457200"/>
            <a:ext cx="8077200" cy="5334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smtClean="0"/>
              <a:t>Conversion from Paper to Electronic</a:t>
            </a:r>
            <a:endParaRPr lang="en-US" sz="2800" baseline="30000" dirty="0"/>
          </a:p>
        </p:txBody>
      </p:sp>
      <p:sp>
        <p:nvSpPr>
          <p:cNvPr id="7" name="TextBox 6"/>
          <p:cNvSpPr txBox="1"/>
          <p:nvPr/>
        </p:nvSpPr>
        <p:spPr>
          <a:xfrm>
            <a:off x="1219200" y="5671138"/>
            <a:ext cx="3079633" cy="276999"/>
          </a:xfrm>
          <a:prstGeom prst="rect">
            <a:avLst/>
          </a:prstGeom>
          <a:noFill/>
        </p:spPr>
        <p:txBody>
          <a:bodyPr wrap="square" rtlCol="0">
            <a:spAutoFit/>
          </a:bodyPr>
          <a:lstStyle/>
          <a:p>
            <a:r>
              <a:rPr lang="en-US" sz="1200" b="1" dirty="0" smtClean="0"/>
              <a:t>Creation of electronic PHI or ePHI</a:t>
            </a:r>
            <a:endParaRPr lang="en-US" sz="1200" b="1"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205" y="1293310"/>
            <a:ext cx="4430437" cy="4297524"/>
          </a:xfrm>
          <a:prstGeom prst="rect">
            <a:avLst/>
          </a:prstGeom>
        </p:spPr>
      </p:pic>
      <p:sp>
        <p:nvSpPr>
          <p:cNvPr id="20" name="TextBox 19"/>
          <p:cNvSpPr txBox="1"/>
          <p:nvPr/>
        </p:nvSpPr>
        <p:spPr>
          <a:xfrm>
            <a:off x="6019800" y="1284696"/>
            <a:ext cx="2469262" cy="276999"/>
          </a:xfrm>
          <a:prstGeom prst="rect">
            <a:avLst/>
          </a:prstGeom>
          <a:noFill/>
        </p:spPr>
        <p:txBody>
          <a:bodyPr wrap="square" rtlCol="0">
            <a:spAutoFit/>
          </a:bodyPr>
          <a:lstStyle/>
          <a:p>
            <a:r>
              <a:rPr lang="en-US" sz="1200" b="1" u="sng" dirty="0" smtClean="0"/>
              <a:t>Basic Security Rule Principals</a:t>
            </a:r>
            <a:endParaRPr lang="en-US" sz="1200" b="1" u="sng" dirty="0"/>
          </a:p>
        </p:txBody>
      </p:sp>
    </p:spTree>
    <p:extLst>
      <p:ext uri="{BB962C8B-B14F-4D97-AF65-F5344CB8AC3E}">
        <p14:creationId xmlns:p14="http://schemas.microsoft.com/office/powerpoint/2010/main" val="16898956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94578" y="457200"/>
            <a:ext cx="8077200" cy="5334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smtClean="0"/>
              <a:t>Existing Privacy and Security Mandates</a:t>
            </a:r>
            <a:endParaRPr lang="en-US" sz="3000" baseline="30000" dirty="0"/>
          </a:p>
        </p:txBody>
      </p:sp>
      <p:sp>
        <p:nvSpPr>
          <p:cNvPr id="7" name="Content Placeholder 5"/>
          <p:cNvSpPr txBox="1">
            <a:spLocks/>
          </p:cNvSpPr>
          <p:nvPr/>
        </p:nvSpPr>
        <p:spPr>
          <a:xfrm>
            <a:off x="473012" y="1219200"/>
            <a:ext cx="7848600" cy="1020761"/>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gn="just">
              <a:spcAft>
                <a:spcPts val="1800"/>
              </a:spcAft>
            </a:pPr>
            <a:r>
              <a:rPr lang="en-US" sz="2000" dirty="0" smtClean="0"/>
              <a:t>It is a mandate imposed by the </a:t>
            </a:r>
            <a:r>
              <a:rPr lang="en-US" sz="2000" b="1" dirty="0" smtClean="0"/>
              <a:t>Health Insurance Portability and Accountability Act of 1996 (HIPAA) for ‘covered entities’ (</a:t>
            </a:r>
            <a:r>
              <a:rPr lang="en-US" sz="2000" b="1" i="1" dirty="0" smtClean="0"/>
              <a:t>health care providers</a:t>
            </a:r>
            <a:r>
              <a:rPr lang="en-US" sz="2000" b="1" dirty="0" smtClean="0"/>
              <a:t>)</a:t>
            </a:r>
          </a:p>
        </p:txBody>
      </p:sp>
      <p:sp>
        <p:nvSpPr>
          <p:cNvPr id="8" name="Content Placeholder 5"/>
          <p:cNvSpPr txBox="1">
            <a:spLocks/>
          </p:cNvSpPr>
          <p:nvPr/>
        </p:nvSpPr>
        <p:spPr>
          <a:xfrm>
            <a:off x="473012" y="3495245"/>
            <a:ext cx="8077200" cy="143486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gn="just">
              <a:spcAft>
                <a:spcPts val="1800"/>
              </a:spcAft>
            </a:pPr>
            <a:r>
              <a:rPr lang="en-US" sz="2000" dirty="0" smtClean="0"/>
              <a:t>If you are providing customer service as authorized by the Affordable Care Act (ACA),  It is a mandate imposed by ACA IAW the MARS-E document suite for protecting the confidentiality, integrity and availability of PII</a:t>
            </a:r>
            <a:endParaRPr lang="en-US" sz="2000" b="1" dirty="0" smtClean="0"/>
          </a:p>
        </p:txBody>
      </p:sp>
      <p:sp>
        <p:nvSpPr>
          <p:cNvPr id="9" name="Content Placeholder 5"/>
          <p:cNvSpPr txBox="1">
            <a:spLocks/>
          </p:cNvSpPr>
          <p:nvPr/>
        </p:nvSpPr>
        <p:spPr>
          <a:xfrm>
            <a:off x="473012" y="4800600"/>
            <a:ext cx="7848600" cy="868362"/>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gn="just">
              <a:spcAft>
                <a:spcPts val="1800"/>
              </a:spcAft>
            </a:pPr>
            <a:r>
              <a:rPr lang="en-US" sz="2000" dirty="0" smtClean="0"/>
              <a:t>If you are a participant in CMS’s EHR Meaning Use Incentive payment program, it is a mandate imposed by Core Measure ‘Protect PHI’ objective </a:t>
            </a:r>
            <a:r>
              <a:rPr lang="en-US" sz="2000" b="1" dirty="0" smtClean="0"/>
              <a:t>IAW 45 CFR 164.308(a)(</a:t>
            </a:r>
            <a:r>
              <a:rPr lang="en-US" sz="2000" b="1" dirty="0"/>
              <a:t>1</a:t>
            </a:r>
            <a:r>
              <a:rPr lang="en-US" sz="2000" b="1" dirty="0" smtClean="0"/>
              <a:t>) – Conduct a thorough Risk Analysis</a:t>
            </a:r>
          </a:p>
        </p:txBody>
      </p:sp>
      <p:sp>
        <p:nvSpPr>
          <p:cNvPr id="11" name="Rectangle 10"/>
          <p:cNvSpPr/>
          <p:nvPr/>
        </p:nvSpPr>
        <p:spPr>
          <a:xfrm>
            <a:off x="1535501" y="2286000"/>
            <a:ext cx="6694099" cy="1200329"/>
          </a:xfrm>
          <a:prstGeom prst="rect">
            <a:avLst/>
          </a:prstGeom>
        </p:spPr>
        <p:txBody>
          <a:bodyPr wrap="square">
            <a:spAutoFit/>
          </a:bodyPr>
          <a:lstStyle/>
          <a:p>
            <a:pPr marL="342900" indent="-342900">
              <a:buFont typeface="Wingdings" panose="05000000000000000000" pitchFamily="2" charset="2"/>
              <a:buChar char="q"/>
            </a:pPr>
            <a:r>
              <a:rPr lang="en-US" b="1" dirty="0" smtClean="0"/>
              <a:t>HITECH Act improved privacy and security provisions of HIPAA</a:t>
            </a:r>
          </a:p>
          <a:p>
            <a:pPr marL="342900" indent="-342900">
              <a:buFont typeface="Wingdings" panose="05000000000000000000" pitchFamily="2" charset="2"/>
              <a:buChar char="q"/>
            </a:pPr>
            <a:r>
              <a:rPr lang="en-US" b="1" dirty="0" smtClean="0"/>
              <a:t>Omnibus Rule strengthen privacy and security provisions of  the HITECH Act</a:t>
            </a:r>
            <a:endParaRPr lang="en-US" b="1" dirty="0"/>
          </a:p>
        </p:txBody>
      </p:sp>
    </p:spTree>
    <p:extLst>
      <p:ext uri="{BB962C8B-B14F-4D97-AF65-F5344CB8AC3E}">
        <p14:creationId xmlns:p14="http://schemas.microsoft.com/office/powerpoint/2010/main" val="4218726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ounded Rectangle 2"/>
          <p:cNvSpPr/>
          <p:nvPr/>
        </p:nvSpPr>
        <p:spPr>
          <a:xfrm>
            <a:off x="5629275" y="4114800"/>
            <a:ext cx="1219200" cy="742264"/>
          </a:xfrm>
          <a:prstGeom prst="roundRect">
            <a:avLst/>
          </a:prstGeom>
          <a:solidFill>
            <a:srgbClr val="FFC000"/>
          </a:solidFill>
          <a:ln w="12700"/>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p:cNvCxnSpPr>
            <a:stCxn id="3" idx="3"/>
            <a:endCxn id="30" idx="1"/>
          </p:cNvCxnSpPr>
          <p:nvPr/>
        </p:nvCxnSpPr>
        <p:spPr>
          <a:xfrm>
            <a:off x="6848475" y="4485932"/>
            <a:ext cx="5847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686425" y="4210733"/>
            <a:ext cx="1104900" cy="615553"/>
          </a:xfrm>
          <a:prstGeom prst="rect">
            <a:avLst/>
          </a:prstGeom>
          <a:noFill/>
        </p:spPr>
        <p:txBody>
          <a:bodyPr wrap="square" rtlCol="0">
            <a:spAutoFit/>
          </a:bodyPr>
          <a:lstStyle/>
          <a:p>
            <a:pPr algn="ctr"/>
            <a:r>
              <a:rPr lang="en-US" dirty="0" smtClean="0"/>
              <a:t>HITECH</a:t>
            </a:r>
          </a:p>
          <a:p>
            <a:pPr algn="ctr"/>
            <a:r>
              <a:rPr lang="en-US" sz="1600" dirty="0" smtClean="0"/>
              <a:t>9/2009</a:t>
            </a:r>
            <a:endParaRPr lang="en-US" sz="1600" dirty="0"/>
          </a:p>
        </p:txBody>
      </p:sp>
      <p:sp>
        <p:nvSpPr>
          <p:cNvPr id="31" name="Rounded Rectangle 30"/>
          <p:cNvSpPr/>
          <p:nvPr/>
        </p:nvSpPr>
        <p:spPr>
          <a:xfrm>
            <a:off x="7471374" y="4114799"/>
            <a:ext cx="1219200" cy="742264"/>
          </a:xfrm>
          <a:prstGeom prst="roundRect">
            <a:avLst/>
          </a:prstGeom>
          <a:solidFill>
            <a:srgbClr val="FFC000"/>
          </a:solidFill>
          <a:ln w="12700"/>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7433274" y="4178155"/>
            <a:ext cx="1257300" cy="615553"/>
          </a:xfrm>
          <a:prstGeom prst="rect">
            <a:avLst/>
          </a:prstGeom>
          <a:noFill/>
        </p:spPr>
        <p:txBody>
          <a:bodyPr wrap="square" rtlCol="0">
            <a:spAutoFit/>
          </a:bodyPr>
          <a:lstStyle/>
          <a:p>
            <a:pPr algn="ctr"/>
            <a:r>
              <a:rPr lang="en-US" dirty="0" smtClean="0"/>
              <a:t>OMINBUS</a:t>
            </a:r>
          </a:p>
          <a:p>
            <a:pPr algn="ctr"/>
            <a:r>
              <a:rPr lang="en-US" sz="1600" dirty="0" smtClean="0"/>
              <a:t>9/2013</a:t>
            </a:r>
            <a:endParaRPr lang="en-US" sz="1600" dirty="0"/>
          </a:p>
        </p:txBody>
      </p:sp>
      <p:cxnSp>
        <p:nvCxnSpPr>
          <p:cNvPr id="23" name="Straight Arrow Connector 22"/>
          <p:cNvCxnSpPr>
            <a:endCxn id="3" idx="0"/>
          </p:cNvCxnSpPr>
          <p:nvPr/>
        </p:nvCxnSpPr>
        <p:spPr>
          <a:xfrm>
            <a:off x="6238875" y="3770761"/>
            <a:ext cx="0" cy="3440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2464368" y="1295400"/>
            <a:ext cx="4367213" cy="685800"/>
          </a:xfrm>
          <a:prstGeom prst="rect">
            <a:avLst/>
          </a:prstGeom>
          <a:ln w="12700"/>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914400" y="2362200"/>
            <a:ext cx="2286000" cy="1295400"/>
          </a:xfrm>
          <a:prstGeom prst="roundRect">
            <a:avLst/>
          </a:prstGeom>
          <a:ln w="12700"/>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4648200" y="2514600"/>
            <a:ext cx="1252537" cy="685800"/>
          </a:xfrm>
          <a:prstGeom prst="roundRect">
            <a:avLst/>
          </a:prstGeom>
          <a:solidFill>
            <a:schemeClr val="tx2">
              <a:lumMod val="20000"/>
              <a:lumOff val="8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p:cNvSpPr/>
          <p:nvPr/>
        </p:nvSpPr>
        <p:spPr>
          <a:xfrm>
            <a:off x="6845105" y="2552700"/>
            <a:ext cx="1252537" cy="685800"/>
          </a:xfrm>
          <a:prstGeom prst="roundRect">
            <a:avLst/>
          </a:prstGeom>
          <a:solidFill>
            <a:schemeClr val="tx2">
              <a:lumMod val="20000"/>
              <a:lumOff val="8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03208" y="3972266"/>
            <a:ext cx="1630392" cy="1590334"/>
          </a:xfrm>
          <a:prstGeom prst="rect">
            <a:avLst/>
          </a:prstGeom>
          <a:solidFill>
            <a:schemeClr val="tx2">
              <a:lumMod val="20000"/>
              <a:lumOff val="8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286000" y="4114799"/>
            <a:ext cx="1181100" cy="1123267"/>
          </a:xfrm>
          <a:prstGeom prst="rect">
            <a:avLst/>
          </a:prstGeom>
          <a:ln w="12700"/>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919538" y="4114800"/>
            <a:ext cx="1181100" cy="1123267"/>
          </a:xfrm>
          <a:prstGeom prst="rect">
            <a:avLst/>
          </a:prstGeom>
          <a:ln w="12700"/>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219200" y="2640568"/>
            <a:ext cx="1676400" cy="738664"/>
          </a:xfrm>
          <a:prstGeom prst="rect">
            <a:avLst/>
          </a:prstGeom>
          <a:noFill/>
        </p:spPr>
        <p:txBody>
          <a:bodyPr wrap="square" rtlCol="0">
            <a:spAutoFit/>
          </a:bodyPr>
          <a:lstStyle/>
          <a:p>
            <a:pPr algn="ctr"/>
            <a:r>
              <a:rPr lang="en-US" sz="1400" dirty="0" smtClean="0"/>
              <a:t>Administrative Simplification </a:t>
            </a:r>
          </a:p>
          <a:p>
            <a:pPr algn="ctr"/>
            <a:r>
              <a:rPr lang="en-US" sz="1400" dirty="0" smtClean="0"/>
              <a:t>(Accountability)</a:t>
            </a:r>
            <a:endParaRPr lang="en-US" sz="1400" dirty="0"/>
          </a:p>
        </p:txBody>
      </p:sp>
      <p:sp>
        <p:nvSpPr>
          <p:cNvPr id="33" name="TextBox 32"/>
          <p:cNvSpPr txBox="1"/>
          <p:nvPr/>
        </p:nvSpPr>
        <p:spPr>
          <a:xfrm>
            <a:off x="2971574" y="1381780"/>
            <a:ext cx="3352800" cy="523220"/>
          </a:xfrm>
          <a:prstGeom prst="rect">
            <a:avLst/>
          </a:prstGeom>
          <a:noFill/>
        </p:spPr>
        <p:txBody>
          <a:bodyPr wrap="square" rtlCol="0">
            <a:spAutoFit/>
          </a:bodyPr>
          <a:lstStyle/>
          <a:p>
            <a:pPr algn="ctr"/>
            <a:r>
              <a:rPr lang="en-US" sz="1400" dirty="0" smtClean="0"/>
              <a:t>Health Insurance Portability and Accountability Act (HIPAA) of 1996</a:t>
            </a:r>
            <a:endParaRPr lang="en-US" sz="1400" dirty="0"/>
          </a:p>
        </p:txBody>
      </p:sp>
      <p:sp>
        <p:nvSpPr>
          <p:cNvPr id="34" name="TextBox 33"/>
          <p:cNvSpPr txBox="1"/>
          <p:nvPr/>
        </p:nvSpPr>
        <p:spPr>
          <a:xfrm>
            <a:off x="580845" y="4370905"/>
            <a:ext cx="1447800" cy="738664"/>
          </a:xfrm>
          <a:prstGeom prst="rect">
            <a:avLst/>
          </a:prstGeom>
          <a:noFill/>
        </p:spPr>
        <p:txBody>
          <a:bodyPr wrap="square" rtlCol="0">
            <a:spAutoFit/>
          </a:bodyPr>
          <a:lstStyle/>
          <a:p>
            <a:pPr algn="ctr"/>
            <a:r>
              <a:rPr lang="en-US" sz="1400" dirty="0" smtClean="0"/>
              <a:t>Transactions, Code Sets, &amp; Identifiers</a:t>
            </a:r>
            <a:endParaRPr lang="en-US" sz="1400" dirty="0"/>
          </a:p>
        </p:txBody>
      </p:sp>
      <p:sp>
        <p:nvSpPr>
          <p:cNvPr id="35" name="TextBox 34"/>
          <p:cNvSpPr txBox="1"/>
          <p:nvPr/>
        </p:nvSpPr>
        <p:spPr>
          <a:xfrm>
            <a:off x="2428875" y="4375025"/>
            <a:ext cx="933450" cy="523220"/>
          </a:xfrm>
          <a:prstGeom prst="rect">
            <a:avLst/>
          </a:prstGeom>
          <a:noFill/>
        </p:spPr>
        <p:txBody>
          <a:bodyPr wrap="square" rtlCol="0">
            <a:spAutoFit/>
          </a:bodyPr>
          <a:lstStyle/>
          <a:p>
            <a:pPr algn="ctr"/>
            <a:r>
              <a:rPr lang="en-US" sz="1400" dirty="0" smtClean="0"/>
              <a:t>Privacy Rule</a:t>
            </a:r>
            <a:endParaRPr lang="en-US" sz="1400" dirty="0"/>
          </a:p>
        </p:txBody>
      </p:sp>
      <p:sp>
        <p:nvSpPr>
          <p:cNvPr id="36" name="TextBox 35"/>
          <p:cNvSpPr txBox="1"/>
          <p:nvPr/>
        </p:nvSpPr>
        <p:spPr>
          <a:xfrm>
            <a:off x="4043363" y="4383651"/>
            <a:ext cx="933450" cy="523220"/>
          </a:xfrm>
          <a:prstGeom prst="rect">
            <a:avLst/>
          </a:prstGeom>
          <a:noFill/>
        </p:spPr>
        <p:txBody>
          <a:bodyPr wrap="square" rtlCol="0">
            <a:spAutoFit/>
          </a:bodyPr>
          <a:lstStyle/>
          <a:p>
            <a:pPr algn="ctr"/>
            <a:r>
              <a:rPr lang="en-US" sz="1400" dirty="0" smtClean="0"/>
              <a:t>Security Rule</a:t>
            </a:r>
            <a:endParaRPr lang="en-US" sz="1400" dirty="0"/>
          </a:p>
        </p:txBody>
      </p:sp>
      <p:cxnSp>
        <p:nvCxnSpPr>
          <p:cNvPr id="16" name="Straight Arrow Connector 15"/>
          <p:cNvCxnSpPr>
            <a:endCxn id="5" idx="0"/>
          </p:cNvCxnSpPr>
          <p:nvPr/>
        </p:nvCxnSpPr>
        <p:spPr>
          <a:xfrm>
            <a:off x="5274469" y="2153728"/>
            <a:ext cx="0" cy="3608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057400" y="2153728"/>
            <a:ext cx="54139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48" name="Straight Connector 2047"/>
          <p:cNvCxnSpPr>
            <a:endCxn id="2" idx="2"/>
          </p:cNvCxnSpPr>
          <p:nvPr/>
        </p:nvCxnSpPr>
        <p:spPr>
          <a:xfrm flipH="1" flipV="1">
            <a:off x="4647975" y="1981200"/>
            <a:ext cx="225" cy="1725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5" name="Straight Arrow Connector 2054"/>
          <p:cNvCxnSpPr>
            <a:endCxn id="4" idx="0"/>
          </p:cNvCxnSpPr>
          <p:nvPr/>
        </p:nvCxnSpPr>
        <p:spPr>
          <a:xfrm>
            <a:off x="2057400" y="2153728"/>
            <a:ext cx="0" cy="2084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62" name="Straight Arrow Connector 2061"/>
          <p:cNvCxnSpPr>
            <a:endCxn id="6" idx="0"/>
          </p:cNvCxnSpPr>
          <p:nvPr/>
        </p:nvCxnSpPr>
        <p:spPr>
          <a:xfrm>
            <a:off x="1304745" y="3771900"/>
            <a:ext cx="13659" cy="2003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1304745" y="3771900"/>
            <a:ext cx="49341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endCxn id="4" idx="2"/>
          </p:cNvCxnSpPr>
          <p:nvPr/>
        </p:nvCxnSpPr>
        <p:spPr>
          <a:xfrm flipV="1">
            <a:off x="2057400" y="3657600"/>
            <a:ext cx="0" cy="11316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endCxn id="29" idx="0"/>
          </p:cNvCxnSpPr>
          <p:nvPr/>
        </p:nvCxnSpPr>
        <p:spPr>
          <a:xfrm>
            <a:off x="2876550" y="3770761"/>
            <a:ext cx="0" cy="3440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4510088" y="3770761"/>
            <a:ext cx="0" cy="3244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4632071" y="2595518"/>
            <a:ext cx="1328737" cy="600164"/>
          </a:xfrm>
          <a:prstGeom prst="rect">
            <a:avLst/>
          </a:prstGeom>
          <a:noFill/>
        </p:spPr>
        <p:txBody>
          <a:bodyPr wrap="square" rtlCol="0">
            <a:spAutoFit/>
          </a:bodyPr>
          <a:lstStyle/>
          <a:p>
            <a:pPr algn="ctr"/>
            <a:r>
              <a:rPr lang="en-US" sz="1100" dirty="0" smtClean="0"/>
              <a:t>Insurance Reform</a:t>
            </a:r>
          </a:p>
          <a:p>
            <a:pPr algn="ctr"/>
            <a:r>
              <a:rPr lang="en-US" sz="1100" dirty="0" smtClean="0"/>
              <a:t>(Accountability)</a:t>
            </a:r>
            <a:endParaRPr lang="en-US" sz="1100" dirty="0"/>
          </a:p>
        </p:txBody>
      </p:sp>
      <p:sp>
        <p:nvSpPr>
          <p:cNvPr id="81" name="TextBox 80"/>
          <p:cNvSpPr txBox="1"/>
          <p:nvPr/>
        </p:nvSpPr>
        <p:spPr>
          <a:xfrm>
            <a:off x="6828911" y="2595518"/>
            <a:ext cx="1328737" cy="600164"/>
          </a:xfrm>
          <a:prstGeom prst="rect">
            <a:avLst/>
          </a:prstGeom>
          <a:noFill/>
        </p:spPr>
        <p:txBody>
          <a:bodyPr wrap="square" rtlCol="0">
            <a:spAutoFit/>
          </a:bodyPr>
          <a:lstStyle/>
          <a:p>
            <a:pPr algn="ctr"/>
            <a:r>
              <a:rPr lang="en-US" sz="1100" dirty="0" smtClean="0"/>
              <a:t>Fraud and Abuse</a:t>
            </a:r>
          </a:p>
          <a:p>
            <a:pPr algn="ctr"/>
            <a:r>
              <a:rPr lang="en-US" sz="1100" dirty="0" smtClean="0"/>
              <a:t>(Accountability)</a:t>
            </a:r>
            <a:endParaRPr lang="en-US" sz="1100" dirty="0"/>
          </a:p>
        </p:txBody>
      </p:sp>
      <p:cxnSp>
        <p:nvCxnSpPr>
          <p:cNvPr id="82" name="Straight Arrow Connector 81"/>
          <p:cNvCxnSpPr>
            <a:endCxn id="27" idx="0"/>
          </p:cNvCxnSpPr>
          <p:nvPr/>
        </p:nvCxnSpPr>
        <p:spPr>
          <a:xfrm>
            <a:off x="7471373" y="2153728"/>
            <a:ext cx="1" cy="3989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Title 1"/>
          <p:cNvSpPr txBox="1">
            <a:spLocks/>
          </p:cNvSpPr>
          <p:nvPr/>
        </p:nvSpPr>
        <p:spPr>
          <a:xfrm>
            <a:off x="1654857" y="465826"/>
            <a:ext cx="5838422" cy="5334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700" dirty="0" smtClean="0"/>
              <a:t>HIPAA Protocol and Structure</a:t>
            </a:r>
            <a:endParaRPr lang="en-US" sz="2700" baseline="30000" dirty="0"/>
          </a:p>
        </p:txBody>
      </p:sp>
    </p:spTree>
    <p:extLst>
      <p:ext uri="{BB962C8B-B14F-4D97-AF65-F5344CB8AC3E}">
        <p14:creationId xmlns:p14="http://schemas.microsoft.com/office/powerpoint/2010/main" val="13755233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94578" y="457200"/>
            <a:ext cx="8077200" cy="5334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smtClean="0"/>
              <a:t>The Real Reason for Privacy and Security</a:t>
            </a:r>
            <a:endParaRPr lang="en-US" sz="3000" baseline="30000" dirty="0"/>
          </a:p>
        </p:txBody>
      </p:sp>
      <p:sp>
        <p:nvSpPr>
          <p:cNvPr id="7" name="Content Placeholder 5"/>
          <p:cNvSpPr txBox="1">
            <a:spLocks/>
          </p:cNvSpPr>
          <p:nvPr/>
        </p:nvSpPr>
        <p:spPr>
          <a:xfrm>
            <a:off x="1009648" y="1380220"/>
            <a:ext cx="7294355" cy="855453"/>
          </a:xfrm>
          <a:prstGeom prst="rect">
            <a:avLst/>
          </a:prstGeom>
        </p:spPr>
        <p:txBody>
          <a:bodyPr vert="horz">
            <a:normAutofit fontScale="92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just">
              <a:spcAft>
                <a:spcPts val="1800"/>
              </a:spcAft>
              <a:buNone/>
            </a:pPr>
            <a:r>
              <a:rPr lang="en-US" sz="2000" b="1" dirty="0" smtClean="0"/>
              <a:t>Many industry experts believe that the mandates merely establishes the “HOW TO”, but the real reason Privacy and Security Matters is:</a:t>
            </a:r>
          </a:p>
        </p:txBody>
      </p:sp>
      <p:sp>
        <p:nvSpPr>
          <p:cNvPr id="8" name="Content Placeholder 5"/>
          <p:cNvSpPr txBox="1">
            <a:spLocks/>
          </p:cNvSpPr>
          <p:nvPr/>
        </p:nvSpPr>
        <p:spPr>
          <a:xfrm>
            <a:off x="618226" y="3733800"/>
            <a:ext cx="8077200" cy="19050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just">
              <a:spcAft>
                <a:spcPts val="1800"/>
              </a:spcAft>
              <a:buNone/>
            </a:pPr>
            <a:r>
              <a:rPr lang="en-US" sz="2200" b="1" dirty="0" smtClean="0"/>
              <a:t>In the real world, patients/people have a problem sharing sensitive information (specifically health related) if they can’t trust that it will be kept private and secure.  When they trust you, </a:t>
            </a:r>
            <a:r>
              <a:rPr lang="en-US" sz="2200" b="1" i="1" u="sng" dirty="0" smtClean="0"/>
              <a:t>they</a:t>
            </a:r>
            <a:r>
              <a:rPr lang="en-US" sz="2200" b="1" dirty="0" smtClean="0"/>
              <a:t> are more willing to discuss ‘accurate’ symptoms, conditions, and past and present risk behaviors!</a:t>
            </a:r>
          </a:p>
        </p:txBody>
      </p:sp>
      <p:sp>
        <p:nvSpPr>
          <p:cNvPr id="11" name="Rectangle 10"/>
          <p:cNvSpPr/>
          <p:nvPr/>
        </p:nvSpPr>
        <p:spPr>
          <a:xfrm>
            <a:off x="1109212" y="2376931"/>
            <a:ext cx="7086599" cy="1077218"/>
          </a:xfrm>
          <a:prstGeom prst="rect">
            <a:avLst/>
          </a:prstGeom>
        </p:spPr>
        <p:txBody>
          <a:bodyPr wrap="square">
            <a:spAutoFit/>
          </a:bodyPr>
          <a:lstStyle/>
          <a:p>
            <a:pPr algn="ctr"/>
            <a:r>
              <a:rPr lang="en-US" sz="3200" b="1" dirty="0" smtClean="0"/>
              <a:t>TRUST by </a:t>
            </a:r>
            <a:r>
              <a:rPr lang="en-US" sz="3200" b="1" u="sng" dirty="0" smtClean="0"/>
              <a:t>patients</a:t>
            </a:r>
            <a:r>
              <a:rPr lang="en-US" sz="3200" b="1" dirty="0" smtClean="0"/>
              <a:t> that YOU </a:t>
            </a:r>
          </a:p>
          <a:p>
            <a:pPr algn="ctr"/>
            <a:r>
              <a:rPr lang="en-US" sz="3200" b="1" dirty="0" smtClean="0"/>
              <a:t>will honor their Confidentiality!</a:t>
            </a:r>
            <a:endParaRPr lang="en-US" sz="3200" b="1" dirty="0"/>
          </a:p>
        </p:txBody>
      </p:sp>
    </p:spTree>
    <p:extLst>
      <p:ext uri="{BB962C8B-B14F-4D97-AF65-F5344CB8AC3E}">
        <p14:creationId xmlns:p14="http://schemas.microsoft.com/office/powerpoint/2010/main" val="6915790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95400"/>
            <a:ext cx="8153400" cy="5416868"/>
          </a:xfrm>
          <a:prstGeom prst="rect">
            <a:avLst/>
          </a:prstGeom>
        </p:spPr>
        <p:txBody>
          <a:bodyPr wrap="square">
            <a:spAutoFit/>
          </a:bodyPr>
          <a:lstStyle/>
          <a:p>
            <a:pPr marL="342900" indent="-342900">
              <a:buFont typeface="Wingdings" panose="05000000000000000000" pitchFamily="2" charset="2"/>
              <a:buChar char="q"/>
            </a:pPr>
            <a:r>
              <a:rPr lang="en-US" sz="2800" b="1" i="1" dirty="0" smtClean="0"/>
              <a:t>Challenges, old and new!</a:t>
            </a:r>
          </a:p>
          <a:p>
            <a:pPr marL="800100" lvl="1" indent="-342900">
              <a:buFont typeface="Arial" panose="020B0604020202020204" pitchFamily="34" charset="0"/>
              <a:buChar char="•"/>
            </a:pPr>
            <a:r>
              <a:rPr lang="en-US" sz="2400" dirty="0" smtClean="0"/>
              <a:t>More policing, more penalties, more regulations – initiated by HIPAA, HITECT, Omnibus-</a:t>
            </a:r>
            <a:r>
              <a:rPr lang="en-US" sz="2400" b="1" i="1" dirty="0" smtClean="0"/>
              <a:t>regulated by OCR</a:t>
            </a:r>
          </a:p>
          <a:p>
            <a:pPr marL="800100" lvl="1" indent="-342900">
              <a:buFont typeface="Arial" panose="020B0604020202020204" pitchFamily="34" charset="0"/>
              <a:buChar char="•"/>
            </a:pPr>
            <a:r>
              <a:rPr lang="en-US" sz="2400" dirty="0" smtClean="0"/>
              <a:t>Increase reporting of healthcare data breaches – </a:t>
            </a:r>
            <a:r>
              <a:rPr lang="en-US" sz="2400" b="1" i="1" dirty="0" smtClean="0"/>
              <a:t>w/significant fines</a:t>
            </a:r>
          </a:p>
          <a:p>
            <a:pPr marL="800100" lvl="1" indent="-342900">
              <a:buFont typeface="Arial" panose="020B0604020202020204" pitchFamily="34" charset="0"/>
              <a:buChar char="•"/>
            </a:pPr>
            <a:r>
              <a:rPr lang="en-US" sz="2400" dirty="0" smtClean="0"/>
              <a:t>Tremendous use of mobile devices in healthcare – new technologies, new threats &gt;</a:t>
            </a:r>
            <a:r>
              <a:rPr lang="en-US" sz="2400" b="1" i="1" dirty="0" smtClean="0"/>
              <a:t>produces new risks</a:t>
            </a:r>
          </a:p>
          <a:p>
            <a:pPr marL="800100" lvl="1" indent="-342900">
              <a:buFont typeface="Arial" panose="020B0604020202020204" pitchFamily="34" charset="0"/>
              <a:buChar char="•"/>
            </a:pPr>
            <a:r>
              <a:rPr lang="en-US" sz="2400" dirty="0" smtClean="0"/>
              <a:t>Greater patient awareness – outreach for patient engagement and satisfaction</a:t>
            </a:r>
          </a:p>
          <a:p>
            <a:pPr marL="800100" lvl="1" indent="-342900">
              <a:buFont typeface="Arial" panose="020B0604020202020204" pitchFamily="34" charset="0"/>
              <a:buChar char="•"/>
            </a:pPr>
            <a:r>
              <a:rPr lang="en-US" sz="2400" dirty="0" smtClean="0"/>
              <a:t>More data, more sharing of data, more data on the cloud – </a:t>
            </a:r>
            <a:r>
              <a:rPr lang="en-US" sz="2400" b="1" i="1" dirty="0" smtClean="0"/>
              <a:t>changing IT model</a:t>
            </a:r>
          </a:p>
          <a:p>
            <a:pPr marL="800100" lvl="1" indent="-342900">
              <a:buFont typeface="Arial" panose="020B0604020202020204" pitchFamily="34" charset="0"/>
              <a:buChar char="•"/>
            </a:pPr>
            <a:endParaRPr lang="en-US" sz="2600" b="1" dirty="0" smtClean="0"/>
          </a:p>
        </p:txBody>
      </p:sp>
      <p:sp>
        <p:nvSpPr>
          <p:cNvPr id="3" name="Title 1"/>
          <p:cNvSpPr txBox="1">
            <a:spLocks/>
          </p:cNvSpPr>
          <p:nvPr/>
        </p:nvSpPr>
        <p:spPr>
          <a:xfrm>
            <a:off x="457200" y="425571"/>
            <a:ext cx="7772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Addressing Overall Security Compliance</a:t>
            </a:r>
            <a:endParaRPr lang="en-US" sz="3000" dirty="0"/>
          </a:p>
        </p:txBody>
      </p:sp>
    </p:spTree>
    <p:extLst>
      <p:ext uri="{BB962C8B-B14F-4D97-AF65-F5344CB8AC3E}">
        <p14:creationId xmlns:p14="http://schemas.microsoft.com/office/powerpoint/2010/main" val="11090450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Information Security Model</a:t>
            </a:r>
            <a:endParaRPr lang="en-US" sz="3600" dirty="0"/>
          </a:p>
        </p:txBody>
      </p:sp>
      <p:grpSp>
        <p:nvGrpSpPr>
          <p:cNvPr id="11" name="Group 10"/>
          <p:cNvGrpSpPr/>
          <p:nvPr/>
        </p:nvGrpSpPr>
        <p:grpSpPr>
          <a:xfrm>
            <a:off x="457200" y="1636139"/>
            <a:ext cx="3048000" cy="3505200"/>
            <a:chOff x="462951" y="1676400"/>
            <a:chExt cx="3048000" cy="3505200"/>
          </a:xfrm>
          <a:effectLst>
            <a:glow rad="228600">
              <a:schemeClr val="accent5">
                <a:satMod val="175000"/>
                <a:alpha val="40000"/>
              </a:schemeClr>
            </a:glow>
            <a:outerShdw blurRad="152400" dist="317500" dir="5400000" sx="90000" sy="-19000" rotWithShape="0">
              <a:prstClr val="black">
                <a:alpha val="15000"/>
              </a:prstClr>
            </a:outerShdw>
          </a:effectLst>
          <a:scene3d>
            <a:camera prst="isometricOffAxis1Right"/>
            <a:lightRig rig="threePt" dir="t"/>
          </a:scene3d>
        </p:grpSpPr>
        <p:grpSp>
          <p:nvGrpSpPr>
            <p:cNvPr id="6" name="Group 5"/>
            <p:cNvGrpSpPr/>
            <p:nvPr/>
          </p:nvGrpSpPr>
          <p:grpSpPr>
            <a:xfrm>
              <a:off x="462951" y="1676400"/>
              <a:ext cx="3048000" cy="3505200"/>
              <a:chOff x="228600" y="1828800"/>
              <a:chExt cx="3048000" cy="2133602"/>
            </a:xfrm>
            <a:solidFill>
              <a:schemeClr val="accent1">
                <a:lumMod val="20000"/>
                <a:lumOff val="80000"/>
              </a:schemeClr>
            </a:solidFill>
          </p:grpSpPr>
          <p:sp>
            <p:nvSpPr>
              <p:cNvPr id="4" name="Isosceles Triangle 3"/>
              <p:cNvSpPr/>
              <p:nvPr/>
            </p:nvSpPr>
            <p:spPr>
              <a:xfrm>
                <a:off x="990600" y="1828800"/>
                <a:ext cx="1524000" cy="1066800"/>
              </a:xfrm>
              <a:prstGeom prst="triangl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p:cNvSpPr/>
              <p:nvPr/>
            </p:nvSpPr>
            <p:spPr>
              <a:xfrm rot="10800000">
                <a:off x="990600" y="2895601"/>
                <a:ext cx="1524000" cy="1066800"/>
              </a:xfrm>
              <a:prstGeom prst="triangl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p:cNvSpPr/>
              <p:nvPr/>
            </p:nvSpPr>
            <p:spPr>
              <a:xfrm>
                <a:off x="1752600" y="2895600"/>
                <a:ext cx="1524000" cy="1066800"/>
              </a:xfrm>
              <a:prstGeom prst="triangl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a:off x="228600" y="2895602"/>
                <a:ext cx="1524000" cy="1066800"/>
              </a:xfrm>
              <a:prstGeom prst="triangl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p:cNvSpPr txBox="1"/>
            <p:nvPr/>
          </p:nvSpPr>
          <p:spPr>
            <a:xfrm>
              <a:off x="1562100" y="2908053"/>
              <a:ext cx="914400" cy="276999"/>
            </a:xfrm>
            <a:prstGeom prst="rect">
              <a:avLst/>
            </a:prstGeom>
            <a:noFill/>
          </p:spPr>
          <p:txBody>
            <a:bodyPr wrap="square" rtlCol="0">
              <a:spAutoFit/>
            </a:bodyPr>
            <a:lstStyle/>
            <a:p>
              <a:r>
                <a:rPr lang="en-US" sz="1200" dirty="0"/>
                <a:t>I</a:t>
              </a:r>
              <a:r>
                <a:rPr lang="en-US" sz="1200" dirty="0" smtClean="0"/>
                <a:t>ntegrity</a:t>
              </a:r>
              <a:endParaRPr lang="en-US" sz="1200" dirty="0"/>
            </a:p>
          </p:txBody>
        </p:sp>
        <p:sp>
          <p:nvSpPr>
            <p:cNvPr id="12" name="TextBox 11"/>
            <p:cNvSpPr txBox="1"/>
            <p:nvPr/>
          </p:nvSpPr>
          <p:spPr>
            <a:xfrm>
              <a:off x="1447800" y="3616716"/>
              <a:ext cx="1143000" cy="276999"/>
            </a:xfrm>
            <a:prstGeom prst="rect">
              <a:avLst/>
            </a:prstGeom>
            <a:noFill/>
          </p:spPr>
          <p:txBody>
            <a:bodyPr wrap="square" rtlCol="0">
              <a:spAutoFit/>
            </a:bodyPr>
            <a:lstStyle/>
            <a:p>
              <a:r>
                <a:rPr lang="en-US" sz="1200" dirty="0" smtClean="0"/>
                <a:t>Information</a:t>
              </a:r>
              <a:endParaRPr lang="en-US" sz="1200" dirty="0"/>
            </a:p>
          </p:txBody>
        </p:sp>
        <p:sp>
          <p:nvSpPr>
            <p:cNvPr id="13" name="TextBox 12"/>
            <p:cNvSpPr txBox="1"/>
            <p:nvPr/>
          </p:nvSpPr>
          <p:spPr>
            <a:xfrm>
              <a:off x="2286000" y="4851398"/>
              <a:ext cx="1137249" cy="276999"/>
            </a:xfrm>
            <a:prstGeom prst="rect">
              <a:avLst/>
            </a:prstGeom>
            <a:noFill/>
          </p:spPr>
          <p:txBody>
            <a:bodyPr wrap="square" rtlCol="0">
              <a:spAutoFit/>
            </a:bodyPr>
            <a:lstStyle/>
            <a:p>
              <a:r>
                <a:rPr lang="en-US" sz="1200" dirty="0" smtClean="0"/>
                <a:t>Availability</a:t>
              </a:r>
              <a:endParaRPr lang="en-US" sz="1200" dirty="0"/>
            </a:p>
          </p:txBody>
        </p:sp>
        <p:sp>
          <p:nvSpPr>
            <p:cNvPr id="14" name="TextBox 13"/>
            <p:cNvSpPr txBox="1"/>
            <p:nvPr/>
          </p:nvSpPr>
          <p:spPr>
            <a:xfrm>
              <a:off x="685799" y="4851399"/>
              <a:ext cx="1301151" cy="276999"/>
            </a:xfrm>
            <a:prstGeom prst="rect">
              <a:avLst/>
            </a:prstGeom>
            <a:noFill/>
          </p:spPr>
          <p:txBody>
            <a:bodyPr wrap="square" rtlCol="0">
              <a:spAutoFit/>
            </a:bodyPr>
            <a:lstStyle/>
            <a:p>
              <a:r>
                <a:rPr lang="en-US" sz="1200" dirty="0" smtClean="0"/>
                <a:t>Confidentiality</a:t>
              </a:r>
              <a:endParaRPr lang="en-US" sz="1200" dirty="0"/>
            </a:p>
          </p:txBody>
        </p:sp>
      </p:grpSp>
      <p:sp>
        <p:nvSpPr>
          <p:cNvPr id="16" name="Rectangle 15"/>
          <p:cNvSpPr/>
          <p:nvPr/>
        </p:nvSpPr>
        <p:spPr>
          <a:xfrm>
            <a:off x="3417498" y="1337081"/>
            <a:ext cx="5301652" cy="5262979"/>
          </a:xfrm>
          <a:prstGeom prst="rect">
            <a:avLst/>
          </a:prstGeom>
        </p:spPr>
        <p:txBody>
          <a:bodyPr wrap="square">
            <a:spAutoFit/>
          </a:bodyPr>
          <a:lstStyle/>
          <a:p>
            <a:pPr marL="342900" indent="-342900">
              <a:buFont typeface="Wingdings" panose="05000000000000000000" pitchFamily="2" charset="2"/>
              <a:buChar char="q"/>
            </a:pPr>
            <a:r>
              <a:rPr lang="en-US" sz="2400" b="1" dirty="0" smtClean="0"/>
              <a:t>Confidential – </a:t>
            </a:r>
            <a:r>
              <a:rPr lang="en-US" sz="2400" dirty="0" smtClean="0"/>
              <a:t>Limiting information access and disclosure to authorized users (the right people)</a:t>
            </a:r>
          </a:p>
          <a:p>
            <a:pPr marL="342900" indent="-342900">
              <a:buFont typeface="Wingdings" panose="05000000000000000000" pitchFamily="2" charset="2"/>
              <a:buChar char="q"/>
            </a:pPr>
            <a:endParaRPr lang="en-US" sz="2400" b="1" dirty="0" smtClean="0"/>
          </a:p>
          <a:p>
            <a:pPr marL="342900" indent="-342900">
              <a:buFont typeface="Wingdings" panose="05000000000000000000" pitchFamily="2" charset="2"/>
              <a:buChar char="q"/>
            </a:pPr>
            <a:r>
              <a:rPr lang="en-US" sz="2400" b="1" dirty="0" smtClean="0"/>
              <a:t>Integrity – </a:t>
            </a:r>
            <a:r>
              <a:rPr lang="en-US" sz="2400" dirty="0" smtClean="0"/>
              <a:t>Trustworthiness of information resources (no inappropriate changes</a:t>
            </a:r>
          </a:p>
          <a:p>
            <a:pPr marL="342900" indent="-342900">
              <a:buFont typeface="Wingdings" panose="05000000000000000000" pitchFamily="2" charset="2"/>
              <a:buChar char="q"/>
            </a:pPr>
            <a:endParaRPr lang="en-US" sz="2400" b="1" dirty="0" smtClean="0"/>
          </a:p>
          <a:p>
            <a:pPr marL="342900" indent="-342900">
              <a:buFont typeface="Wingdings" panose="05000000000000000000" pitchFamily="2" charset="2"/>
              <a:buChar char="q"/>
            </a:pPr>
            <a:r>
              <a:rPr lang="en-US" sz="2400" b="1" dirty="0" smtClean="0"/>
              <a:t>Availability – </a:t>
            </a:r>
            <a:r>
              <a:rPr lang="en-US" sz="2400" dirty="0" smtClean="0"/>
              <a:t>Availability of information resources (at the right time)</a:t>
            </a:r>
          </a:p>
          <a:p>
            <a:pPr marL="342900" indent="-342900">
              <a:buFont typeface="Wingdings" panose="05000000000000000000" pitchFamily="2" charset="2"/>
              <a:buChar char="q"/>
            </a:pPr>
            <a:endParaRPr lang="en-US" sz="2400" b="1" dirty="0" smtClean="0"/>
          </a:p>
          <a:p>
            <a:pPr marL="342900" indent="-342900">
              <a:buFont typeface="Wingdings" panose="05000000000000000000" pitchFamily="2" charset="2"/>
              <a:buChar char="q"/>
            </a:pPr>
            <a:endParaRPr lang="en-US" sz="2400" dirty="0" smtClean="0"/>
          </a:p>
        </p:txBody>
      </p:sp>
    </p:spTree>
    <p:extLst>
      <p:ext uri="{BB962C8B-B14F-4D97-AF65-F5344CB8AC3E}">
        <p14:creationId xmlns:p14="http://schemas.microsoft.com/office/powerpoint/2010/main" val="5120703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533400" y="1121436"/>
            <a:ext cx="8001000" cy="3809999"/>
          </a:xfrm>
        </p:spPr>
        <p:txBody>
          <a:bodyPr>
            <a:normAutofit/>
          </a:bodyPr>
          <a:lstStyle/>
          <a:p>
            <a:pPr marL="109728" indent="0">
              <a:spcAft>
                <a:spcPts val="1800"/>
              </a:spcAft>
              <a:buNone/>
            </a:pPr>
            <a:r>
              <a:rPr lang="en-US" sz="2300" b="1" dirty="0" smtClean="0"/>
              <a:t>In order to participate in the Meaningful Use EHR incentive payment program, which requires that we electronically share medical records with other providers and registries, I need a fully operational electronic medical records (EMR) technology.  </a:t>
            </a:r>
          </a:p>
          <a:p>
            <a:pPr lvl="3">
              <a:spcAft>
                <a:spcPts val="1800"/>
              </a:spcAft>
              <a:buClrTx/>
              <a:buFont typeface="Courier New" panose="02070309020205020404" pitchFamily="49" charset="0"/>
              <a:buChar char="o"/>
            </a:pPr>
            <a:r>
              <a:rPr lang="en-US" sz="2800" b="1" dirty="0" smtClean="0"/>
              <a:t>True</a:t>
            </a:r>
          </a:p>
          <a:p>
            <a:pPr lvl="3">
              <a:spcAft>
                <a:spcPts val="1800"/>
              </a:spcAft>
              <a:buClrTx/>
              <a:buFont typeface="Courier New" panose="02070309020205020404" pitchFamily="49" charset="0"/>
              <a:buChar char="o"/>
            </a:pPr>
            <a:r>
              <a:rPr lang="en-US" sz="2800" b="1" dirty="0" smtClean="0"/>
              <a:t>False</a:t>
            </a:r>
          </a:p>
        </p:txBody>
      </p:sp>
      <p:grpSp>
        <p:nvGrpSpPr>
          <p:cNvPr id="3" name="Group 2"/>
          <p:cNvGrpSpPr/>
          <p:nvPr/>
        </p:nvGrpSpPr>
        <p:grpSpPr>
          <a:xfrm>
            <a:off x="1259457" y="3985782"/>
            <a:ext cx="7239000" cy="2117170"/>
            <a:chOff x="1295400" y="4390846"/>
            <a:chExt cx="7239000" cy="2117170"/>
          </a:xfrm>
        </p:grpSpPr>
        <p:sp>
          <p:nvSpPr>
            <p:cNvPr id="4" name="TextBox 3"/>
            <p:cNvSpPr txBox="1"/>
            <p:nvPr/>
          </p:nvSpPr>
          <p:spPr>
            <a:xfrm>
              <a:off x="1295400" y="4876800"/>
              <a:ext cx="7239000" cy="1631216"/>
            </a:xfrm>
            <a:prstGeom prst="rect">
              <a:avLst/>
            </a:prstGeom>
            <a:noFill/>
          </p:spPr>
          <p:txBody>
            <a:bodyPr wrap="square" rtlCol="0">
              <a:spAutoFit/>
            </a:bodyPr>
            <a:lstStyle/>
            <a:p>
              <a:r>
                <a:rPr lang="en-US" sz="2000" b="1" dirty="0" smtClean="0">
                  <a:latin typeface="Arial" panose="020B0604020202020204" pitchFamily="34" charset="0"/>
                  <a:cs typeface="Arial" panose="020B0604020202020204" pitchFamily="34" charset="0"/>
                </a:rPr>
                <a:t>False – EMR systems typically are used to collect patient information locally to ones practice.  Electronic Health Records (EHR) systems are basically EMRs with the ability to electronically exchange information external to ones practice!</a:t>
              </a:r>
              <a:endParaRPr lang="en-US" sz="2000" b="1" dirty="0">
                <a:latin typeface="Arial" panose="020B0604020202020204" pitchFamily="34" charset="0"/>
                <a:cs typeface="Arial" panose="020B0604020202020204" pitchFamily="34" charset="0"/>
              </a:endParaRPr>
            </a:p>
          </p:txBody>
        </p:sp>
        <p:sp>
          <p:nvSpPr>
            <p:cNvPr id="2" name="TextBox 1"/>
            <p:cNvSpPr txBox="1"/>
            <p:nvPr/>
          </p:nvSpPr>
          <p:spPr>
            <a:xfrm>
              <a:off x="1506746" y="4390846"/>
              <a:ext cx="304800" cy="369332"/>
            </a:xfrm>
            <a:prstGeom prst="rect">
              <a:avLst/>
            </a:prstGeom>
            <a:noFill/>
          </p:spPr>
          <p:txBody>
            <a:bodyPr wrap="square" rtlCol="0">
              <a:spAutoFit/>
            </a:bodyPr>
            <a:lstStyle/>
            <a:p>
              <a:r>
                <a:rPr lang="en-US" dirty="0" smtClean="0">
                  <a:solidFill>
                    <a:srgbClr val="FF0000"/>
                  </a:solidFill>
                </a:rPr>
                <a:t>X</a:t>
              </a:r>
              <a:endParaRPr lang="en-US" dirty="0">
                <a:solidFill>
                  <a:srgbClr val="FF0000"/>
                </a:solidFill>
              </a:endParaRPr>
            </a:p>
          </p:txBody>
        </p:sp>
      </p:grpSp>
    </p:spTree>
    <p:extLst>
      <p:ext uri="{BB962C8B-B14F-4D97-AF65-F5344CB8AC3E}">
        <p14:creationId xmlns:p14="http://schemas.microsoft.com/office/powerpoint/2010/main" val="6389174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497457" y="1371600"/>
            <a:ext cx="8001000" cy="3809999"/>
          </a:xfrm>
        </p:spPr>
        <p:txBody>
          <a:bodyPr>
            <a:normAutofit/>
          </a:bodyPr>
          <a:lstStyle/>
          <a:p>
            <a:pPr marL="109728" indent="0">
              <a:spcAft>
                <a:spcPts val="1800"/>
              </a:spcAft>
              <a:buNone/>
            </a:pPr>
            <a:r>
              <a:rPr lang="en-US" sz="2400" b="1" dirty="0" smtClean="0"/>
              <a:t>A Risk </a:t>
            </a:r>
            <a:r>
              <a:rPr lang="en-US" sz="2400" b="1" dirty="0"/>
              <a:t>is the potential impact that a </a:t>
            </a:r>
            <a:r>
              <a:rPr lang="en-US" sz="2400" b="1" dirty="0" smtClean="0"/>
              <a:t>“Vulnerability” </a:t>
            </a:r>
            <a:r>
              <a:rPr lang="en-US" sz="2400" b="1" dirty="0"/>
              <a:t>can have on the confidentiality, integrity, and availability on ePHI by exploiting a </a:t>
            </a:r>
            <a:r>
              <a:rPr lang="en-US" sz="2400" b="1" dirty="0" smtClean="0"/>
              <a:t>“Threat” </a:t>
            </a:r>
            <a:r>
              <a:rPr lang="en-US" sz="2300" b="1" dirty="0" smtClean="0"/>
              <a:t>  </a:t>
            </a:r>
          </a:p>
          <a:p>
            <a:pPr lvl="3">
              <a:spcAft>
                <a:spcPts val="1800"/>
              </a:spcAft>
              <a:buClrTx/>
              <a:buFont typeface="Wingdings" panose="05000000000000000000" pitchFamily="2" charset="2"/>
              <a:buChar char="q"/>
            </a:pPr>
            <a:r>
              <a:rPr lang="en-US" sz="2800" b="1" dirty="0" smtClean="0"/>
              <a:t>True</a:t>
            </a:r>
          </a:p>
          <a:p>
            <a:pPr lvl="3">
              <a:spcAft>
                <a:spcPts val="1800"/>
              </a:spcAft>
              <a:buClrTx/>
              <a:buFont typeface="Wingdings" panose="05000000000000000000" pitchFamily="2" charset="2"/>
              <a:buChar char="q"/>
            </a:pPr>
            <a:r>
              <a:rPr lang="en-US" sz="2800" b="1" dirty="0" smtClean="0"/>
              <a:t>False</a:t>
            </a:r>
          </a:p>
        </p:txBody>
      </p:sp>
      <p:grpSp>
        <p:nvGrpSpPr>
          <p:cNvPr id="3" name="Group 2"/>
          <p:cNvGrpSpPr/>
          <p:nvPr/>
        </p:nvGrpSpPr>
        <p:grpSpPr>
          <a:xfrm>
            <a:off x="1259457" y="3507828"/>
            <a:ext cx="7239000" cy="2774564"/>
            <a:chOff x="1295400" y="4390846"/>
            <a:chExt cx="7239000" cy="2774564"/>
          </a:xfrm>
        </p:grpSpPr>
        <p:sp>
          <p:nvSpPr>
            <p:cNvPr id="4" name="TextBox 3"/>
            <p:cNvSpPr txBox="1"/>
            <p:nvPr/>
          </p:nvSpPr>
          <p:spPr>
            <a:xfrm>
              <a:off x="1295400" y="5226418"/>
              <a:ext cx="7239000" cy="1938992"/>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False –  A </a:t>
              </a:r>
              <a:r>
                <a:rPr lang="en-US" sz="2400" b="1" dirty="0" smtClean="0"/>
                <a:t>“Risk</a:t>
              </a:r>
              <a:r>
                <a:rPr lang="en-US" sz="2400" b="1" dirty="0"/>
                <a:t>” is the potential impact that a </a:t>
              </a:r>
              <a:r>
                <a:rPr lang="en-US" sz="2400" b="1" i="1" u="sng" dirty="0"/>
                <a:t>“Threat” </a:t>
              </a:r>
              <a:r>
                <a:rPr lang="en-US" sz="2400" b="1" dirty="0"/>
                <a:t>can have on the confidentiality, integrity, and availability on ePHI by exploiting a </a:t>
              </a:r>
              <a:r>
                <a:rPr lang="en-US" sz="2400" b="1" i="1" u="sng" dirty="0"/>
                <a:t>“Vulnerability” </a:t>
              </a:r>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1506746" y="4390846"/>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23269837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035909" y="2884401"/>
            <a:ext cx="3410782" cy="1815882"/>
          </a:xfrm>
          <a:prstGeom prst="rect">
            <a:avLst/>
          </a:prstGeom>
        </p:spPr>
        <p:txBody>
          <a:bodyPr wrap="square">
            <a:spAutoFit/>
          </a:bodyPr>
          <a:lstStyle/>
          <a:p>
            <a:pPr marL="342900" indent="-342900">
              <a:buFont typeface="Wingdings" panose="05000000000000000000" pitchFamily="2" charset="2"/>
              <a:buChar char="q"/>
            </a:pPr>
            <a:r>
              <a:rPr lang="en-US" sz="2800" b="1" dirty="0" smtClean="0"/>
              <a:t>Confidentiality</a:t>
            </a:r>
          </a:p>
          <a:p>
            <a:pPr marL="342900" indent="-342900">
              <a:buFont typeface="Wingdings" panose="05000000000000000000" pitchFamily="2" charset="2"/>
              <a:buChar char="q"/>
            </a:pPr>
            <a:r>
              <a:rPr lang="en-US" sz="2800" b="1" dirty="0" smtClean="0"/>
              <a:t>Accessibility </a:t>
            </a:r>
          </a:p>
          <a:p>
            <a:pPr marL="342900" indent="-342900">
              <a:buFont typeface="Wingdings" panose="05000000000000000000" pitchFamily="2" charset="2"/>
              <a:buChar char="q"/>
            </a:pPr>
            <a:r>
              <a:rPr lang="en-US" sz="2800" b="1" dirty="0" smtClean="0"/>
              <a:t>Integrity</a:t>
            </a:r>
          </a:p>
          <a:p>
            <a:pPr marL="342900" indent="-342900">
              <a:buFont typeface="Wingdings" panose="05000000000000000000" pitchFamily="2" charset="2"/>
              <a:buChar char="q"/>
            </a:pPr>
            <a:r>
              <a:rPr lang="en-US" sz="2800" b="1" dirty="0" smtClean="0"/>
              <a:t>Availability</a:t>
            </a:r>
            <a:endParaRPr lang="en-US" sz="2800" b="1" dirty="0"/>
          </a:p>
        </p:txBody>
      </p:sp>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502713" y="1307068"/>
            <a:ext cx="8001000" cy="3809999"/>
          </a:xfrm>
        </p:spPr>
        <p:txBody>
          <a:bodyPr>
            <a:normAutofit/>
          </a:bodyPr>
          <a:lstStyle/>
          <a:p>
            <a:pPr marL="109728" indent="0">
              <a:spcAft>
                <a:spcPts val="1800"/>
              </a:spcAft>
              <a:buNone/>
            </a:pPr>
            <a:r>
              <a:rPr lang="en-US" sz="2400" b="1" dirty="0" smtClean="0"/>
              <a:t>HIPAA introduced the Security Rule to establish security measures relevant to protecting PHI in electronic format(s).  Which is </a:t>
            </a:r>
            <a:r>
              <a:rPr lang="en-US" sz="2400" b="1" u="sng" dirty="0" smtClean="0"/>
              <a:t>not</a:t>
            </a:r>
            <a:r>
              <a:rPr lang="en-US" sz="2400" b="1" dirty="0" smtClean="0"/>
              <a:t> one of the three principal rules for protecting ePHI: </a:t>
            </a:r>
          </a:p>
          <a:p>
            <a:pPr marL="109728" indent="0">
              <a:spcAft>
                <a:spcPts val="1800"/>
              </a:spcAft>
              <a:buNone/>
            </a:pPr>
            <a:endParaRPr lang="en-US" sz="2300" b="1" dirty="0" smtClean="0"/>
          </a:p>
        </p:txBody>
      </p:sp>
      <p:grpSp>
        <p:nvGrpSpPr>
          <p:cNvPr id="8" name="Group 7"/>
          <p:cNvGrpSpPr/>
          <p:nvPr/>
        </p:nvGrpSpPr>
        <p:grpSpPr>
          <a:xfrm>
            <a:off x="1045779" y="3396734"/>
            <a:ext cx="7543800" cy="2941526"/>
            <a:chOff x="1045779" y="3396734"/>
            <a:chExt cx="7543800" cy="2941526"/>
          </a:xfrm>
        </p:grpSpPr>
        <p:sp>
          <p:nvSpPr>
            <p:cNvPr id="4" name="TextBox 3"/>
            <p:cNvSpPr txBox="1"/>
            <p:nvPr/>
          </p:nvSpPr>
          <p:spPr>
            <a:xfrm>
              <a:off x="1045779" y="4768600"/>
              <a:ext cx="7543800" cy="1569660"/>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The answer is Accessibility - which is </a:t>
              </a:r>
              <a:r>
                <a:rPr lang="en-US" sz="2400" b="1" u="sng" dirty="0" smtClean="0">
                  <a:latin typeface="Arial" panose="020B0604020202020204" pitchFamily="34" charset="0"/>
                  <a:cs typeface="Arial" panose="020B0604020202020204" pitchFamily="34" charset="0"/>
                </a:rPr>
                <a:t>NOT</a:t>
              </a:r>
              <a:r>
                <a:rPr lang="en-US" sz="2400" b="1" dirty="0" smtClean="0">
                  <a:latin typeface="Arial" panose="020B0604020202020204" pitchFamily="34" charset="0"/>
                  <a:cs typeface="Arial" panose="020B0604020202020204" pitchFamily="34" charset="0"/>
                </a:rPr>
                <a:t> one of the three principal rules for protecting ePHI -  They are Confidentiality, Integrity and Availability</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2133600" y="3396734"/>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32419797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39083" y="381000"/>
            <a:ext cx="6246760"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smtClean="0"/>
              <a:t>Session 2</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914400" y="1524000"/>
            <a:ext cx="7391400" cy="3785652"/>
          </a:xfrm>
          <a:prstGeom prst="rect">
            <a:avLst/>
          </a:prstGeom>
        </p:spPr>
        <p:txBody>
          <a:bodyPr wrap="square">
            <a:spAutoFit/>
          </a:bodyPr>
          <a:lstStyle/>
          <a:p>
            <a:pPr algn="just"/>
            <a:r>
              <a:rPr lang="en-US" sz="2400" b="1" dirty="0"/>
              <a:t>Provide audience with information that details the Health Information Portability and Accountability Act of 1996 (HIPAA) Privacy Rule and Security Rule standards and implementation specifications, </a:t>
            </a:r>
            <a:r>
              <a:rPr lang="en-US" sz="2400" b="1" dirty="0" smtClean="0"/>
              <a:t>including standards </a:t>
            </a:r>
            <a:r>
              <a:rPr lang="en-US" sz="2400" b="1" dirty="0"/>
              <a:t>and specifications related to </a:t>
            </a:r>
            <a:r>
              <a:rPr lang="en-US" sz="2400" b="1" dirty="0" smtClean="0"/>
              <a:t>both PHI and ePHI.  </a:t>
            </a:r>
            <a:r>
              <a:rPr lang="en-US" sz="2400" b="1" dirty="0"/>
              <a:t>This session will clearly describe the differences between the Privacy Rule and Security Rule as they relate to both PHI and </a:t>
            </a:r>
            <a:r>
              <a:rPr lang="en-US" sz="2400" b="1" dirty="0" smtClean="0"/>
              <a:t>ePHI, and provide a clear understanding of HIPAA in general. </a:t>
            </a:r>
            <a:endParaRPr lang="en-US" sz="2400" b="1" dirty="0"/>
          </a:p>
        </p:txBody>
      </p:sp>
    </p:spTree>
    <p:extLst>
      <p:ext uri="{BB962C8B-B14F-4D97-AF65-F5344CB8AC3E}">
        <p14:creationId xmlns:p14="http://schemas.microsoft.com/office/powerpoint/2010/main" val="23624217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3293" y="1414733"/>
            <a:ext cx="8424862" cy="4524315"/>
          </a:xfrm>
          <a:prstGeom prst="rect">
            <a:avLst/>
          </a:prstGeom>
        </p:spPr>
        <p:txBody>
          <a:bodyPr wrap="square">
            <a:spAutoFit/>
          </a:bodyPr>
          <a:lstStyle/>
          <a:p>
            <a:pPr algn="just"/>
            <a:r>
              <a:rPr lang="en-US" sz="3600" b="1" dirty="0" smtClean="0"/>
              <a:t>H</a:t>
            </a:r>
            <a:r>
              <a:rPr lang="en-US" sz="2800" dirty="0" smtClean="0"/>
              <a:t>ealth Insurance Portability Act of 1996 (HIPAA) is administered by the US Department of Health and Human Services (HHS) and </a:t>
            </a:r>
            <a:r>
              <a:rPr lang="en-US" sz="2800" b="1" dirty="0" smtClean="0"/>
              <a:t>mandates that patient medical records and other healthcare information be protected against security breaches and unauthorized use or disclosure</a:t>
            </a:r>
            <a:r>
              <a:rPr lang="en-US" sz="2800" dirty="0" smtClean="0"/>
              <a:t> while stored, processed, and exchanged between healthcare organizations and third parties. </a:t>
            </a:r>
          </a:p>
          <a:p>
            <a:pPr marL="457200" indent="-457200" algn="just">
              <a:buFont typeface="Wingdings" panose="05000000000000000000" pitchFamily="2" charset="2"/>
              <a:buChar char="q"/>
            </a:pPr>
            <a:endParaRPr lang="en-US" sz="2800" dirty="0" smtClean="0"/>
          </a:p>
        </p:txBody>
      </p:sp>
      <p:sp>
        <p:nvSpPr>
          <p:cNvPr id="7" name="Title 1"/>
          <p:cNvSpPr txBox="1">
            <a:spLocks/>
          </p:cNvSpPr>
          <p:nvPr/>
        </p:nvSpPr>
        <p:spPr>
          <a:xfrm>
            <a:off x="422381" y="304800"/>
            <a:ext cx="4129087" cy="604889"/>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What is HIPAA?</a:t>
            </a:r>
            <a:endParaRPr lang="en-US" sz="36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4302569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659147" y="152400"/>
            <a:ext cx="6246760"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smtClean="0"/>
              <a:t>Health Insurance Portability and Accountability Act</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8"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3000" y="1173192"/>
            <a:ext cx="6974866" cy="4846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720680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5181600" y="5486400"/>
            <a:ext cx="2057400" cy="838200"/>
          </a:xfrm>
          <a:prstGeom prst="roundRect">
            <a:avLst/>
          </a:prstGeom>
          <a:ln w="6350"/>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838200" y="1447800"/>
            <a:ext cx="7696200" cy="4154984"/>
          </a:xfrm>
          <a:prstGeom prst="rect">
            <a:avLst/>
          </a:prstGeom>
        </p:spPr>
        <p:txBody>
          <a:bodyPr wrap="square">
            <a:spAutoFit/>
          </a:bodyPr>
          <a:lstStyle/>
          <a:p>
            <a:pPr marL="342900" indent="-342900">
              <a:buFont typeface="Wingdings" panose="05000000000000000000" pitchFamily="2" charset="2"/>
              <a:buChar char="q"/>
            </a:pPr>
            <a:r>
              <a:rPr lang="en-US" sz="2400" b="1" dirty="0" smtClean="0"/>
              <a:t>Make health insurance portable – </a:t>
            </a:r>
            <a:r>
              <a:rPr lang="en-US" sz="2400" dirty="0" smtClean="0"/>
              <a:t>makes it easier for people to keep health insurance when they change jobs</a:t>
            </a:r>
          </a:p>
          <a:p>
            <a:pPr marL="342900" indent="-342900">
              <a:buFont typeface="Wingdings" panose="05000000000000000000" pitchFamily="2" charset="2"/>
              <a:buChar char="q"/>
            </a:pPr>
            <a:r>
              <a:rPr lang="en-US" sz="2400" b="1" dirty="0" smtClean="0"/>
              <a:t>Reduce healthcare fraud – </a:t>
            </a:r>
            <a:r>
              <a:rPr lang="en-US" sz="2400" dirty="0" smtClean="0"/>
              <a:t>wastes nearly 1/3 of every dollar spent on healthcare in the US</a:t>
            </a:r>
          </a:p>
          <a:p>
            <a:pPr marL="342900" indent="-342900">
              <a:buFont typeface="Wingdings" panose="05000000000000000000" pitchFamily="2" charset="2"/>
              <a:buChar char="q"/>
            </a:pPr>
            <a:r>
              <a:rPr lang="en-US" sz="2400" b="1" dirty="0" smtClean="0"/>
              <a:t>Improve efficiency – </a:t>
            </a:r>
            <a:r>
              <a:rPr lang="en-US" sz="2400" dirty="0" smtClean="0"/>
              <a:t>payments, claims, and similar transactions</a:t>
            </a:r>
          </a:p>
          <a:p>
            <a:pPr marL="342900" indent="-342900">
              <a:buFont typeface="Wingdings" panose="05000000000000000000" pitchFamily="2" charset="2"/>
              <a:buChar char="q"/>
            </a:pPr>
            <a:r>
              <a:rPr lang="en-US" sz="2400" b="1" dirty="0" smtClean="0"/>
              <a:t>Protect personal medical information – </a:t>
            </a:r>
            <a:r>
              <a:rPr lang="en-US" sz="2400" dirty="0" smtClean="0"/>
              <a:t>mandatory privacy and security safeguards</a:t>
            </a:r>
          </a:p>
          <a:p>
            <a:pPr marL="342900" indent="-342900">
              <a:buFont typeface="Wingdings" panose="05000000000000000000" pitchFamily="2" charset="2"/>
              <a:buChar char="q"/>
            </a:pPr>
            <a:r>
              <a:rPr lang="en-US" sz="2400" b="1" dirty="0" smtClean="0"/>
              <a:t>Gather statistical data about diseases – </a:t>
            </a:r>
            <a:r>
              <a:rPr lang="en-US" sz="2400" dirty="0" smtClean="0"/>
              <a:t>to better protect the public</a:t>
            </a:r>
          </a:p>
        </p:txBody>
      </p:sp>
      <p:sp>
        <p:nvSpPr>
          <p:cNvPr id="3" name="Title 1"/>
          <p:cNvSpPr txBox="1">
            <a:spLocks/>
          </p:cNvSpPr>
          <p:nvPr/>
        </p:nvSpPr>
        <p:spPr>
          <a:xfrm>
            <a:off x="457200" y="393940"/>
            <a:ext cx="7010400" cy="639762"/>
          </a:xfrm>
          <a:prstGeom prst="rect">
            <a:avLst/>
          </a:prstGeom>
        </p:spPr>
        <p:txBody>
          <a:bodyP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smtClean="0"/>
              <a:t>Five Major Goals of HIPAA</a:t>
            </a:r>
            <a:endParaRPr lang="en-US" sz="3200" dirty="0"/>
          </a:p>
        </p:txBody>
      </p:sp>
      <p:sp>
        <p:nvSpPr>
          <p:cNvPr id="4" name="Rectangle 3"/>
          <p:cNvSpPr/>
          <p:nvPr/>
        </p:nvSpPr>
        <p:spPr>
          <a:xfrm>
            <a:off x="5334000" y="5609986"/>
            <a:ext cx="1752600" cy="584775"/>
          </a:xfrm>
          <a:prstGeom prst="rect">
            <a:avLst/>
          </a:prstGeom>
        </p:spPr>
        <p:txBody>
          <a:bodyPr wrap="square">
            <a:spAutoFit/>
          </a:bodyPr>
          <a:lstStyle/>
          <a:p>
            <a:r>
              <a:rPr lang="en-US" sz="800" dirty="0"/>
              <a:t>http://www.youtube.com/watch?v=s_1CZYK8qb8&amp;index=71&amp;list=UUhHTRPxz8awulGaTMh3SAkA</a:t>
            </a:r>
          </a:p>
        </p:txBody>
      </p:sp>
    </p:spTree>
    <p:extLst>
      <p:ext uri="{BB962C8B-B14F-4D97-AF65-F5344CB8AC3E}">
        <p14:creationId xmlns:p14="http://schemas.microsoft.com/office/powerpoint/2010/main" val="42712939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8150" y="1447800"/>
            <a:ext cx="7924800" cy="4493538"/>
          </a:xfrm>
          <a:prstGeom prst="rect">
            <a:avLst/>
          </a:prstGeom>
        </p:spPr>
        <p:txBody>
          <a:bodyPr wrap="square">
            <a:spAutoFit/>
          </a:bodyPr>
          <a:lstStyle/>
          <a:p>
            <a:pPr algn="ctr"/>
            <a:r>
              <a:rPr lang="en-US" sz="2400" b="1" dirty="0" smtClean="0"/>
              <a:t>1996 </a:t>
            </a:r>
            <a:r>
              <a:rPr lang="en-US" sz="2400" dirty="0" smtClean="0"/>
              <a:t>HIPAA</a:t>
            </a:r>
          </a:p>
          <a:p>
            <a:pPr algn="ctr"/>
            <a:r>
              <a:rPr lang="en-US" sz="2400" b="1" dirty="0" smtClean="0"/>
              <a:t>2003 </a:t>
            </a:r>
            <a:r>
              <a:rPr lang="en-US" sz="2400" dirty="0" smtClean="0"/>
              <a:t>Privacy Rule</a:t>
            </a:r>
          </a:p>
          <a:p>
            <a:pPr algn="ctr"/>
            <a:r>
              <a:rPr lang="en-US" sz="2400" b="1" dirty="0" smtClean="0"/>
              <a:t>2005 </a:t>
            </a:r>
            <a:r>
              <a:rPr lang="en-US" sz="2400" dirty="0" smtClean="0"/>
              <a:t>Security Rule</a:t>
            </a:r>
          </a:p>
          <a:p>
            <a:pPr algn="ctr"/>
            <a:r>
              <a:rPr lang="en-US" sz="2400" b="1" dirty="0" smtClean="0"/>
              <a:t>2006 </a:t>
            </a:r>
            <a:r>
              <a:rPr lang="en-US" sz="2400" dirty="0" smtClean="0"/>
              <a:t>Enforcement Rule</a:t>
            </a:r>
          </a:p>
          <a:p>
            <a:pPr algn="ctr"/>
            <a:r>
              <a:rPr lang="en-US" sz="2400" b="1" dirty="0" smtClean="0"/>
              <a:t>02.2009 </a:t>
            </a:r>
            <a:r>
              <a:rPr lang="en-US" sz="2400" dirty="0" smtClean="0"/>
              <a:t>HITECH</a:t>
            </a:r>
          </a:p>
          <a:p>
            <a:pPr algn="ctr"/>
            <a:r>
              <a:rPr lang="en-US" sz="2400" b="1" dirty="0" smtClean="0"/>
              <a:t>09.2009 </a:t>
            </a:r>
            <a:r>
              <a:rPr lang="en-US" sz="2400" dirty="0" smtClean="0"/>
              <a:t>Interim Breach Notification Rule</a:t>
            </a:r>
          </a:p>
          <a:p>
            <a:pPr algn="ctr"/>
            <a:r>
              <a:rPr lang="en-US" sz="2400" b="1" dirty="0" smtClean="0"/>
              <a:t>10.2009 </a:t>
            </a:r>
            <a:r>
              <a:rPr lang="en-US" sz="2400" dirty="0" smtClean="0"/>
              <a:t>Interim Final Enforcement Rule</a:t>
            </a:r>
          </a:p>
          <a:p>
            <a:pPr algn="ctr"/>
            <a:r>
              <a:rPr lang="en-US" sz="2400" b="1" dirty="0" smtClean="0"/>
              <a:t>07.2010 </a:t>
            </a:r>
            <a:r>
              <a:rPr lang="en-US" sz="2400" dirty="0" smtClean="0"/>
              <a:t>Proposed </a:t>
            </a:r>
            <a:r>
              <a:rPr lang="en-US" sz="2400" dirty="0" err="1" smtClean="0"/>
              <a:t>Omibus</a:t>
            </a:r>
            <a:r>
              <a:rPr lang="en-US" sz="2400" dirty="0" smtClean="0"/>
              <a:t> Rule</a:t>
            </a:r>
          </a:p>
          <a:p>
            <a:pPr algn="ctr"/>
            <a:r>
              <a:rPr lang="en-US" sz="2400" b="1" dirty="0" smtClean="0"/>
              <a:t>01.2013 </a:t>
            </a:r>
            <a:r>
              <a:rPr lang="en-US" sz="2400" dirty="0" smtClean="0"/>
              <a:t>Final </a:t>
            </a:r>
            <a:r>
              <a:rPr lang="en-US" sz="2400" dirty="0" err="1" smtClean="0"/>
              <a:t>Omibus</a:t>
            </a:r>
            <a:r>
              <a:rPr lang="en-US" sz="2400" dirty="0" smtClean="0"/>
              <a:t> Rule</a:t>
            </a:r>
          </a:p>
          <a:p>
            <a:pPr algn="ctr"/>
            <a:r>
              <a:rPr lang="en-US" sz="2400" b="1" dirty="0" smtClean="0"/>
              <a:t>09.23.2013 </a:t>
            </a:r>
            <a:r>
              <a:rPr lang="en-US" sz="2400" dirty="0" smtClean="0"/>
              <a:t>Final General Compliance Date (CEs)</a:t>
            </a:r>
          </a:p>
          <a:p>
            <a:pPr algn="ctr"/>
            <a:r>
              <a:rPr lang="en-US" sz="2400" b="1" dirty="0" smtClean="0"/>
              <a:t>09.22.2014 </a:t>
            </a:r>
            <a:r>
              <a:rPr lang="en-US" sz="2400" dirty="0" smtClean="0"/>
              <a:t>CEs must bring BAAs into compliance</a:t>
            </a:r>
          </a:p>
          <a:p>
            <a:pPr algn="ctr"/>
            <a:endParaRPr lang="en-US" sz="2200" b="1" dirty="0" smtClean="0"/>
          </a:p>
        </p:txBody>
      </p:sp>
      <p:sp>
        <p:nvSpPr>
          <p:cNvPr id="7" name="Title 1"/>
          <p:cNvSpPr txBox="1">
            <a:spLocks/>
          </p:cNvSpPr>
          <p:nvPr/>
        </p:nvSpPr>
        <p:spPr>
          <a:xfrm>
            <a:off x="533400" y="304800"/>
            <a:ext cx="8077200" cy="604889"/>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HIPAA Related Rules - Timeline</a:t>
            </a:r>
            <a:endParaRPr lang="en-US" sz="24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5" descr="C:\Users\larry delone\AppData\Local\Microsoft\Windows\Temporary Internet Files\Content.IE5\P40U4YG9\MC900157109[1].wmf"/>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91630" y="1447800"/>
            <a:ext cx="1814170" cy="150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8675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447800"/>
            <a:ext cx="8534400" cy="4154984"/>
          </a:xfrm>
          <a:prstGeom prst="rect">
            <a:avLst/>
          </a:prstGeom>
        </p:spPr>
        <p:txBody>
          <a:bodyPr wrap="square">
            <a:spAutoFit/>
          </a:bodyPr>
          <a:lstStyle/>
          <a:p>
            <a:pPr marL="457200" indent="-457200">
              <a:buFont typeface="Wingdings" panose="05000000000000000000" pitchFamily="2" charset="2"/>
              <a:buChar char="q"/>
            </a:pPr>
            <a:r>
              <a:rPr lang="en-US" sz="2400" b="1" dirty="0" smtClean="0"/>
              <a:t>HIPAA is the main U.S. law dealing with medical information privacy</a:t>
            </a:r>
          </a:p>
          <a:p>
            <a:pPr marL="457200" indent="-457200">
              <a:buFont typeface="Wingdings" panose="05000000000000000000" pitchFamily="2" charset="2"/>
              <a:buChar char="q"/>
            </a:pPr>
            <a:endParaRPr lang="en-US" sz="2400" b="1" dirty="0" smtClean="0"/>
          </a:p>
          <a:p>
            <a:pPr marL="457200" indent="-457200">
              <a:buFont typeface="Wingdings" panose="05000000000000000000" pitchFamily="2" charset="2"/>
              <a:buChar char="q"/>
            </a:pPr>
            <a:r>
              <a:rPr lang="en-US" sz="2400" b="1" dirty="0" smtClean="0"/>
              <a:t>HIPAA laws covers the United States and its territories, </a:t>
            </a:r>
            <a:r>
              <a:rPr lang="en-US" sz="2400" b="1" dirty="0" err="1" smtClean="0"/>
              <a:t>ie</a:t>
            </a:r>
            <a:r>
              <a:rPr lang="en-US" sz="2400" b="1" dirty="0" smtClean="0"/>
              <a:t>. Puerto Rico, Guam, the Virgin Islands, American Samoa, and the Northern Marianna Islands</a:t>
            </a:r>
          </a:p>
          <a:p>
            <a:pPr marL="457200" indent="-457200">
              <a:buFont typeface="Wingdings" panose="05000000000000000000" pitchFamily="2" charset="2"/>
              <a:buChar char="q"/>
            </a:pPr>
            <a:endParaRPr lang="en-US" sz="2400" b="1" dirty="0"/>
          </a:p>
          <a:p>
            <a:pPr marL="457200" indent="-457200">
              <a:buFont typeface="Wingdings" panose="05000000000000000000" pitchFamily="2" charset="2"/>
              <a:buChar char="q"/>
            </a:pPr>
            <a:r>
              <a:rPr lang="en-US" sz="2400" b="1" dirty="0" smtClean="0"/>
              <a:t>HIPAA applies to all patient data including data about visitors and non-US citizens, (only collected and used in the US and its territories) </a:t>
            </a:r>
            <a:endParaRPr lang="en-US" sz="2000" b="1" dirty="0" smtClean="0"/>
          </a:p>
          <a:p>
            <a:pPr lvl="1"/>
            <a:endParaRPr lang="en-US" sz="2400" b="1" dirty="0" smtClean="0"/>
          </a:p>
        </p:txBody>
      </p:sp>
      <p:sp>
        <p:nvSpPr>
          <p:cNvPr id="7" name="Title 1"/>
          <p:cNvSpPr txBox="1">
            <a:spLocks/>
          </p:cNvSpPr>
          <p:nvPr/>
        </p:nvSpPr>
        <p:spPr>
          <a:xfrm>
            <a:off x="428446" y="304800"/>
            <a:ext cx="4738687" cy="604889"/>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Basic HIPAA Facts</a:t>
            </a:r>
            <a:endParaRPr lang="en-US" sz="36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643780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447800"/>
            <a:ext cx="7696200" cy="4524315"/>
          </a:xfrm>
          <a:prstGeom prst="rect">
            <a:avLst/>
          </a:prstGeom>
        </p:spPr>
        <p:txBody>
          <a:bodyPr wrap="square">
            <a:spAutoFit/>
          </a:bodyPr>
          <a:lstStyle/>
          <a:p>
            <a:r>
              <a:rPr lang="en-US" sz="2400" b="1" dirty="0" smtClean="0"/>
              <a:t>In accordance with HIPAA Title II Subtitle F – Administrative Simplification provisions: </a:t>
            </a:r>
          </a:p>
          <a:p>
            <a:endParaRPr lang="en-US" sz="2400" b="1" dirty="0"/>
          </a:p>
          <a:p>
            <a:r>
              <a:rPr lang="en-US" sz="2400" b="1" dirty="0" smtClean="0"/>
              <a:t>The security and privacy of healthcare data apply to “covered entities”, which includes all healthcare organizations that create, receive, maintain, or transmit patient healthcare information.</a:t>
            </a:r>
          </a:p>
          <a:p>
            <a:pPr marL="914400" lvl="1" indent="-457200">
              <a:buFont typeface="Wingdings" panose="05000000000000000000" pitchFamily="2" charset="2"/>
              <a:buChar char="q"/>
            </a:pPr>
            <a:r>
              <a:rPr lang="en-US" sz="2400" b="1" dirty="0" smtClean="0"/>
              <a:t>Healthcare providers</a:t>
            </a:r>
          </a:p>
          <a:p>
            <a:pPr marL="914400" lvl="1" indent="-457200">
              <a:buFont typeface="Wingdings" panose="05000000000000000000" pitchFamily="2" charset="2"/>
              <a:buChar char="q"/>
            </a:pPr>
            <a:r>
              <a:rPr lang="en-US" sz="2400" dirty="0" smtClean="0"/>
              <a:t>Health plans</a:t>
            </a:r>
          </a:p>
          <a:p>
            <a:pPr marL="914400" lvl="1" indent="-457200">
              <a:buFont typeface="Wingdings" panose="05000000000000000000" pitchFamily="2" charset="2"/>
              <a:buChar char="q"/>
            </a:pPr>
            <a:r>
              <a:rPr lang="en-US" sz="2400" dirty="0" smtClean="0"/>
              <a:t>Healthcare clearinghouses</a:t>
            </a:r>
          </a:p>
          <a:p>
            <a:pPr marL="914400" lvl="1" indent="-457200">
              <a:buFont typeface="Wingdings" panose="05000000000000000000" pitchFamily="2" charset="2"/>
              <a:buChar char="q"/>
            </a:pPr>
            <a:r>
              <a:rPr lang="en-US" sz="2400" dirty="0" smtClean="0"/>
              <a:t>Medicare prescription drug card sponsors</a:t>
            </a:r>
          </a:p>
          <a:p>
            <a:pPr marL="914400" lvl="1" indent="-457200">
              <a:buFont typeface="Wingdings" panose="05000000000000000000" pitchFamily="2" charset="2"/>
              <a:buChar char="q"/>
            </a:pPr>
            <a:r>
              <a:rPr lang="en-US" sz="2400" b="1" dirty="0" smtClean="0"/>
              <a:t>Covered business associates</a:t>
            </a:r>
          </a:p>
        </p:txBody>
      </p:sp>
      <p:sp>
        <p:nvSpPr>
          <p:cNvPr id="3" name="Title 1"/>
          <p:cNvSpPr txBox="1">
            <a:spLocks/>
          </p:cNvSpPr>
          <p:nvPr/>
        </p:nvSpPr>
        <p:spPr>
          <a:xfrm>
            <a:off x="457200" y="393940"/>
            <a:ext cx="7010400" cy="639762"/>
          </a:xfrm>
          <a:prstGeom prst="rect">
            <a:avLst/>
          </a:prstGeom>
        </p:spPr>
        <p:txBody>
          <a:bodyP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smtClean="0"/>
              <a:t>Who must be HIPAA Compliant?</a:t>
            </a:r>
            <a:endParaRPr lang="en-US" sz="3200" dirty="0"/>
          </a:p>
        </p:txBody>
      </p:sp>
    </p:spTree>
    <p:extLst>
      <p:ext uri="{BB962C8B-B14F-4D97-AF65-F5344CB8AC3E}">
        <p14:creationId xmlns:p14="http://schemas.microsoft.com/office/powerpoint/2010/main" val="7076620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4294967295"/>
          </p:nvPr>
        </p:nvSpPr>
        <p:spPr>
          <a:xfrm>
            <a:off x="621102" y="1981200"/>
            <a:ext cx="7989498" cy="4135438"/>
          </a:xfrm>
        </p:spPr>
        <p:txBody>
          <a:bodyPr>
            <a:normAutofit fontScale="85000" lnSpcReduction="20000"/>
          </a:bodyPr>
          <a:lstStyle/>
          <a:p>
            <a:pPr>
              <a:spcAft>
                <a:spcPts val="1800"/>
              </a:spcAft>
            </a:pPr>
            <a:r>
              <a:rPr lang="en-US" sz="2300" dirty="0" smtClean="0"/>
              <a:t>The “Health Information Technology for Economic and Clinical Health Act (HITECH Act)”, signed into Law on February 17, 2009 by President Obama, is part of the American Recovery and Reinvestment Act of 2009 (ARRA). </a:t>
            </a:r>
          </a:p>
          <a:p>
            <a:pPr lvl="1">
              <a:spcAft>
                <a:spcPts val="1800"/>
              </a:spcAft>
            </a:pPr>
            <a:r>
              <a:rPr lang="en-US" sz="2100" dirty="0" smtClean="0"/>
              <a:t>Beginning in 2011, healthcare providers will be offered financial incentives for demonstrating </a:t>
            </a:r>
            <a:r>
              <a:rPr lang="en-US" sz="2100" b="1" i="1" dirty="0" smtClean="0"/>
              <a:t>“meaningful use”</a:t>
            </a:r>
            <a:r>
              <a:rPr lang="en-US" sz="2100" dirty="0" smtClean="0"/>
              <a:t> of EHRs</a:t>
            </a:r>
          </a:p>
          <a:p>
            <a:pPr lvl="1">
              <a:spcAft>
                <a:spcPts val="1800"/>
              </a:spcAft>
            </a:pPr>
            <a:r>
              <a:rPr lang="en-US" sz="2100" dirty="0" smtClean="0"/>
              <a:t>Improved privacy and security provisions under HIPAA; established new rules for the disclosure of PHI; imposed new notification requirements on covered entities, business associates and vendors</a:t>
            </a:r>
          </a:p>
          <a:p>
            <a:pPr lvl="1">
              <a:spcAft>
                <a:spcPts val="1800"/>
              </a:spcAft>
            </a:pPr>
            <a:r>
              <a:rPr lang="en-US" sz="2100" dirty="0" smtClean="0"/>
              <a:t>Grants, loans and demonstration programs                              to assist providers and the health community                           to adopt, implement, and use certified EHR                 technology.</a:t>
            </a:r>
          </a:p>
        </p:txBody>
      </p:sp>
      <p:sp>
        <p:nvSpPr>
          <p:cNvPr id="5" name="Title 4"/>
          <p:cNvSpPr>
            <a:spLocks noGrp="1"/>
          </p:cNvSpPr>
          <p:nvPr>
            <p:ph type="title" idx="4294967295"/>
          </p:nvPr>
        </p:nvSpPr>
        <p:spPr>
          <a:xfrm>
            <a:off x="457200" y="228600"/>
            <a:ext cx="4267200" cy="838200"/>
          </a:xfrm>
        </p:spPr>
        <p:txBody>
          <a:bodyPr>
            <a:normAutofit/>
          </a:bodyPr>
          <a:lstStyle/>
          <a:p>
            <a:r>
              <a:rPr lang="en-US" sz="3200" dirty="0" smtClean="0"/>
              <a:t>What is HITECH?</a:t>
            </a:r>
            <a:endParaRPr lang="en-US" sz="3200" dirty="0"/>
          </a:p>
        </p:txBody>
      </p:sp>
      <p:sp>
        <p:nvSpPr>
          <p:cNvPr id="4" name="Content Placeholder 1"/>
          <p:cNvSpPr txBox="1">
            <a:spLocks/>
          </p:cNvSpPr>
          <p:nvPr/>
        </p:nvSpPr>
        <p:spPr>
          <a:xfrm>
            <a:off x="621102" y="1295400"/>
            <a:ext cx="3950898" cy="483086"/>
          </a:xfrm>
          <a:prstGeom prst="rect">
            <a:avLst/>
          </a:prstGeom>
          <a:solidFill>
            <a:srgbClr val="00B0F0"/>
          </a:solidFill>
          <a:effectLst>
            <a:glow rad="101600">
              <a:schemeClr val="accent5">
                <a:satMod val="175000"/>
                <a:alpha val="40000"/>
              </a:schemeClr>
            </a:glow>
            <a:outerShdw blurRad="50800" dist="38100" dir="5400000" algn="t" rotWithShape="0">
              <a:prstClr val="black">
                <a:alpha val="40000"/>
              </a:prstClr>
            </a:outerShdw>
          </a:effectLst>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2400" dirty="0" smtClean="0"/>
              <a:t>The HITECH Act of 2009</a:t>
            </a:r>
            <a:endParaRPr lang="en-US" sz="240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25883" y="4800600"/>
            <a:ext cx="1981246" cy="1055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88893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4294967295"/>
          </p:nvPr>
        </p:nvSpPr>
        <p:spPr>
          <a:xfrm>
            <a:off x="609600" y="1371600"/>
            <a:ext cx="8153400" cy="4724400"/>
          </a:xfrm>
        </p:spPr>
        <p:txBody>
          <a:bodyPr>
            <a:normAutofit fontScale="85000" lnSpcReduction="20000"/>
          </a:bodyPr>
          <a:lstStyle/>
          <a:p>
            <a:pPr>
              <a:spcAft>
                <a:spcPts val="1800"/>
              </a:spcAft>
            </a:pPr>
            <a:r>
              <a:rPr lang="en-US" sz="3000" b="1" dirty="0" smtClean="0"/>
              <a:t>New Federal Breach Notification Rule</a:t>
            </a:r>
          </a:p>
          <a:p>
            <a:pPr lvl="1">
              <a:spcAft>
                <a:spcPts val="1800"/>
              </a:spcAft>
            </a:pPr>
            <a:r>
              <a:rPr lang="en-US" sz="2100" dirty="0" smtClean="0"/>
              <a:t>Applies to all electronic “unsecured Protected Health Information” – </a:t>
            </a:r>
            <a:r>
              <a:rPr lang="en-US" sz="2100" i="1" dirty="0" smtClean="0"/>
              <a:t>“encryption required”</a:t>
            </a:r>
          </a:p>
          <a:p>
            <a:pPr lvl="1">
              <a:spcAft>
                <a:spcPts val="1800"/>
              </a:spcAft>
            </a:pPr>
            <a:r>
              <a:rPr lang="en-US" sz="2100" dirty="0" smtClean="0"/>
              <a:t>Unauthorized acquisition, access, use or disclosure is </a:t>
            </a:r>
            <a:r>
              <a:rPr lang="en-US" sz="2100" b="1" dirty="0" smtClean="0"/>
              <a:t>presumed</a:t>
            </a:r>
            <a:r>
              <a:rPr lang="en-US" sz="2100" dirty="0" smtClean="0"/>
              <a:t> to be a reportable breach </a:t>
            </a:r>
            <a:r>
              <a:rPr lang="en-US" sz="2100" b="1" dirty="0" smtClean="0"/>
              <a:t>unless</a:t>
            </a:r>
            <a:r>
              <a:rPr lang="en-US" sz="2100" dirty="0" smtClean="0"/>
              <a:t> a risk assessment demonstrates </a:t>
            </a:r>
            <a:r>
              <a:rPr lang="en-US" sz="2100" i="1" dirty="0" smtClean="0"/>
              <a:t>a low probability that the PHI was compromised</a:t>
            </a:r>
          </a:p>
          <a:p>
            <a:pPr lvl="1">
              <a:spcAft>
                <a:spcPts val="1800"/>
              </a:spcAft>
            </a:pPr>
            <a:r>
              <a:rPr lang="en-US" sz="2100" dirty="0" smtClean="0"/>
              <a:t>Requires immediate </a:t>
            </a:r>
            <a:r>
              <a:rPr lang="en-US" sz="2100" b="1" dirty="0" smtClean="0"/>
              <a:t>(60 days) </a:t>
            </a:r>
            <a:r>
              <a:rPr lang="en-US" sz="2100" dirty="0" smtClean="0"/>
              <a:t>notification to HHS if more than 500 individuals effected</a:t>
            </a:r>
          </a:p>
          <a:p>
            <a:pPr lvl="2">
              <a:spcAft>
                <a:spcPts val="1800"/>
              </a:spcAft>
            </a:pPr>
            <a:r>
              <a:rPr lang="en-US" sz="1900" b="1" dirty="0" smtClean="0"/>
              <a:t>Annual Notification </a:t>
            </a:r>
            <a:r>
              <a:rPr lang="en-US" sz="1900" dirty="0" smtClean="0"/>
              <a:t>if </a:t>
            </a:r>
            <a:r>
              <a:rPr lang="en-US" sz="1900" b="1" dirty="0" smtClean="0"/>
              <a:t>less</a:t>
            </a:r>
            <a:r>
              <a:rPr lang="en-US" sz="1900" dirty="0" smtClean="0"/>
              <a:t> that </a:t>
            </a:r>
            <a:r>
              <a:rPr lang="en-US" sz="1900" b="1" dirty="0" smtClean="0"/>
              <a:t>500 individuals</a:t>
            </a:r>
          </a:p>
          <a:p>
            <a:pPr lvl="1">
              <a:spcAft>
                <a:spcPts val="1800"/>
              </a:spcAft>
            </a:pPr>
            <a:r>
              <a:rPr lang="en-US" dirty="0" smtClean="0"/>
              <a:t>Requires notification to patients &amp; appropriate remediation</a:t>
            </a:r>
          </a:p>
          <a:p>
            <a:pPr lvl="1">
              <a:spcAft>
                <a:spcPts val="1800"/>
              </a:spcAft>
            </a:pPr>
            <a:r>
              <a:rPr lang="en-US" dirty="0" smtClean="0"/>
              <a:t>May require notification to a major media outlet and listing on organizations website</a:t>
            </a:r>
          </a:p>
        </p:txBody>
      </p:sp>
      <p:sp>
        <p:nvSpPr>
          <p:cNvPr id="5" name="Title 4"/>
          <p:cNvSpPr>
            <a:spLocks noGrp="1"/>
          </p:cNvSpPr>
          <p:nvPr>
            <p:ph type="title" idx="4294967295"/>
          </p:nvPr>
        </p:nvSpPr>
        <p:spPr>
          <a:xfrm>
            <a:off x="457200" y="228600"/>
            <a:ext cx="8229600" cy="1143000"/>
          </a:xfrm>
        </p:spPr>
        <p:txBody>
          <a:bodyPr>
            <a:normAutofit/>
          </a:bodyPr>
          <a:lstStyle/>
          <a:p>
            <a:r>
              <a:rPr lang="en-US" sz="3200" dirty="0" smtClean="0"/>
              <a:t>Other HITECH Provisions?</a:t>
            </a:r>
            <a:endParaRPr lang="en-US" sz="3200" dirty="0"/>
          </a:p>
        </p:txBody>
      </p:sp>
    </p:spTree>
    <p:extLst>
      <p:ext uri="{BB962C8B-B14F-4D97-AF65-F5344CB8AC3E}">
        <p14:creationId xmlns:p14="http://schemas.microsoft.com/office/powerpoint/2010/main" val="54103344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235994"/>
            <a:ext cx="8229600" cy="5878532"/>
          </a:xfrm>
          <a:prstGeom prst="rect">
            <a:avLst/>
          </a:prstGeom>
        </p:spPr>
        <p:txBody>
          <a:bodyPr wrap="square">
            <a:spAutoFit/>
          </a:bodyPr>
          <a:lstStyle/>
          <a:p>
            <a:pPr marL="457200" indent="-457200">
              <a:buFont typeface="Wingdings" panose="05000000000000000000" pitchFamily="2" charset="2"/>
              <a:buChar char="q"/>
            </a:pPr>
            <a:r>
              <a:rPr lang="en-US" sz="1600" b="1" dirty="0" smtClean="0"/>
              <a:t>Effective Date [became law] – March 26, 2013</a:t>
            </a:r>
          </a:p>
          <a:p>
            <a:pPr marL="457200" indent="-457200">
              <a:buFont typeface="Wingdings" panose="05000000000000000000" pitchFamily="2" charset="2"/>
              <a:buChar char="q"/>
            </a:pPr>
            <a:r>
              <a:rPr lang="en-US" sz="1600" b="1" dirty="0" smtClean="0"/>
              <a:t>Compliance Date – September 23, 2013</a:t>
            </a:r>
          </a:p>
          <a:p>
            <a:pPr marL="914400" lvl="1" indent="-457200">
              <a:buFont typeface="Wingdings" panose="05000000000000000000" pitchFamily="2" charset="2"/>
              <a:buChar char="§"/>
            </a:pPr>
            <a:r>
              <a:rPr lang="en-US" sz="2000" b="1" dirty="0" smtClean="0"/>
              <a:t>Modified Breach Notification Rule for unsecured PHI</a:t>
            </a:r>
          </a:p>
          <a:p>
            <a:pPr marL="914400" lvl="1" indent="-457200">
              <a:buFont typeface="Wingdings" panose="05000000000000000000" pitchFamily="2" charset="2"/>
              <a:buChar char="§"/>
            </a:pPr>
            <a:r>
              <a:rPr lang="en-US" sz="2000" b="1" dirty="0" smtClean="0"/>
              <a:t>Strengthen Privacy Rule regarding genetic info -GINA</a:t>
            </a:r>
          </a:p>
          <a:p>
            <a:pPr marL="914400" lvl="1" indent="-457200">
              <a:buFont typeface="Wingdings" panose="05000000000000000000" pitchFamily="2" charset="2"/>
              <a:buChar char="§"/>
            </a:pPr>
            <a:r>
              <a:rPr lang="en-US" sz="2000" b="1" dirty="0" smtClean="0"/>
              <a:t>Outlined OCR’s privacy and security enforcement strategies</a:t>
            </a:r>
          </a:p>
          <a:p>
            <a:pPr marL="914400" lvl="1" indent="-457200">
              <a:buFont typeface="Wingdings" panose="05000000000000000000" pitchFamily="2" charset="2"/>
              <a:buChar char="§"/>
            </a:pPr>
            <a:r>
              <a:rPr lang="en-US" sz="2000" b="1" dirty="0" smtClean="0"/>
              <a:t>Elevated Business Associates to same standards for protecting PHI as covered entities</a:t>
            </a:r>
            <a:endParaRPr lang="en-US" sz="2000" b="1" dirty="0"/>
          </a:p>
          <a:p>
            <a:pPr marL="914400" lvl="1" indent="-457200">
              <a:buFont typeface="Wingdings" panose="05000000000000000000" pitchFamily="2" charset="2"/>
              <a:buChar char="§"/>
            </a:pPr>
            <a:r>
              <a:rPr lang="en-US" sz="2000" b="1" dirty="0" smtClean="0"/>
              <a:t>New Patients Rights</a:t>
            </a:r>
          </a:p>
          <a:p>
            <a:pPr marL="1371600" lvl="2" indent="-457200">
              <a:buFont typeface="Wingdings" panose="05000000000000000000" pitchFamily="2" charset="2"/>
              <a:buChar char="§"/>
            </a:pPr>
            <a:r>
              <a:rPr lang="en-US" sz="2000" b="1" dirty="0" smtClean="0"/>
              <a:t>Electronic Access to PHI</a:t>
            </a:r>
          </a:p>
          <a:p>
            <a:pPr marL="1371600" lvl="2" indent="-457200">
              <a:buFont typeface="Wingdings" panose="05000000000000000000" pitchFamily="2" charset="2"/>
              <a:buChar char="§"/>
            </a:pPr>
            <a:r>
              <a:rPr lang="en-US" sz="2000" b="1" dirty="0" smtClean="0"/>
              <a:t>Right to limit disclosure for services paid out of pocket</a:t>
            </a:r>
          </a:p>
          <a:p>
            <a:pPr marL="1371600" lvl="2" indent="-457200">
              <a:buFont typeface="Wingdings" panose="05000000000000000000" pitchFamily="2" charset="2"/>
              <a:buChar char="§"/>
            </a:pPr>
            <a:r>
              <a:rPr lang="en-US" sz="2000" b="1" dirty="0" smtClean="0"/>
              <a:t>Uses &amp; Disclosures of PHI</a:t>
            </a:r>
          </a:p>
          <a:p>
            <a:pPr marL="1828800" lvl="3" indent="-457200">
              <a:buFont typeface="Wingdings" panose="05000000000000000000" pitchFamily="2" charset="2"/>
              <a:buChar char="§"/>
            </a:pPr>
            <a:r>
              <a:rPr lang="en-US" sz="2000" b="1" dirty="0" smtClean="0"/>
              <a:t>Fundraising, Marketing, &amp; Sale of PHI</a:t>
            </a:r>
          </a:p>
          <a:p>
            <a:pPr marL="800100" lvl="1" indent="-342900">
              <a:buFont typeface="Wingdings" panose="05000000000000000000" pitchFamily="2" charset="2"/>
              <a:buChar char="§"/>
            </a:pPr>
            <a:r>
              <a:rPr lang="en-US" sz="2000" b="1" dirty="0" smtClean="0"/>
              <a:t>Decedent Information-no longer PHI after 50 years</a:t>
            </a:r>
          </a:p>
          <a:p>
            <a:pPr marL="800100" lvl="1" indent="-342900">
              <a:buFont typeface="Wingdings" panose="05000000000000000000" pitchFamily="2" charset="2"/>
              <a:buChar char="§"/>
            </a:pPr>
            <a:r>
              <a:rPr lang="en-US" sz="2000" b="1" dirty="0" smtClean="0"/>
              <a:t>Student Immunizations-easier for parents w/verbal auth.</a:t>
            </a:r>
          </a:p>
          <a:p>
            <a:pPr marL="1828800" lvl="3" indent="-457200">
              <a:buFont typeface="Wingdings" panose="05000000000000000000" pitchFamily="2" charset="2"/>
              <a:buChar char="§"/>
            </a:pPr>
            <a:endParaRPr lang="en-US" sz="2000" b="1" dirty="0"/>
          </a:p>
          <a:p>
            <a:pPr lvl="3"/>
            <a:endParaRPr lang="en-US" sz="2000" b="1" dirty="0"/>
          </a:p>
          <a:p>
            <a:pPr lvl="1"/>
            <a:endParaRPr lang="en-US" sz="2400" b="1" dirty="0" smtClean="0"/>
          </a:p>
        </p:txBody>
      </p:sp>
      <p:sp>
        <p:nvSpPr>
          <p:cNvPr id="7" name="Title 1"/>
          <p:cNvSpPr txBox="1">
            <a:spLocks/>
          </p:cNvSpPr>
          <p:nvPr/>
        </p:nvSpPr>
        <p:spPr>
          <a:xfrm>
            <a:off x="533400" y="304800"/>
            <a:ext cx="8077200" cy="604889"/>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dirty="0" smtClean="0"/>
              <a:t>2013 HIPAA “Final (Omnibus) Rule</a:t>
            </a:r>
            <a:endParaRPr lang="en-US" sz="32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191979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8200" y="2286000"/>
            <a:ext cx="7564821" cy="1815882"/>
          </a:xfrm>
          <a:prstGeom prst="rect">
            <a:avLst/>
          </a:prstGeom>
        </p:spPr>
        <p:txBody>
          <a:bodyPr wrap="square">
            <a:spAutoFit/>
          </a:bodyPr>
          <a:lstStyle/>
          <a:p>
            <a:pPr marL="342900" indent="-342900">
              <a:buFont typeface="Wingdings" panose="05000000000000000000" pitchFamily="2" charset="2"/>
              <a:buChar char="q"/>
            </a:pPr>
            <a:r>
              <a:rPr lang="en-US" sz="2800" b="1" dirty="0" smtClean="0"/>
              <a:t>Department of Commerce (DOC)</a:t>
            </a:r>
          </a:p>
          <a:p>
            <a:pPr marL="342900" indent="-342900">
              <a:buFont typeface="Wingdings" panose="05000000000000000000" pitchFamily="2" charset="2"/>
              <a:buChar char="q"/>
            </a:pPr>
            <a:r>
              <a:rPr lang="en-US" sz="2800" b="1" dirty="0" smtClean="0"/>
              <a:t>Government Accounting Office (GAO)</a:t>
            </a:r>
          </a:p>
          <a:p>
            <a:pPr marL="342900" indent="-342900">
              <a:buFont typeface="Wingdings" panose="05000000000000000000" pitchFamily="2" charset="2"/>
              <a:buChar char="q"/>
            </a:pPr>
            <a:r>
              <a:rPr lang="en-US" sz="2800" b="1" dirty="0" smtClean="0"/>
              <a:t>Health and Human Services (HHS)</a:t>
            </a:r>
          </a:p>
          <a:p>
            <a:pPr marL="342900" indent="-342900">
              <a:buFont typeface="Wingdings" panose="05000000000000000000" pitchFamily="2" charset="2"/>
              <a:buChar char="q"/>
            </a:pPr>
            <a:r>
              <a:rPr lang="en-US" sz="2800" b="1" dirty="0" smtClean="0"/>
              <a:t>Office of Management and Budget (OMB)</a:t>
            </a:r>
            <a:endParaRPr lang="en-US" sz="2800" b="1" dirty="0"/>
          </a:p>
        </p:txBody>
      </p:sp>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588579" y="1524000"/>
            <a:ext cx="8001000" cy="674132"/>
          </a:xfrm>
        </p:spPr>
        <p:txBody>
          <a:bodyPr>
            <a:normAutofit fontScale="85000" lnSpcReduction="20000"/>
          </a:bodyPr>
          <a:lstStyle/>
          <a:p>
            <a:pPr marL="109728" indent="0">
              <a:spcAft>
                <a:spcPts val="1800"/>
              </a:spcAft>
              <a:buNone/>
            </a:pPr>
            <a:r>
              <a:rPr lang="en-US" sz="3300" b="1" dirty="0" smtClean="0"/>
              <a:t>HIPAA</a:t>
            </a:r>
            <a:r>
              <a:rPr lang="en-US" sz="2400" b="1" dirty="0" smtClean="0"/>
              <a:t> is administered by which Federal Agency: </a:t>
            </a:r>
          </a:p>
          <a:p>
            <a:pPr marL="109728" indent="0">
              <a:spcAft>
                <a:spcPts val="1800"/>
              </a:spcAft>
              <a:buNone/>
            </a:pPr>
            <a:endParaRPr lang="en-US" sz="2300" b="1" dirty="0" smtClean="0"/>
          </a:p>
        </p:txBody>
      </p:sp>
      <p:grpSp>
        <p:nvGrpSpPr>
          <p:cNvPr id="8" name="Group 7"/>
          <p:cNvGrpSpPr/>
          <p:nvPr/>
        </p:nvGrpSpPr>
        <p:grpSpPr>
          <a:xfrm>
            <a:off x="893379" y="3193941"/>
            <a:ext cx="7641021" cy="3240851"/>
            <a:chOff x="893379" y="3193941"/>
            <a:chExt cx="7641021" cy="3240851"/>
          </a:xfrm>
        </p:grpSpPr>
        <p:sp>
          <p:nvSpPr>
            <p:cNvPr id="4" name="TextBox 3"/>
            <p:cNvSpPr txBox="1"/>
            <p:nvPr/>
          </p:nvSpPr>
          <p:spPr>
            <a:xfrm>
              <a:off x="990600" y="4495800"/>
              <a:ext cx="7543800" cy="1938992"/>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The answer is HHS (Health and Human Services)- mandates that patient medical records and other health care data be protected against security breaches and unauthorized use or disclosure</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893379" y="3193941"/>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17898251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497457" y="1371600"/>
            <a:ext cx="8001000" cy="3809999"/>
          </a:xfrm>
        </p:spPr>
        <p:txBody>
          <a:bodyPr>
            <a:normAutofit/>
          </a:bodyPr>
          <a:lstStyle/>
          <a:p>
            <a:pPr marL="109728" indent="0">
              <a:spcAft>
                <a:spcPts val="1800"/>
              </a:spcAft>
              <a:buNone/>
            </a:pPr>
            <a:r>
              <a:rPr lang="en-US" sz="2400" b="1" dirty="0" smtClean="0"/>
              <a:t>In accordance with HIPAA Title II Subtitle F – Administrative Simplification provisions - you are considered a “covered entity” if you are a healthcare organization that create, receive, maintain, or transmit patient health care information</a:t>
            </a:r>
            <a:endParaRPr lang="en-US" sz="2300" b="1" dirty="0" smtClean="0"/>
          </a:p>
          <a:p>
            <a:pPr lvl="3">
              <a:spcAft>
                <a:spcPts val="1800"/>
              </a:spcAft>
              <a:buClrTx/>
              <a:buFont typeface="Wingdings" panose="05000000000000000000" pitchFamily="2" charset="2"/>
              <a:buChar char="q"/>
            </a:pPr>
            <a:r>
              <a:rPr lang="en-US" sz="2800" b="1" dirty="0" smtClean="0"/>
              <a:t>True</a:t>
            </a:r>
          </a:p>
          <a:p>
            <a:pPr lvl="3">
              <a:spcAft>
                <a:spcPts val="1800"/>
              </a:spcAft>
              <a:buClrTx/>
              <a:buFont typeface="Wingdings" panose="05000000000000000000" pitchFamily="2" charset="2"/>
              <a:buChar char="q"/>
            </a:pPr>
            <a:r>
              <a:rPr lang="en-US" sz="2800" b="1" dirty="0" smtClean="0"/>
              <a:t>False</a:t>
            </a:r>
          </a:p>
        </p:txBody>
      </p:sp>
      <p:grpSp>
        <p:nvGrpSpPr>
          <p:cNvPr id="3" name="Group 2"/>
          <p:cNvGrpSpPr/>
          <p:nvPr/>
        </p:nvGrpSpPr>
        <p:grpSpPr>
          <a:xfrm>
            <a:off x="1371600" y="3507828"/>
            <a:ext cx="7239000" cy="2938632"/>
            <a:chOff x="1407543" y="4390846"/>
            <a:chExt cx="7239000" cy="2938632"/>
          </a:xfrm>
        </p:grpSpPr>
        <p:sp>
          <p:nvSpPr>
            <p:cNvPr id="4" name="TextBox 3"/>
            <p:cNvSpPr txBox="1"/>
            <p:nvPr/>
          </p:nvSpPr>
          <p:spPr>
            <a:xfrm>
              <a:off x="1407543" y="5759818"/>
              <a:ext cx="7239000" cy="1569660"/>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True – HIPAA further delineates that all healthcare providers are considered “covered entities”</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1506746" y="4390846"/>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36784286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497457" y="1371600"/>
            <a:ext cx="8001000" cy="3809999"/>
          </a:xfrm>
        </p:spPr>
        <p:txBody>
          <a:bodyPr>
            <a:normAutofit/>
          </a:bodyPr>
          <a:lstStyle/>
          <a:p>
            <a:pPr marL="109728" indent="0">
              <a:spcAft>
                <a:spcPts val="1800"/>
              </a:spcAft>
              <a:buNone/>
            </a:pPr>
            <a:r>
              <a:rPr lang="en-US" sz="2400" b="1" dirty="0" smtClean="0"/>
              <a:t>HITECH strengthen the Breach Notification Rule by requiring the immediate notification (30 days) to HHS if more than 500 individuals were effected.</a:t>
            </a:r>
            <a:endParaRPr lang="en-US" sz="2300" b="1" dirty="0" smtClean="0"/>
          </a:p>
          <a:p>
            <a:pPr lvl="3">
              <a:spcAft>
                <a:spcPts val="1800"/>
              </a:spcAft>
              <a:buClrTx/>
              <a:buFont typeface="Wingdings" panose="05000000000000000000" pitchFamily="2" charset="2"/>
              <a:buChar char="q"/>
            </a:pPr>
            <a:r>
              <a:rPr lang="en-US" sz="2800" b="1" dirty="0" smtClean="0"/>
              <a:t>True</a:t>
            </a:r>
          </a:p>
          <a:p>
            <a:pPr lvl="3">
              <a:spcAft>
                <a:spcPts val="1800"/>
              </a:spcAft>
              <a:buClrTx/>
              <a:buFont typeface="Wingdings" panose="05000000000000000000" pitchFamily="2" charset="2"/>
              <a:buChar char="q"/>
            </a:pPr>
            <a:r>
              <a:rPr lang="en-US" sz="2800" b="1" dirty="0" smtClean="0"/>
              <a:t>False</a:t>
            </a:r>
          </a:p>
        </p:txBody>
      </p:sp>
      <p:grpSp>
        <p:nvGrpSpPr>
          <p:cNvPr id="3" name="Group 2"/>
          <p:cNvGrpSpPr/>
          <p:nvPr/>
        </p:nvGrpSpPr>
        <p:grpSpPr>
          <a:xfrm>
            <a:off x="1371600" y="3507828"/>
            <a:ext cx="7239000" cy="2569301"/>
            <a:chOff x="1407543" y="4390846"/>
            <a:chExt cx="7239000" cy="2569301"/>
          </a:xfrm>
        </p:grpSpPr>
        <p:sp>
          <p:nvSpPr>
            <p:cNvPr id="4" name="TextBox 3"/>
            <p:cNvSpPr txBox="1"/>
            <p:nvPr/>
          </p:nvSpPr>
          <p:spPr>
            <a:xfrm>
              <a:off x="1407543" y="5759818"/>
              <a:ext cx="7239000" cy="1200329"/>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True – Notification to HHS requires immediate notification (60 days).</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1506746" y="4390846"/>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22961870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310106" y="457200"/>
            <a:ext cx="8224294"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HIPAA - Administrative Simplification</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8"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36902" y="1620032"/>
            <a:ext cx="2232537" cy="1551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Rectangle 18"/>
          <p:cNvSpPr/>
          <p:nvPr/>
        </p:nvSpPr>
        <p:spPr>
          <a:xfrm>
            <a:off x="2490788" y="2209800"/>
            <a:ext cx="6119812" cy="3447098"/>
          </a:xfrm>
          <a:prstGeom prst="rect">
            <a:avLst/>
          </a:prstGeom>
        </p:spPr>
        <p:txBody>
          <a:bodyPr wrap="square">
            <a:spAutoFit/>
          </a:bodyPr>
          <a:lstStyle/>
          <a:p>
            <a:pPr marL="457200" indent="-457200">
              <a:buFont typeface="Wingdings" panose="05000000000000000000" pitchFamily="2" charset="2"/>
              <a:buChar char="q"/>
            </a:pPr>
            <a:endParaRPr lang="en-US" sz="3200" b="1" dirty="0"/>
          </a:p>
          <a:p>
            <a:pPr marL="457200" indent="-457200">
              <a:buFont typeface="Wingdings" panose="05000000000000000000" pitchFamily="2" charset="2"/>
              <a:buChar char="q"/>
            </a:pPr>
            <a:r>
              <a:rPr lang="en-US" sz="3600" b="1" i="1" dirty="0" smtClean="0">
                <a:solidFill>
                  <a:srgbClr val="FF0000"/>
                </a:solidFill>
              </a:rPr>
              <a:t>Privacy Rule</a:t>
            </a:r>
          </a:p>
          <a:p>
            <a:pPr marL="457200" indent="-457200">
              <a:buFont typeface="Wingdings" panose="05000000000000000000" pitchFamily="2" charset="2"/>
              <a:buChar char="q"/>
            </a:pPr>
            <a:r>
              <a:rPr lang="en-US" sz="3200" b="1" dirty="0"/>
              <a:t>Security </a:t>
            </a:r>
            <a:r>
              <a:rPr lang="en-US" sz="3200" b="1" dirty="0" smtClean="0"/>
              <a:t>Rule</a:t>
            </a:r>
          </a:p>
          <a:p>
            <a:pPr marL="457200" indent="-457200">
              <a:buFont typeface="Wingdings" panose="05000000000000000000" pitchFamily="2" charset="2"/>
              <a:buChar char="q"/>
            </a:pPr>
            <a:r>
              <a:rPr lang="en-US" b="1" dirty="0" smtClean="0"/>
              <a:t>Electronic Transactions and </a:t>
            </a:r>
          </a:p>
          <a:p>
            <a:r>
              <a:rPr lang="en-US" b="1" dirty="0"/>
              <a:t>C</a:t>
            </a:r>
            <a:r>
              <a:rPr lang="en-US" b="1" dirty="0" smtClean="0"/>
              <a:t>ode Set Rule</a:t>
            </a:r>
          </a:p>
          <a:p>
            <a:pPr marL="457200" indent="-457200">
              <a:buFont typeface="Wingdings" panose="05000000000000000000" pitchFamily="2" charset="2"/>
              <a:buChar char="q"/>
            </a:pPr>
            <a:r>
              <a:rPr lang="en-US" b="1" dirty="0" smtClean="0"/>
              <a:t>National Identifiers</a:t>
            </a:r>
          </a:p>
          <a:p>
            <a:pPr marL="457200" indent="-457200">
              <a:buFont typeface="Wingdings" panose="05000000000000000000" pitchFamily="2" charset="2"/>
              <a:buChar char="q"/>
            </a:pPr>
            <a:r>
              <a:rPr lang="en-US" sz="3200" b="1" dirty="0" smtClean="0"/>
              <a:t>Breach Notification Rule</a:t>
            </a:r>
          </a:p>
          <a:p>
            <a:pPr marL="457200" indent="-457200">
              <a:buFont typeface="Wingdings" panose="05000000000000000000" pitchFamily="2" charset="2"/>
              <a:buChar char="q"/>
            </a:pPr>
            <a:r>
              <a:rPr lang="en-US" sz="3200" b="1" dirty="0" smtClean="0"/>
              <a:t>Enforcement Rule</a:t>
            </a:r>
          </a:p>
        </p:txBody>
      </p:sp>
      <p:sp>
        <p:nvSpPr>
          <p:cNvPr id="3" name="Oval 2"/>
          <p:cNvSpPr/>
          <p:nvPr/>
        </p:nvSpPr>
        <p:spPr>
          <a:xfrm>
            <a:off x="741196" y="2471736"/>
            <a:ext cx="511974" cy="381000"/>
          </a:xfrm>
          <a:prstGeom prst="ellipse">
            <a:avLst/>
          </a:prstGeom>
          <a:noFill/>
          <a:ln>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descr="Files locked up with a chai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19800" y="1689343"/>
            <a:ext cx="1619250" cy="2047875"/>
          </a:xfrm>
          <a:prstGeom prst="rect">
            <a:avLst/>
          </a:prstGeom>
          <a:noFill/>
          <a:extLst>
            <a:ext uri="{909E8E84-426E-40DD-AFC4-6F175D3DCCD1}">
              <a14:hiddenFill xmlns:a14="http://schemas.microsoft.com/office/drawing/2010/main">
                <a:solidFill>
                  <a:srgbClr val="FFFFFF"/>
                </a:solidFill>
              </a14:hiddenFill>
            </a:ext>
          </a:extLst>
        </p:spPr>
      </p:pic>
      <p:sp>
        <p:nvSpPr>
          <p:cNvPr id="22" name="Content Placeholder 1"/>
          <p:cNvSpPr txBox="1">
            <a:spLocks/>
          </p:cNvSpPr>
          <p:nvPr/>
        </p:nvSpPr>
        <p:spPr>
          <a:xfrm>
            <a:off x="3377332" y="1736770"/>
            <a:ext cx="1371600" cy="658919"/>
          </a:xfrm>
          <a:prstGeom prst="rect">
            <a:avLst/>
          </a:prstGeom>
          <a:solidFill>
            <a:srgbClr val="00B0F0"/>
          </a:solidFill>
          <a:effectLst>
            <a:glow rad="101600">
              <a:schemeClr val="accent5">
                <a:satMod val="175000"/>
                <a:alpha val="40000"/>
              </a:schemeClr>
            </a:glow>
            <a:outerShdw blurRad="50800" dist="38100" dir="5400000" algn="t" rotWithShape="0">
              <a:prstClr val="black">
                <a:alpha val="40000"/>
              </a:prstClr>
            </a:outerShdw>
          </a:effectLst>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800" b="1" dirty="0" smtClean="0"/>
              <a:t>Patient Rights</a:t>
            </a:r>
            <a:endParaRPr lang="en-US" sz="1800" b="1" dirty="0"/>
          </a:p>
        </p:txBody>
      </p:sp>
    </p:spTree>
    <p:extLst>
      <p:ext uri="{BB962C8B-B14F-4D97-AF65-F5344CB8AC3E}">
        <p14:creationId xmlns:p14="http://schemas.microsoft.com/office/powerpoint/2010/main" val="20268310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30588"/>
            <a:ext cx="7924800" cy="5078313"/>
          </a:xfrm>
          <a:prstGeom prst="rect">
            <a:avLst/>
          </a:prstGeom>
        </p:spPr>
        <p:txBody>
          <a:bodyPr wrap="square">
            <a:spAutoFit/>
          </a:bodyPr>
          <a:lstStyle/>
          <a:p>
            <a:pPr marL="342900" indent="-342900">
              <a:buFont typeface="Wingdings" panose="05000000000000000000" pitchFamily="2" charset="2"/>
              <a:buChar char="q"/>
            </a:pPr>
            <a:r>
              <a:rPr lang="en-US" sz="2800" b="1" dirty="0" smtClean="0"/>
              <a:t>The overriding requirement of the Privacy Rule is to reasonably assure that individuals:</a:t>
            </a:r>
          </a:p>
          <a:p>
            <a:pPr marL="800100" lvl="1" indent="-342900">
              <a:buFont typeface="Wingdings" panose="05000000000000000000" pitchFamily="2" charset="2"/>
              <a:buChar char="§"/>
            </a:pPr>
            <a:r>
              <a:rPr lang="en-US" sz="2400" b="1" dirty="0" smtClean="0"/>
              <a:t>Understand their privacy rights</a:t>
            </a:r>
          </a:p>
          <a:p>
            <a:pPr marL="800100" lvl="1" indent="-342900">
              <a:buFont typeface="Wingdings" panose="05000000000000000000" pitchFamily="2" charset="2"/>
              <a:buChar char="§"/>
            </a:pPr>
            <a:r>
              <a:rPr lang="en-US" sz="2400" b="1" dirty="0" smtClean="0"/>
              <a:t>Are allowed access to their medical or claims records</a:t>
            </a:r>
          </a:p>
          <a:p>
            <a:pPr marL="800100" lvl="1" indent="-342900">
              <a:buFont typeface="Wingdings" panose="05000000000000000000" pitchFamily="2" charset="2"/>
              <a:buChar char="§"/>
            </a:pPr>
            <a:r>
              <a:rPr lang="en-US" sz="2400" b="1" dirty="0" smtClean="0"/>
              <a:t>Protects their rights to complain without fear of retaliation</a:t>
            </a:r>
          </a:p>
          <a:p>
            <a:pPr marL="800100" lvl="1" indent="-342900">
              <a:buFont typeface="Wingdings" panose="05000000000000000000" pitchFamily="2" charset="2"/>
              <a:buChar char="§"/>
            </a:pPr>
            <a:r>
              <a:rPr lang="en-US" sz="2400" b="1" dirty="0" smtClean="0"/>
              <a:t>Provides recourse if privacy protection is violated</a:t>
            </a:r>
          </a:p>
          <a:p>
            <a:pPr marL="800100" lvl="1" indent="-342900">
              <a:buFont typeface="Wingdings" panose="05000000000000000000" pitchFamily="2" charset="2"/>
              <a:buChar char="§"/>
            </a:pPr>
            <a:r>
              <a:rPr lang="en-US" sz="2400" b="1" dirty="0" smtClean="0"/>
              <a:t>Defines when a CE may or may not use or disclose patients PHI</a:t>
            </a:r>
          </a:p>
          <a:p>
            <a:pPr marL="342900" indent="-342900">
              <a:buFont typeface="Wingdings" panose="05000000000000000000" pitchFamily="2" charset="2"/>
              <a:buChar char="q"/>
            </a:pPr>
            <a:endParaRPr lang="en-US" sz="2400"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Privacy Rule Requirements</a:t>
            </a:r>
            <a:endParaRPr lang="en-US" sz="2000" dirty="0"/>
          </a:p>
        </p:txBody>
      </p:sp>
    </p:spTree>
    <p:extLst>
      <p:ext uri="{BB962C8B-B14F-4D97-AF65-F5344CB8AC3E}">
        <p14:creationId xmlns:p14="http://schemas.microsoft.com/office/powerpoint/2010/main" val="16375764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1295400"/>
            <a:ext cx="7010400" cy="5262979"/>
          </a:xfrm>
          <a:prstGeom prst="rect">
            <a:avLst/>
          </a:prstGeom>
        </p:spPr>
        <p:txBody>
          <a:bodyPr wrap="square">
            <a:spAutoFit/>
          </a:bodyPr>
          <a:lstStyle/>
          <a:p>
            <a:pPr marL="342900" indent="-342900">
              <a:buFont typeface="Wingdings" panose="05000000000000000000" pitchFamily="2" charset="2"/>
              <a:buChar char="q"/>
            </a:pPr>
            <a:r>
              <a:rPr lang="en-US" sz="2400" dirty="0" smtClean="0"/>
              <a:t>In addition the Rule is to provide privacy protection without hindering the quality of patient care</a:t>
            </a:r>
          </a:p>
          <a:p>
            <a:pPr marL="342900" indent="-342900">
              <a:buFont typeface="Wingdings" panose="05000000000000000000" pitchFamily="2" charset="2"/>
              <a:buChar char="q"/>
            </a:pPr>
            <a:r>
              <a:rPr lang="en-US" sz="2400" dirty="0" smtClean="0"/>
              <a:t>Certain provisions have become a matter of statute for Business Associates specifically with regard to the Use and Disclosure provisions</a:t>
            </a:r>
          </a:p>
          <a:p>
            <a:pPr marL="342900" indent="-342900">
              <a:buFont typeface="Wingdings" panose="05000000000000000000" pitchFamily="2" charset="2"/>
              <a:buChar char="q"/>
            </a:pPr>
            <a:r>
              <a:rPr lang="en-US" sz="2400" dirty="0" smtClean="0"/>
              <a:t>The development of policies, procedures and appropriate safeguards are required by the Privacy Rule</a:t>
            </a:r>
          </a:p>
          <a:p>
            <a:pPr marL="342900" indent="-342900">
              <a:buFont typeface="Wingdings" panose="05000000000000000000" pitchFamily="2" charset="2"/>
              <a:buChar char="q"/>
            </a:pPr>
            <a:r>
              <a:rPr lang="en-US" sz="2400" dirty="0" smtClean="0"/>
              <a:t>CE’s are now held responsible for working with other CE’s to address violations and breaches</a:t>
            </a:r>
          </a:p>
          <a:p>
            <a:pPr marL="342900" indent="-342900">
              <a:buFont typeface="Wingdings" panose="05000000000000000000" pitchFamily="2" charset="2"/>
              <a:buChar char="q"/>
            </a:pPr>
            <a:endParaRPr lang="en-US" sz="2400"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Privacy </a:t>
            </a:r>
            <a:r>
              <a:rPr lang="en-US" sz="3600" dirty="0"/>
              <a:t>Rule </a:t>
            </a:r>
            <a:r>
              <a:rPr lang="en-US" sz="3600" dirty="0" smtClean="0"/>
              <a:t>Requirements </a:t>
            </a:r>
            <a:r>
              <a:rPr lang="en-US" sz="2000" dirty="0" smtClean="0"/>
              <a:t>(</a:t>
            </a:r>
            <a:r>
              <a:rPr lang="en-US" sz="2000" dirty="0"/>
              <a:t>cont.)</a:t>
            </a:r>
          </a:p>
          <a:p>
            <a:pPr algn="l"/>
            <a:endParaRPr lang="en-US" sz="3600" dirty="0"/>
          </a:p>
        </p:txBody>
      </p:sp>
    </p:spTree>
    <p:extLst>
      <p:ext uri="{BB962C8B-B14F-4D97-AF65-F5344CB8AC3E}">
        <p14:creationId xmlns:p14="http://schemas.microsoft.com/office/powerpoint/2010/main" val="1254881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219198"/>
            <a:ext cx="7443158" cy="5401479"/>
          </a:xfrm>
          <a:prstGeom prst="rect">
            <a:avLst/>
          </a:prstGeom>
        </p:spPr>
        <p:txBody>
          <a:bodyPr wrap="square">
            <a:spAutoFit/>
          </a:bodyPr>
          <a:lstStyle/>
          <a:p>
            <a:pPr marL="342900" indent="-342900">
              <a:buFont typeface="Wingdings" panose="05000000000000000000" pitchFamily="2" charset="2"/>
              <a:buChar char="q"/>
            </a:pPr>
            <a:r>
              <a:rPr lang="en-US" sz="2300" dirty="0" smtClean="0"/>
              <a:t>General Principle for Uses and Disclosures</a:t>
            </a:r>
          </a:p>
          <a:p>
            <a:pPr marL="342900" indent="-342900">
              <a:buFont typeface="Wingdings" panose="05000000000000000000" pitchFamily="2" charset="2"/>
              <a:buChar char="q"/>
            </a:pPr>
            <a:r>
              <a:rPr lang="en-US" sz="2300" b="1" i="1" dirty="0" smtClean="0"/>
              <a:t>Permitted Uses and Disclosures</a:t>
            </a:r>
          </a:p>
          <a:p>
            <a:pPr marL="342900" indent="-342900">
              <a:buFont typeface="Wingdings" panose="05000000000000000000" pitchFamily="2" charset="2"/>
              <a:buChar char="q"/>
            </a:pPr>
            <a:r>
              <a:rPr lang="en-US" sz="2300" b="1" i="1" dirty="0" smtClean="0"/>
              <a:t>Authorized Uses and Disclosures</a:t>
            </a:r>
          </a:p>
          <a:p>
            <a:pPr marL="342900" indent="-342900">
              <a:buFont typeface="Wingdings" panose="05000000000000000000" pitchFamily="2" charset="2"/>
              <a:buChar char="q"/>
            </a:pPr>
            <a:r>
              <a:rPr lang="en-US" sz="2300" b="1" i="1" dirty="0" smtClean="0"/>
              <a:t>Limiting Uses and Disclosures to the      Minimum Necessary</a:t>
            </a:r>
          </a:p>
          <a:p>
            <a:pPr marL="342900" indent="-342900">
              <a:buFont typeface="Wingdings" panose="05000000000000000000" pitchFamily="2" charset="2"/>
              <a:buChar char="q"/>
            </a:pPr>
            <a:r>
              <a:rPr lang="en-US" sz="2300" dirty="0" smtClean="0"/>
              <a:t>Notice and Other Individual Rights</a:t>
            </a:r>
          </a:p>
          <a:p>
            <a:pPr marL="342900" indent="-342900">
              <a:buFont typeface="Wingdings" panose="05000000000000000000" pitchFamily="2" charset="2"/>
              <a:buChar char="q"/>
            </a:pPr>
            <a:r>
              <a:rPr lang="en-US" sz="2300" dirty="0" smtClean="0"/>
              <a:t>Administrative Requirements</a:t>
            </a:r>
          </a:p>
          <a:p>
            <a:pPr marL="342900" indent="-342900">
              <a:buFont typeface="Wingdings" panose="05000000000000000000" pitchFamily="2" charset="2"/>
              <a:buChar char="q"/>
            </a:pPr>
            <a:r>
              <a:rPr lang="en-US" sz="2300" dirty="0" smtClean="0"/>
              <a:t>Organizational Options</a:t>
            </a:r>
          </a:p>
          <a:p>
            <a:pPr marL="342900" indent="-342900">
              <a:buFont typeface="Wingdings" panose="05000000000000000000" pitchFamily="2" charset="2"/>
              <a:buChar char="q"/>
            </a:pPr>
            <a:r>
              <a:rPr lang="en-US" sz="2300" dirty="0" smtClean="0"/>
              <a:t>Other Provisions: </a:t>
            </a:r>
          </a:p>
          <a:p>
            <a:pPr marL="800100" lvl="1" indent="-342900">
              <a:buFont typeface="Wingdings" panose="05000000000000000000" pitchFamily="2" charset="2"/>
              <a:buChar char="§"/>
            </a:pPr>
            <a:r>
              <a:rPr lang="en-US" sz="2300" dirty="0" smtClean="0"/>
              <a:t>Personal Representatives and Minors</a:t>
            </a:r>
          </a:p>
          <a:p>
            <a:pPr marL="800100" lvl="1" indent="-342900">
              <a:buFont typeface="Wingdings" panose="05000000000000000000" pitchFamily="2" charset="2"/>
              <a:buChar char="§"/>
            </a:pPr>
            <a:r>
              <a:rPr lang="en-US" sz="2300" dirty="0" smtClean="0"/>
              <a:t>State Law</a:t>
            </a:r>
          </a:p>
          <a:p>
            <a:pPr marL="800100" lvl="1" indent="-342900">
              <a:buFont typeface="Wingdings" panose="05000000000000000000" pitchFamily="2" charset="2"/>
              <a:buChar char="§"/>
            </a:pPr>
            <a:r>
              <a:rPr lang="en-US" sz="2300" dirty="0" smtClean="0"/>
              <a:t>Enforcement and Penalties for Noncompliance</a:t>
            </a:r>
          </a:p>
          <a:p>
            <a:pPr marL="800100" lvl="1" indent="-342900">
              <a:buFont typeface="Wingdings" panose="05000000000000000000" pitchFamily="2" charset="2"/>
              <a:buChar char="§"/>
            </a:pPr>
            <a:r>
              <a:rPr lang="en-US" sz="2300" dirty="0" smtClean="0"/>
              <a:t>Compliance Dates</a:t>
            </a:r>
          </a:p>
          <a:p>
            <a:pPr marL="342900" indent="-342900">
              <a:buFont typeface="Wingdings" panose="05000000000000000000" pitchFamily="2" charset="2"/>
              <a:buChar char="q"/>
            </a:pPr>
            <a:endParaRPr lang="en-US" sz="2300"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Privacy Rule Provisions</a:t>
            </a:r>
            <a:endParaRPr lang="en-US" sz="3600" dirty="0"/>
          </a:p>
        </p:txBody>
      </p:sp>
      <p:sp>
        <p:nvSpPr>
          <p:cNvPr id="4" name="TextBox 3"/>
          <p:cNvSpPr txBox="1"/>
          <p:nvPr/>
        </p:nvSpPr>
        <p:spPr>
          <a:xfrm>
            <a:off x="5129842" y="5714999"/>
            <a:ext cx="3124200" cy="461665"/>
          </a:xfrm>
          <a:prstGeom prst="rect">
            <a:avLst/>
          </a:prstGeom>
          <a:noFill/>
        </p:spPr>
        <p:txBody>
          <a:bodyPr wrap="square" rtlCol="0">
            <a:spAutoFit/>
          </a:bodyPr>
          <a:lstStyle/>
          <a:p>
            <a:r>
              <a:rPr lang="en-US" sz="1200" b="1" dirty="0" smtClean="0"/>
              <a:t>http://www.hhs.gov/ocr/privacy/hipaa/understanding/summary</a:t>
            </a:r>
            <a:endParaRPr lang="en-US" sz="1200" b="1" dirty="0"/>
          </a:p>
        </p:txBody>
      </p:sp>
      <p:sp>
        <p:nvSpPr>
          <p:cNvPr id="5" name="Right Brace 4"/>
          <p:cNvSpPr/>
          <p:nvPr/>
        </p:nvSpPr>
        <p:spPr>
          <a:xfrm>
            <a:off x="6677926" y="1697966"/>
            <a:ext cx="291142" cy="1197634"/>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7125419" y="2007462"/>
            <a:ext cx="1371600" cy="584775"/>
          </a:xfrm>
          <a:prstGeom prst="rect">
            <a:avLst/>
          </a:prstGeom>
          <a:noFill/>
        </p:spPr>
        <p:txBody>
          <a:bodyPr wrap="square" rtlCol="0">
            <a:spAutoFit/>
          </a:bodyPr>
          <a:lstStyle/>
          <a:p>
            <a:pPr algn="ctr"/>
            <a:r>
              <a:rPr lang="en-US" sz="1600" b="1" dirty="0" smtClean="0"/>
              <a:t>Uses and Disclosures</a:t>
            </a:r>
            <a:endParaRPr lang="en-US" sz="1600" b="1" dirty="0"/>
          </a:p>
        </p:txBody>
      </p:sp>
    </p:spTree>
    <p:extLst>
      <p:ext uri="{BB962C8B-B14F-4D97-AF65-F5344CB8AC3E}">
        <p14:creationId xmlns:p14="http://schemas.microsoft.com/office/powerpoint/2010/main" val="166120511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247951"/>
            <a:ext cx="7772400" cy="4893647"/>
          </a:xfrm>
          <a:prstGeom prst="rect">
            <a:avLst/>
          </a:prstGeom>
        </p:spPr>
        <p:txBody>
          <a:bodyPr wrap="square">
            <a:spAutoFit/>
          </a:bodyPr>
          <a:lstStyle/>
          <a:p>
            <a:pPr marL="342900" indent="-342900">
              <a:buFont typeface="Wingdings" panose="05000000000000000000" pitchFamily="2" charset="2"/>
              <a:buChar char="§"/>
            </a:pPr>
            <a:r>
              <a:rPr lang="en-US" sz="2400" dirty="0" smtClean="0"/>
              <a:t>Basic Principle</a:t>
            </a:r>
          </a:p>
          <a:p>
            <a:pPr marL="800100" lvl="1" indent="-342900">
              <a:buFont typeface="Wingdings" panose="05000000000000000000" pitchFamily="2" charset="2"/>
              <a:buChar char="§"/>
            </a:pPr>
            <a:r>
              <a:rPr lang="en-US" sz="2400" dirty="0" smtClean="0"/>
              <a:t>CE’s may not use or disclose individual’s PHI except:</a:t>
            </a:r>
          </a:p>
          <a:p>
            <a:pPr marL="1257300" lvl="2" indent="-342900">
              <a:buFont typeface="Wingdings" panose="05000000000000000000" pitchFamily="2" charset="2"/>
              <a:buChar char="§"/>
            </a:pPr>
            <a:r>
              <a:rPr lang="en-US" sz="2400" dirty="0" smtClean="0"/>
              <a:t>As the Privacy Rule permits or requires</a:t>
            </a:r>
          </a:p>
          <a:p>
            <a:pPr marL="1257300" lvl="2" indent="-342900">
              <a:buFont typeface="Wingdings" panose="05000000000000000000" pitchFamily="2" charset="2"/>
              <a:buChar char="§"/>
            </a:pPr>
            <a:r>
              <a:rPr lang="en-US" sz="2400" dirty="0" smtClean="0"/>
              <a:t>As the individual who is subject to the information authorizes in writing</a:t>
            </a:r>
          </a:p>
          <a:p>
            <a:pPr marL="342900" indent="-342900">
              <a:buFont typeface="Wingdings" panose="05000000000000000000" pitchFamily="2" charset="2"/>
              <a:buChar char="§"/>
            </a:pPr>
            <a:r>
              <a:rPr lang="en-US" sz="2400" dirty="0" smtClean="0"/>
              <a:t>Required Disclosure</a:t>
            </a:r>
          </a:p>
          <a:p>
            <a:pPr marL="800100" lvl="1" indent="-342900">
              <a:buFont typeface="Wingdings" panose="05000000000000000000" pitchFamily="2" charset="2"/>
              <a:buChar char="§"/>
            </a:pPr>
            <a:r>
              <a:rPr lang="en-US" sz="2400" dirty="0" smtClean="0"/>
              <a:t>A CE </a:t>
            </a:r>
            <a:r>
              <a:rPr lang="en-US" sz="2400" b="1" dirty="0" smtClean="0"/>
              <a:t>must</a:t>
            </a:r>
            <a:r>
              <a:rPr lang="en-US" sz="2400" dirty="0" smtClean="0"/>
              <a:t> disclose PHI in only two situations:</a:t>
            </a:r>
          </a:p>
          <a:p>
            <a:pPr marL="1257300" lvl="2" indent="-342900">
              <a:buFont typeface="Wingdings" panose="05000000000000000000" pitchFamily="2" charset="2"/>
              <a:buChar char="§"/>
            </a:pPr>
            <a:r>
              <a:rPr lang="en-US" sz="2400" dirty="0" smtClean="0"/>
              <a:t>The individual – when they </a:t>
            </a:r>
            <a:r>
              <a:rPr lang="en-US" sz="2400" b="1" dirty="0" smtClean="0"/>
              <a:t>request</a:t>
            </a:r>
            <a:r>
              <a:rPr lang="en-US" sz="2400" dirty="0" smtClean="0"/>
              <a:t> access to, or an accounting of disclosures</a:t>
            </a:r>
          </a:p>
          <a:p>
            <a:pPr marL="1257300" lvl="2" indent="-342900">
              <a:buFont typeface="Wingdings" panose="05000000000000000000" pitchFamily="2" charset="2"/>
              <a:buChar char="§"/>
            </a:pPr>
            <a:r>
              <a:rPr lang="en-US" sz="2400" dirty="0" smtClean="0"/>
              <a:t>To HHS – when it is undertaking a compliance investigation or review or enforcement action</a:t>
            </a:r>
          </a:p>
        </p:txBody>
      </p:sp>
      <p:sp>
        <p:nvSpPr>
          <p:cNvPr id="3" name="Title 1"/>
          <p:cNvSpPr txBox="1">
            <a:spLocks/>
          </p:cNvSpPr>
          <p:nvPr/>
        </p:nvSpPr>
        <p:spPr>
          <a:xfrm>
            <a:off x="457200" y="393940"/>
            <a:ext cx="7467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General Principle – </a:t>
            </a:r>
            <a:r>
              <a:rPr lang="en-US" sz="2000" dirty="0" smtClean="0"/>
              <a:t>Uses and Disclosures</a:t>
            </a:r>
            <a:endParaRPr lang="en-US" sz="2000" dirty="0"/>
          </a:p>
        </p:txBody>
      </p:sp>
    </p:spTree>
    <p:extLst>
      <p:ext uri="{BB962C8B-B14F-4D97-AF65-F5344CB8AC3E}">
        <p14:creationId xmlns:p14="http://schemas.microsoft.com/office/powerpoint/2010/main" val="33437648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5966" y="2133600"/>
            <a:ext cx="7619999" cy="4001095"/>
          </a:xfrm>
          <a:prstGeom prst="rect">
            <a:avLst/>
          </a:prstGeom>
        </p:spPr>
        <p:txBody>
          <a:bodyPr wrap="square">
            <a:spAutoFit/>
          </a:bodyPr>
          <a:lstStyle/>
          <a:p>
            <a:pPr marL="457200" indent="-457200">
              <a:buFont typeface="Wingdings" panose="05000000000000000000" pitchFamily="2" charset="2"/>
              <a:buChar char="§"/>
            </a:pPr>
            <a:r>
              <a:rPr lang="en-US" sz="2400" dirty="0" smtClean="0"/>
              <a:t>To the individual</a:t>
            </a:r>
          </a:p>
          <a:p>
            <a:pPr marL="457200" indent="-457200">
              <a:buFont typeface="Wingdings" panose="05000000000000000000" pitchFamily="2" charset="2"/>
              <a:buChar char="§"/>
            </a:pPr>
            <a:r>
              <a:rPr lang="en-US" sz="2400" dirty="0" smtClean="0"/>
              <a:t>Treatment, payment, healthcare operations (TPO)</a:t>
            </a:r>
          </a:p>
          <a:p>
            <a:pPr marL="457200" indent="-457200">
              <a:buFont typeface="Wingdings" panose="05000000000000000000" pitchFamily="2" charset="2"/>
              <a:buChar char="§"/>
            </a:pPr>
            <a:r>
              <a:rPr lang="en-US" sz="2400" dirty="0" smtClean="0"/>
              <a:t>Uses and disclosures with opportunity to </a:t>
            </a:r>
            <a:r>
              <a:rPr lang="en-US" sz="2600" dirty="0" smtClean="0"/>
              <a:t>agree or object </a:t>
            </a:r>
            <a:r>
              <a:rPr lang="en-US" i="1" dirty="0" smtClean="0"/>
              <a:t>(informal permission or when individual is incapacitated)</a:t>
            </a:r>
          </a:p>
          <a:p>
            <a:pPr marL="457200" indent="-457200">
              <a:buFont typeface="Wingdings" panose="05000000000000000000" pitchFamily="2" charset="2"/>
              <a:buChar char="§"/>
            </a:pPr>
            <a:r>
              <a:rPr lang="en-US" sz="2400" dirty="0" smtClean="0"/>
              <a:t>Incidental Use and Disclosure</a:t>
            </a:r>
          </a:p>
          <a:p>
            <a:pPr marL="457200" indent="-457200">
              <a:buFont typeface="Wingdings" panose="05000000000000000000" pitchFamily="2" charset="2"/>
              <a:buChar char="§"/>
            </a:pPr>
            <a:r>
              <a:rPr lang="en-US" sz="2400" dirty="0" smtClean="0"/>
              <a:t>Public interest and benefit activities &gt; </a:t>
            </a:r>
            <a:r>
              <a:rPr lang="en-US" sz="2400" i="1" dirty="0" smtClean="0"/>
              <a:t>see list*</a:t>
            </a:r>
          </a:p>
          <a:p>
            <a:pPr marL="457200" indent="-457200">
              <a:buFont typeface="Wingdings" panose="05000000000000000000" pitchFamily="2" charset="2"/>
              <a:buChar char="§"/>
            </a:pPr>
            <a:r>
              <a:rPr lang="en-US" sz="2400" dirty="0" smtClean="0"/>
              <a:t>Limited data sets – PHI with specified direct identifiers removed of </a:t>
            </a:r>
            <a:r>
              <a:rPr lang="en-US" b="1" i="1" dirty="0" smtClean="0"/>
              <a:t>individuals, relatives, household members, employers, etc.</a:t>
            </a:r>
          </a:p>
        </p:txBody>
      </p:sp>
      <p:sp>
        <p:nvSpPr>
          <p:cNvPr id="3" name="Title 1"/>
          <p:cNvSpPr txBox="1">
            <a:spLocks/>
          </p:cNvSpPr>
          <p:nvPr/>
        </p:nvSpPr>
        <p:spPr>
          <a:xfrm>
            <a:off x="457200" y="393940"/>
            <a:ext cx="76200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Permitted Uses and Disclosures</a:t>
            </a:r>
            <a:endParaRPr lang="en-US" sz="3600" dirty="0"/>
          </a:p>
        </p:txBody>
      </p:sp>
      <p:sp>
        <p:nvSpPr>
          <p:cNvPr id="4" name="Rectangle 3"/>
          <p:cNvSpPr/>
          <p:nvPr/>
        </p:nvSpPr>
        <p:spPr>
          <a:xfrm>
            <a:off x="646982" y="1224937"/>
            <a:ext cx="8000998" cy="830997"/>
          </a:xfrm>
          <a:prstGeom prst="rect">
            <a:avLst/>
          </a:prstGeom>
        </p:spPr>
        <p:txBody>
          <a:bodyPr wrap="square">
            <a:spAutoFit/>
          </a:bodyPr>
          <a:lstStyle/>
          <a:p>
            <a:pPr algn="just"/>
            <a:r>
              <a:rPr lang="en-US" sz="2400" b="1" dirty="0" smtClean="0"/>
              <a:t>A CE is permitted, but not required to use and disclose PHI without authorization for the following:</a:t>
            </a:r>
            <a:endParaRPr lang="en-US" sz="2400" b="1" dirty="0"/>
          </a:p>
        </p:txBody>
      </p:sp>
    </p:spTree>
    <p:extLst>
      <p:ext uri="{BB962C8B-B14F-4D97-AF65-F5344CB8AC3E}">
        <p14:creationId xmlns:p14="http://schemas.microsoft.com/office/powerpoint/2010/main" val="138299520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295400"/>
            <a:ext cx="7999562" cy="4893647"/>
          </a:xfrm>
          <a:prstGeom prst="rect">
            <a:avLst/>
          </a:prstGeom>
        </p:spPr>
        <p:txBody>
          <a:bodyPr wrap="square">
            <a:spAutoFit/>
          </a:bodyPr>
          <a:lstStyle/>
          <a:p>
            <a:pPr marL="457200" indent="-457200">
              <a:buFont typeface="Arial" panose="020B0604020202020204" pitchFamily="34" charset="0"/>
              <a:buChar char="•"/>
            </a:pPr>
            <a:r>
              <a:rPr lang="en-US" sz="2400" i="1" dirty="0" smtClean="0"/>
              <a:t>Required by Law</a:t>
            </a:r>
          </a:p>
          <a:p>
            <a:pPr marL="457200" indent="-457200">
              <a:buFont typeface="Arial" panose="020B0604020202020204" pitchFamily="34" charset="0"/>
              <a:buChar char="•"/>
            </a:pPr>
            <a:r>
              <a:rPr lang="en-US" sz="2400" i="1" dirty="0" smtClean="0"/>
              <a:t>Public Health Activities</a:t>
            </a:r>
          </a:p>
          <a:p>
            <a:pPr marL="457200" indent="-457200">
              <a:buFont typeface="Arial" panose="020B0604020202020204" pitchFamily="34" charset="0"/>
              <a:buChar char="•"/>
            </a:pPr>
            <a:r>
              <a:rPr lang="en-US" sz="2400" i="1" dirty="0" smtClean="0"/>
              <a:t>Victims of Abuse, Neglect or Domestic Violence</a:t>
            </a:r>
          </a:p>
          <a:p>
            <a:pPr marL="457200" indent="-457200">
              <a:buFont typeface="Arial" panose="020B0604020202020204" pitchFamily="34" charset="0"/>
              <a:buChar char="•"/>
            </a:pPr>
            <a:r>
              <a:rPr lang="en-US" sz="2400" i="1" dirty="0" smtClean="0"/>
              <a:t>Health Oversight Activities</a:t>
            </a:r>
          </a:p>
          <a:p>
            <a:pPr marL="457200" indent="-457200">
              <a:buFont typeface="Arial" panose="020B0604020202020204" pitchFamily="34" charset="0"/>
              <a:buChar char="•"/>
            </a:pPr>
            <a:r>
              <a:rPr lang="en-US" sz="2400" i="1" dirty="0" smtClean="0"/>
              <a:t>Judicial and Administrative Proceedings</a:t>
            </a:r>
          </a:p>
          <a:p>
            <a:pPr marL="457200" indent="-457200">
              <a:buFont typeface="Arial" panose="020B0604020202020204" pitchFamily="34" charset="0"/>
              <a:buChar char="•"/>
            </a:pPr>
            <a:r>
              <a:rPr lang="en-US" sz="2400" i="1" dirty="0" smtClean="0"/>
              <a:t>Law Enforcement Purposes</a:t>
            </a:r>
          </a:p>
          <a:p>
            <a:pPr marL="457200" indent="-457200">
              <a:buFont typeface="Arial" panose="020B0604020202020204" pitchFamily="34" charset="0"/>
              <a:buChar char="•"/>
            </a:pPr>
            <a:r>
              <a:rPr lang="en-US" sz="2400" i="1" dirty="0" smtClean="0"/>
              <a:t>Decedents</a:t>
            </a:r>
          </a:p>
          <a:p>
            <a:pPr marL="457200" indent="-457200">
              <a:buFont typeface="Arial" panose="020B0604020202020204" pitchFamily="34" charset="0"/>
              <a:buChar char="•"/>
            </a:pPr>
            <a:r>
              <a:rPr lang="en-US" sz="2400" i="1" dirty="0" smtClean="0"/>
              <a:t>Cadaveric Organ, Eye or Tissue Donation</a:t>
            </a:r>
          </a:p>
          <a:p>
            <a:pPr marL="457200" indent="-457200">
              <a:buFont typeface="Arial" panose="020B0604020202020204" pitchFamily="34" charset="0"/>
              <a:buChar char="•"/>
            </a:pPr>
            <a:r>
              <a:rPr lang="en-US" sz="2400" i="1" dirty="0" smtClean="0"/>
              <a:t>Research</a:t>
            </a:r>
          </a:p>
          <a:p>
            <a:pPr marL="457200" indent="-457200">
              <a:buFont typeface="Arial" panose="020B0604020202020204" pitchFamily="34" charset="0"/>
              <a:buChar char="•"/>
            </a:pPr>
            <a:r>
              <a:rPr lang="en-US" sz="2400" i="1" dirty="0" smtClean="0"/>
              <a:t>Serious Threat to Health or Safety</a:t>
            </a:r>
          </a:p>
          <a:p>
            <a:pPr marL="457200" indent="-457200">
              <a:buFont typeface="Arial" panose="020B0604020202020204" pitchFamily="34" charset="0"/>
              <a:buChar char="•"/>
            </a:pPr>
            <a:r>
              <a:rPr lang="en-US" sz="2400" i="1" dirty="0" smtClean="0"/>
              <a:t>Essential Government Functions</a:t>
            </a:r>
          </a:p>
          <a:p>
            <a:pPr marL="457200" indent="-457200">
              <a:buFont typeface="Arial" panose="020B0604020202020204" pitchFamily="34" charset="0"/>
              <a:buChar char="•"/>
            </a:pPr>
            <a:r>
              <a:rPr lang="en-US" sz="2400" i="1" dirty="0" smtClean="0"/>
              <a:t>Worker’s Compensation</a:t>
            </a:r>
          </a:p>
          <a:p>
            <a:pPr marL="457200" indent="-457200">
              <a:buFont typeface="+mj-lt"/>
              <a:buAutoNum type="alphaLcParenR"/>
            </a:pPr>
            <a:endParaRPr lang="en-US" sz="2400" dirty="0" smtClean="0"/>
          </a:p>
        </p:txBody>
      </p:sp>
      <p:sp>
        <p:nvSpPr>
          <p:cNvPr id="3" name="Title 1"/>
          <p:cNvSpPr txBox="1">
            <a:spLocks/>
          </p:cNvSpPr>
          <p:nvPr/>
        </p:nvSpPr>
        <p:spPr>
          <a:xfrm>
            <a:off x="457200" y="393940"/>
            <a:ext cx="8228162"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*List of </a:t>
            </a:r>
            <a:r>
              <a:rPr lang="en-US" sz="2800" i="1" dirty="0" smtClean="0"/>
              <a:t>Public Interest and Benefit Activities</a:t>
            </a:r>
            <a:endParaRPr lang="en-US" sz="2800" i="1" dirty="0"/>
          </a:p>
        </p:txBody>
      </p:sp>
    </p:spTree>
    <p:extLst>
      <p:ext uri="{BB962C8B-B14F-4D97-AF65-F5344CB8AC3E}">
        <p14:creationId xmlns:p14="http://schemas.microsoft.com/office/powerpoint/2010/main" val="391130726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3694" y="1524000"/>
            <a:ext cx="7848600" cy="4585871"/>
          </a:xfrm>
          <a:prstGeom prst="rect">
            <a:avLst/>
          </a:prstGeom>
        </p:spPr>
        <p:txBody>
          <a:bodyPr wrap="square">
            <a:spAutoFit/>
          </a:bodyPr>
          <a:lstStyle/>
          <a:p>
            <a:pPr marL="914400" lvl="1" indent="-457200">
              <a:buFont typeface="Wingdings" panose="05000000000000000000" pitchFamily="2" charset="2"/>
              <a:buChar char="§"/>
            </a:pPr>
            <a:r>
              <a:rPr lang="en-US" sz="2400" b="1" dirty="0" smtClean="0"/>
              <a:t>Authorization</a:t>
            </a:r>
            <a:r>
              <a:rPr lang="en-US" sz="2400" dirty="0" smtClean="0"/>
              <a:t> – CE must obtain written authorization for use of PHI for non-TPO use- must be written in specific terms and include information to be disclosed, person disclosing and receiving information, expiration, and right to revoke, etc.</a:t>
            </a:r>
          </a:p>
          <a:p>
            <a:pPr marL="914400" lvl="1" indent="-457200">
              <a:buFont typeface="Wingdings" panose="05000000000000000000" pitchFamily="2" charset="2"/>
              <a:buChar char="§"/>
            </a:pPr>
            <a:r>
              <a:rPr lang="en-US" sz="2400" b="1" dirty="0" smtClean="0"/>
              <a:t>Psychotherapy Notes </a:t>
            </a:r>
            <a:r>
              <a:rPr lang="en-US" sz="2400" dirty="0" smtClean="0"/>
              <a:t>– individual authorization is required except for limited circumstances</a:t>
            </a:r>
          </a:p>
          <a:p>
            <a:pPr marL="914400" lvl="1" indent="-457200">
              <a:buFont typeface="Wingdings" panose="05000000000000000000" pitchFamily="2" charset="2"/>
              <a:buChar char="§"/>
            </a:pPr>
            <a:r>
              <a:rPr lang="en-US" sz="2400" b="1" dirty="0" smtClean="0"/>
              <a:t>Marketing</a:t>
            </a:r>
            <a:r>
              <a:rPr lang="en-US" sz="2400" dirty="0" smtClean="0"/>
              <a:t> – individual authorization is required except for limited circumstances</a:t>
            </a:r>
          </a:p>
          <a:p>
            <a:pPr marL="457200" indent="-457200">
              <a:buFont typeface="Wingdings" panose="05000000000000000000" pitchFamily="2" charset="2"/>
              <a:buChar char="§"/>
            </a:pPr>
            <a:endParaRPr lang="en-US" sz="2800" dirty="0" smtClean="0"/>
          </a:p>
        </p:txBody>
      </p:sp>
      <p:sp>
        <p:nvSpPr>
          <p:cNvPr id="3" name="Title 1"/>
          <p:cNvSpPr txBox="1">
            <a:spLocks/>
          </p:cNvSpPr>
          <p:nvPr/>
        </p:nvSpPr>
        <p:spPr>
          <a:xfrm>
            <a:off x="382438" y="324928"/>
            <a:ext cx="8304362"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Authorized Uses and Disclosures</a:t>
            </a:r>
            <a:endParaRPr lang="en-US" sz="3000" dirty="0"/>
          </a:p>
        </p:txBody>
      </p:sp>
    </p:spTree>
    <p:extLst>
      <p:ext uri="{BB962C8B-B14F-4D97-AF65-F5344CB8AC3E}">
        <p14:creationId xmlns:p14="http://schemas.microsoft.com/office/powerpoint/2010/main" val="21058657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52246" y="152400"/>
            <a:ext cx="8304362" cy="9144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Limiting Uses and Disclosures to the Minimum Necessary</a:t>
            </a:r>
            <a:endParaRPr lang="en-US" sz="3000" dirty="0"/>
          </a:p>
        </p:txBody>
      </p:sp>
      <p:sp>
        <p:nvSpPr>
          <p:cNvPr id="5" name="Rectangle 4"/>
          <p:cNvSpPr/>
          <p:nvPr/>
        </p:nvSpPr>
        <p:spPr>
          <a:xfrm>
            <a:off x="503927" y="2743200"/>
            <a:ext cx="8001000" cy="3847207"/>
          </a:xfrm>
          <a:prstGeom prst="rect">
            <a:avLst/>
          </a:prstGeom>
        </p:spPr>
        <p:txBody>
          <a:bodyPr wrap="square">
            <a:spAutoFit/>
          </a:bodyPr>
          <a:lstStyle/>
          <a:p>
            <a:pPr marL="914400" lvl="1" indent="-457200">
              <a:buFont typeface="Courier New" panose="02070309020205020404" pitchFamily="49" charset="0"/>
              <a:buChar char="o"/>
            </a:pPr>
            <a:r>
              <a:rPr lang="en-US" sz="2000" b="1" dirty="0" smtClean="0"/>
              <a:t>Minimum Necessary </a:t>
            </a:r>
            <a:r>
              <a:rPr lang="en-US" sz="2000" dirty="0" smtClean="0"/>
              <a:t>– policies and procedures required defining implementation</a:t>
            </a:r>
          </a:p>
          <a:p>
            <a:pPr marL="914400" lvl="1" indent="-457200">
              <a:buFont typeface="Courier New" panose="02070309020205020404" pitchFamily="49" charset="0"/>
              <a:buChar char="o"/>
            </a:pPr>
            <a:r>
              <a:rPr lang="en-US" sz="2000" b="1" dirty="0" smtClean="0"/>
              <a:t>Access and Uses </a:t>
            </a:r>
            <a:r>
              <a:rPr lang="en-US" sz="2000" dirty="0" smtClean="0"/>
              <a:t>– for internal use, policies and procedures required to restrict access to specific workforce roles</a:t>
            </a:r>
          </a:p>
          <a:p>
            <a:pPr marL="914400" lvl="1" indent="-457200">
              <a:buFont typeface="Courier New" panose="02070309020205020404" pitchFamily="49" charset="0"/>
              <a:buChar char="o"/>
            </a:pPr>
            <a:r>
              <a:rPr lang="en-US" sz="2000" b="1" dirty="0" smtClean="0"/>
              <a:t>Disclosures and Request for Disclosures </a:t>
            </a:r>
            <a:r>
              <a:rPr lang="en-US" sz="2000" dirty="0" smtClean="0"/>
              <a:t>– policies and procedures required for routine, recurring disclosures, or requests for disclosures</a:t>
            </a:r>
          </a:p>
          <a:p>
            <a:pPr marL="914400" lvl="1" indent="-457200">
              <a:buFont typeface="Courier New" panose="02070309020205020404" pitchFamily="49" charset="0"/>
              <a:buChar char="o"/>
            </a:pPr>
            <a:r>
              <a:rPr lang="en-US" sz="2000" b="1" dirty="0" smtClean="0"/>
              <a:t>Reasonable Reliance </a:t>
            </a:r>
            <a:r>
              <a:rPr lang="en-US" sz="2000" dirty="0" smtClean="0"/>
              <a:t>– If requested by another CE, CE may rely upon assertion that other CE has requested PHI utilizing principal of “Minimum Necessary”</a:t>
            </a:r>
          </a:p>
          <a:p>
            <a:endParaRPr lang="en-US" sz="2400" dirty="0" smtClean="0"/>
          </a:p>
        </p:txBody>
      </p:sp>
      <p:sp>
        <p:nvSpPr>
          <p:cNvPr id="6" name="Rectangle 5"/>
          <p:cNvSpPr/>
          <p:nvPr/>
        </p:nvSpPr>
        <p:spPr>
          <a:xfrm>
            <a:off x="598098" y="1234299"/>
            <a:ext cx="7696200" cy="1323439"/>
          </a:xfrm>
          <a:prstGeom prst="rect">
            <a:avLst/>
          </a:prstGeom>
        </p:spPr>
        <p:txBody>
          <a:bodyPr wrap="square">
            <a:spAutoFit/>
          </a:bodyPr>
          <a:lstStyle/>
          <a:p>
            <a:pPr lvl="1"/>
            <a:r>
              <a:rPr lang="en-US" sz="2000" b="1" dirty="0" smtClean="0"/>
              <a:t>The principle of “Minimum Necessary” requires a CE to make reasonable efforts to use, disclose, and request only the minimum amount of PHI needed to accomplish the </a:t>
            </a:r>
            <a:r>
              <a:rPr lang="en-US" sz="2000" b="1" dirty="0"/>
              <a:t>i</a:t>
            </a:r>
            <a:r>
              <a:rPr lang="en-US" sz="2000" b="1" dirty="0" smtClean="0"/>
              <a:t>ntended purpose of use, disclosure or request.</a:t>
            </a:r>
          </a:p>
        </p:txBody>
      </p:sp>
    </p:spTree>
    <p:extLst>
      <p:ext uri="{BB962C8B-B14F-4D97-AF65-F5344CB8AC3E}">
        <p14:creationId xmlns:p14="http://schemas.microsoft.com/office/powerpoint/2010/main" val="6315765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5119" y="1276726"/>
            <a:ext cx="6856562" cy="4832092"/>
          </a:xfrm>
          <a:prstGeom prst="rect">
            <a:avLst/>
          </a:prstGeom>
        </p:spPr>
        <p:txBody>
          <a:bodyPr wrap="square">
            <a:spAutoFit/>
          </a:bodyPr>
          <a:lstStyle/>
          <a:p>
            <a:pPr marL="457200" indent="-457200">
              <a:buFont typeface="Wingdings" panose="05000000000000000000" pitchFamily="2" charset="2"/>
              <a:buChar char="§"/>
            </a:pPr>
            <a:r>
              <a:rPr lang="en-US" sz="3200" dirty="0" smtClean="0"/>
              <a:t>Notice of Privacy Practice (NPP)</a:t>
            </a:r>
          </a:p>
          <a:p>
            <a:pPr marL="914400" lvl="1" indent="-457200">
              <a:buFont typeface="Courier New" panose="02070309020205020404" pitchFamily="49" charset="0"/>
              <a:buChar char="o"/>
            </a:pPr>
            <a:r>
              <a:rPr lang="en-US" sz="2800" dirty="0" smtClean="0"/>
              <a:t>Notice Distribution</a:t>
            </a:r>
          </a:p>
          <a:p>
            <a:pPr marL="914400" lvl="1" indent="-457200">
              <a:buFont typeface="Courier New" panose="02070309020205020404" pitchFamily="49" charset="0"/>
              <a:buChar char="o"/>
            </a:pPr>
            <a:r>
              <a:rPr lang="en-US" sz="2800" dirty="0" smtClean="0"/>
              <a:t>Acknowledgement of Notice Receipt</a:t>
            </a:r>
          </a:p>
          <a:p>
            <a:pPr marL="457200" indent="-457200">
              <a:buFont typeface="Wingdings" panose="05000000000000000000" pitchFamily="2" charset="2"/>
              <a:buChar char="§"/>
            </a:pPr>
            <a:r>
              <a:rPr lang="en-US" sz="3200" dirty="0" smtClean="0"/>
              <a:t>Access</a:t>
            </a:r>
          </a:p>
          <a:p>
            <a:pPr marL="457200" indent="-457200">
              <a:buFont typeface="Wingdings" panose="05000000000000000000" pitchFamily="2" charset="2"/>
              <a:buChar char="§"/>
            </a:pPr>
            <a:r>
              <a:rPr lang="en-US" sz="3200" dirty="0" smtClean="0"/>
              <a:t>Amendment</a:t>
            </a:r>
          </a:p>
          <a:p>
            <a:pPr marL="457200" indent="-457200">
              <a:buFont typeface="Wingdings" panose="05000000000000000000" pitchFamily="2" charset="2"/>
              <a:buChar char="§"/>
            </a:pPr>
            <a:r>
              <a:rPr lang="en-US" sz="3200" dirty="0" smtClean="0"/>
              <a:t>Disclosure Accounting</a:t>
            </a:r>
          </a:p>
          <a:p>
            <a:pPr marL="457200" indent="-457200">
              <a:buFont typeface="Wingdings" panose="05000000000000000000" pitchFamily="2" charset="2"/>
              <a:buChar char="§"/>
            </a:pPr>
            <a:r>
              <a:rPr lang="en-US" sz="3200" dirty="0" smtClean="0"/>
              <a:t>Restriction Request</a:t>
            </a:r>
          </a:p>
          <a:p>
            <a:pPr marL="457200" indent="-457200">
              <a:buFont typeface="Wingdings" panose="05000000000000000000" pitchFamily="2" charset="2"/>
              <a:buChar char="§"/>
            </a:pPr>
            <a:r>
              <a:rPr lang="en-US" sz="3200" dirty="0" smtClean="0"/>
              <a:t>Confidential Communications Requirement </a:t>
            </a:r>
          </a:p>
        </p:txBody>
      </p:sp>
      <p:sp>
        <p:nvSpPr>
          <p:cNvPr id="3" name="Title 1"/>
          <p:cNvSpPr txBox="1">
            <a:spLocks/>
          </p:cNvSpPr>
          <p:nvPr/>
        </p:nvSpPr>
        <p:spPr>
          <a:xfrm>
            <a:off x="457200" y="393940"/>
            <a:ext cx="7772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dirty="0" smtClean="0"/>
              <a:t>Notices and Other Individual Rights</a:t>
            </a:r>
            <a:endParaRPr lang="en-US" sz="32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2800" y="2454522"/>
            <a:ext cx="1714500" cy="24765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5162" y="2819400"/>
            <a:ext cx="1706796" cy="2210301"/>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03601" y="3094436"/>
            <a:ext cx="1687122" cy="2010964"/>
          </a:xfrm>
          <a:prstGeom prst="rect">
            <a:avLst/>
          </a:prstGeom>
        </p:spPr>
      </p:pic>
    </p:spTree>
    <p:extLst>
      <p:ext uri="{BB962C8B-B14F-4D97-AF65-F5344CB8AC3E}">
        <p14:creationId xmlns:p14="http://schemas.microsoft.com/office/powerpoint/2010/main" val="55078400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342340"/>
            <a:ext cx="7772400" cy="4832092"/>
          </a:xfrm>
          <a:prstGeom prst="rect">
            <a:avLst/>
          </a:prstGeom>
        </p:spPr>
        <p:txBody>
          <a:bodyPr wrap="square">
            <a:spAutoFit/>
          </a:bodyPr>
          <a:lstStyle/>
          <a:p>
            <a:pPr marL="457200" indent="-457200">
              <a:buFont typeface="Wingdings" panose="05000000000000000000" pitchFamily="2" charset="2"/>
              <a:buChar char="§"/>
            </a:pPr>
            <a:r>
              <a:rPr lang="en-US" sz="2200" b="1" dirty="0" smtClean="0"/>
              <a:t>Privacy Policies and Procedures </a:t>
            </a:r>
            <a:r>
              <a:rPr lang="en-US" sz="2200" dirty="0" smtClean="0"/>
              <a:t>– must publish</a:t>
            </a:r>
          </a:p>
          <a:p>
            <a:pPr marL="457200" indent="-457200">
              <a:buFont typeface="Wingdings" panose="05000000000000000000" pitchFamily="2" charset="2"/>
              <a:buChar char="§"/>
            </a:pPr>
            <a:r>
              <a:rPr lang="en-US" sz="2200" b="1" dirty="0" smtClean="0"/>
              <a:t>Privacy Personnel </a:t>
            </a:r>
            <a:r>
              <a:rPr lang="en-US" sz="2200" dirty="0" smtClean="0"/>
              <a:t>– must designate privacy officer</a:t>
            </a:r>
          </a:p>
          <a:p>
            <a:pPr marL="457200" indent="-457200">
              <a:buFont typeface="Wingdings" panose="05000000000000000000" pitchFamily="2" charset="2"/>
              <a:buChar char="§"/>
            </a:pPr>
            <a:r>
              <a:rPr lang="en-US" sz="2200" b="1" dirty="0" smtClean="0"/>
              <a:t>Workforce Training and Management </a:t>
            </a:r>
            <a:r>
              <a:rPr lang="en-US" sz="2200" dirty="0" smtClean="0"/>
              <a:t>– training for all including volunteers, trainees or others</a:t>
            </a:r>
          </a:p>
          <a:p>
            <a:pPr marL="457200" indent="-457200">
              <a:buFont typeface="Wingdings" panose="05000000000000000000" pitchFamily="2" charset="2"/>
              <a:buChar char="§"/>
            </a:pPr>
            <a:r>
              <a:rPr lang="en-US" sz="2200" b="1" dirty="0" smtClean="0"/>
              <a:t>Mitigation</a:t>
            </a:r>
            <a:r>
              <a:rPr lang="en-US" sz="2200" dirty="0" smtClean="0"/>
              <a:t> – all suspected or recorded breach conditions</a:t>
            </a:r>
          </a:p>
          <a:p>
            <a:pPr marL="457200" indent="-457200">
              <a:buFont typeface="Wingdings" panose="05000000000000000000" pitchFamily="2" charset="2"/>
              <a:buChar char="§"/>
            </a:pPr>
            <a:r>
              <a:rPr lang="en-US" sz="2200" b="1" dirty="0" smtClean="0"/>
              <a:t>Data Safeguards </a:t>
            </a:r>
            <a:r>
              <a:rPr lang="en-US" sz="2200" dirty="0" smtClean="0"/>
              <a:t>– security measures whether PHI or ePHI</a:t>
            </a:r>
          </a:p>
          <a:p>
            <a:pPr marL="457200" indent="-457200">
              <a:buFont typeface="Wingdings" panose="05000000000000000000" pitchFamily="2" charset="2"/>
              <a:buChar char="§"/>
            </a:pPr>
            <a:r>
              <a:rPr lang="en-US" sz="2200" b="1" dirty="0" smtClean="0"/>
              <a:t>Complaints</a:t>
            </a:r>
            <a:r>
              <a:rPr lang="en-US" sz="2200" dirty="0" smtClean="0"/>
              <a:t> – procedures in place</a:t>
            </a:r>
          </a:p>
          <a:p>
            <a:pPr marL="457200" indent="-457200">
              <a:buFont typeface="Wingdings" panose="05000000000000000000" pitchFamily="2" charset="2"/>
              <a:buChar char="§"/>
            </a:pPr>
            <a:r>
              <a:rPr lang="en-US" sz="2200" b="1" dirty="0" smtClean="0"/>
              <a:t>Retaliation and Waiver </a:t>
            </a:r>
            <a:r>
              <a:rPr lang="en-US" sz="2200" dirty="0" smtClean="0"/>
              <a:t>– by Rule not permitted</a:t>
            </a:r>
          </a:p>
          <a:p>
            <a:pPr marL="457200" indent="-457200">
              <a:buFont typeface="Wingdings" panose="05000000000000000000" pitchFamily="2" charset="2"/>
              <a:buChar char="§"/>
            </a:pPr>
            <a:r>
              <a:rPr lang="en-US" sz="2200" b="1" dirty="0" smtClean="0"/>
              <a:t>Documentation and Record Retention </a:t>
            </a:r>
            <a:r>
              <a:rPr lang="en-US" sz="2200" dirty="0" smtClean="0"/>
              <a:t>– six years</a:t>
            </a:r>
          </a:p>
          <a:p>
            <a:pPr marL="457200" indent="-457200">
              <a:buFont typeface="Wingdings" panose="05000000000000000000" pitchFamily="2" charset="2"/>
              <a:buChar char="§"/>
            </a:pPr>
            <a:r>
              <a:rPr lang="en-US" sz="2200" b="1" dirty="0" smtClean="0"/>
              <a:t>Fully-insured health group plan exception </a:t>
            </a:r>
            <a:r>
              <a:rPr lang="en-US" sz="2200" dirty="0" smtClean="0"/>
              <a:t>– specific language (log on to HHS portal)</a:t>
            </a:r>
          </a:p>
          <a:p>
            <a:pPr marL="457200" indent="-457200">
              <a:buFont typeface="Wingdings" panose="05000000000000000000" pitchFamily="2" charset="2"/>
              <a:buChar char="§"/>
            </a:pPr>
            <a:endParaRPr lang="en-US" sz="2200" dirty="0" smtClean="0"/>
          </a:p>
        </p:txBody>
      </p:sp>
      <p:sp>
        <p:nvSpPr>
          <p:cNvPr id="3" name="Title 1"/>
          <p:cNvSpPr txBox="1">
            <a:spLocks/>
          </p:cNvSpPr>
          <p:nvPr/>
        </p:nvSpPr>
        <p:spPr>
          <a:xfrm>
            <a:off x="457200" y="393940"/>
            <a:ext cx="73152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Administrative Requirements</a:t>
            </a:r>
            <a:endParaRPr lang="en-US" sz="3600" dirty="0"/>
          </a:p>
        </p:txBody>
      </p:sp>
      <p:sp>
        <p:nvSpPr>
          <p:cNvPr id="4" name="TextBox 3"/>
          <p:cNvSpPr txBox="1"/>
          <p:nvPr/>
        </p:nvSpPr>
        <p:spPr>
          <a:xfrm>
            <a:off x="4495800" y="5943600"/>
            <a:ext cx="3124200" cy="461665"/>
          </a:xfrm>
          <a:prstGeom prst="rect">
            <a:avLst/>
          </a:prstGeom>
          <a:noFill/>
        </p:spPr>
        <p:txBody>
          <a:bodyPr wrap="square" rtlCol="0">
            <a:spAutoFit/>
          </a:bodyPr>
          <a:lstStyle/>
          <a:p>
            <a:r>
              <a:rPr lang="en-US" sz="1200" b="1" dirty="0" smtClean="0"/>
              <a:t>http://www.hhs.gov/ocr/privacy/hipaa/understanding/summary</a:t>
            </a:r>
            <a:endParaRPr lang="en-US" sz="1200" b="1" dirty="0"/>
          </a:p>
        </p:txBody>
      </p:sp>
    </p:spTree>
    <p:extLst>
      <p:ext uri="{BB962C8B-B14F-4D97-AF65-F5344CB8AC3E}">
        <p14:creationId xmlns:p14="http://schemas.microsoft.com/office/powerpoint/2010/main" val="184735690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5400" y="2338763"/>
            <a:ext cx="6780362" cy="3539430"/>
          </a:xfrm>
          <a:prstGeom prst="rect">
            <a:avLst/>
          </a:prstGeom>
        </p:spPr>
        <p:txBody>
          <a:bodyPr wrap="square">
            <a:spAutoFit/>
          </a:bodyPr>
          <a:lstStyle/>
          <a:p>
            <a:pPr marL="457200" indent="-457200">
              <a:buFont typeface="Wingdings" panose="05000000000000000000" pitchFamily="2" charset="2"/>
              <a:buChar char="§"/>
            </a:pPr>
            <a:r>
              <a:rPr lang="en-US" sz="2800" dirty="0" smtClean="0"/>
              <a:t>Hybrid Entity</a:t>
            </a:r>
          </a:p>
          <a:p>
            <a:pPr marL="457200" indent="-457200">
              <a:buFont typeface="Wingdings" panose="05000000000000000000" pitchFamily="2" charset="2"/>
              <a:buChar char="§"/>
            </a:pPr>
            <a:r>
              <a:rPr lang="en-US" sz="2800" dirty="0" smtClean="0"/>
              <a:t>Affiliated Covered Entity</a:t>
            </a:r>
          </a:p>
          <a:p>
            <a:pPr marL="457200" indent="-457200">
              <a:buFont typeface="Wingdings" panose="05000000000000000000" pitchFamily="2" charset="2"/>
              <a:buChar char="§"/>
            </a:pPr>
            <a:r>
              <a:rPr lang="en-US" sz="2800" dirty="0" smtClean="0"/>
              <a:t>Organized Health Care Arrangement</a:t>
            </a:r>
          </a:p>
          <a:p>
            <a:pPr marL="457200" indent="-457200">
              <a:buFont typeface="Wingdings" panose="05000000000000000000" pitchFamily="2" charset="2"/>
              <a:buChar char="§"/>
            </a:pPr>
            <a:r>
              <a:rPr lang="en-US" sz="2800" dirty="0" smtClean="0"/>
              <a:t>Covered Entity with Multiple Covered Entities</a:t>
            </a:r>
          </a:p>
          <a:p>
            <a:pPr marL="457200" indent="-457200">
              <a:buFont typeface="Wingdings" panose="05000000000000000000" pitchFamily="2" charset="2"/>
              <a:buChar char="§"/>
            </a:pPr>
            <a:r>
              <a:rPr lang="en-US" sz="2800" dirty="0" smtClean="0"/>
              <a:t>Group Health Plan disclosures to Plan Sponsors</a:t>
            </a:r>
          </a:p>
        </p:txBody>
      </p:sp>
      <p:sp>
        <p:nvSpPr>
          <p:cNvPr id="3" name="Title 1"/>
          <p:cNvSpPr txBox="1">
            <a:spLocks/>
          </p:cNvSpPr>
          <p:nvPr/>
        </p:nvSpPr>
        <p:spPr>
          <a:xfrm>
            <a:off x="457200" y="393940"/>
            <a:ext cx="73152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Organization Options</a:t>
            </a:r>
            <a:endParaRPr lang="en-US" sz="3600" dirty="0"/>
          </a:p>
        </p:txBody>
      </p:sp>
      <p:sp>
        <p:nvSpPr>
          <p:cNvPr id="4" name="TextBox 3"/>
          <p:cNvSpPr txBox="1"/>
          <p:nvPr/>
        </p:nvSpPr>
        <p:spPr>
          <a:xfrm>
            <a:off x="4495800" y="5873880"/>
            <a:ext cx="3124200" cy="461665"/>
          </a:xfrm>
          <a:prstGeom prst="rect">
            <a:avLst/>
          </a:prstGeom>
          <a:noFill/>
        </p:spPr>
        <p:txBody>
          <a:bodyPr wrap="square" rtlCol="0">
            <a:spAutoFit/>
          </a:bodyPr>
          <a:lstStyle/>
          <a:p>
            <a:r>
              <a:rPr lang="en-US" sz="1200" b="1" dirty="0" smtClean="0"/>
              <a:t>http://www.hhs.gov/ocr/privacy/hipaa/understanding/summary</a:t>
            </a:r>
            <a:endParaRPr lang="en-US" sz="1200" b="1" dirty="0"/>
          </a:p>
        </p:txBody>
      </p:sp>
      <p:sp>
        <p:nvSpPr>
          <p:cNvPr id="5" name="TextBox 4"/>
          <p:cNvSpPr txBox="1"/>
          <p:nvPr/>
        </p:nvSpPr>
        <p:spPr>
          <a:xfrm>
            <a:off x="876300" y="1295400"/>
            <a:ext cx="7239000" cy="923330"/>
          </a:xfrm>
          <a:prstGeom prst="rect">
            <a:avLst/>
          </a:prstGeom>
          <a:noFill/>
        </p:spPr>
        <p:txBody>
          <a:bodyPr wrap="square" rtlCol="0">
            <a:spAutoFit/>
          </a:bodyPr>
          <a:lstStyle/>
          <a:p>
            <a:r>
              <a:rPr lang="en-US" b="1" dirty="0" smtClean="0"/>
              <a:t>Privacy Rule contain provisions that address a variety of organizational issues that allow for tailored or non standard privacy protections and mechanisms:</a:t>
            </a:r>
            <a:endParaRPr lang="en-US" b="1" dirty="0"/>
          </a:p>
        </p:txBody>
      </p:sp>
    </p:spTree>
    <p:extLst>
      <p:ext uri="{BB962C8B-B14F-4D97-AF65-F5344CB8AC3E}">
        <p14:creationId xmlns:p14="http://schemas.microsoft.com/office/powerpoint/2010/main" val="319791873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0" y="1219200"/>
            <a:ext cx="7106728" cy="1815882"/>
          </a:xfrm>
          <a:prstGeom prst="rect">
            <a:avLst/>
          </a:prstGeom>
        </p:spPr>
        <p:txBody>
          <a:bodyPr wrap="square">
            <a:spAutoFit/>
          </a:bodyPr>
          <a:lstStyle/>
          <a:p>
            <a:pPr marL="457200" indent="-457200">
              <a:buFont typeface="Wingdings" panose="05000000000000000000" pitchFamily="2" charset="2"/>
              <a:buChar char="§"/>
            </a:pPr>
            <a:r>
              <a:rPr lang="en-US" sz="2800" b="1" dirty="0" smtClean="0"/>
              <a:t>Personal Representatives and Minors</a:t>
            </a:r>
          </a:p>
          <a:p>
            <a:pPr marL="914400" lvl="1" indent="-457200">
              <a:buFont typeface="Courier New" panose="02070309020205020404" pitchFamily="49" charset="0"/>
              <a:buChar char="o"/>
            </a:pPr>
            <a:r>
              <a:rPr lang="en-US" sz="2800" dirty="0" smtClean="0"/>
              <a:t>Personal Representatives</a:t>
            </a:r>
          </a:p>
          <a:p>
            <a:pPr marL="914400" lvl="1" indent="-457200">
              <a:buFont typeface="Courier New" panose="02070309020205020404" pitchFamily="49" charset="0"/>
              <a:buChar char="o"/>
            </a:pPr>
            <a:r>
              <a:rPr lang="en-US" sz="2800" dirty="0" smtClean="0"/>
              <a:t>Special Case: Minors</a:t>
            </a:r>
          </a:p>
          <a:p>
            <a:pPr marL="457200" indent="-457200">
              <a:buFont typeface="Wingdings" panose="05000000000000000000" pitchFamily="2" charset="2"/>
              <a:buChar char="§"/>
            </a:pPr>
            <a:endParaRPr lang="en-US" sz="2800" dirty="0" smtClean="0"/>
          </a:p>
        </p:txBody>
      </p:sp>
      <p:sp>
        <p:nvSpPr>
          <p:cNvPr id="3" name="Title 1"/>
          <p:cNvSpPr txBox="1">
            <a:spLocks/>
          </p:cNvSpPr>
          <p:nvPr/>
        </p:nvSpPr>
        <p:spPr>
          <a:xfrm>
            <a:off x="382438" y="324928"/>
            <a:ext cx="8304362"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Other Provisions</a:t>
            </a:r>
            <a:endParaRPr lang="en-US" sz="3000" dirty="0"/>
          </a:p>
        </p:txBody>
      </p:sp>
      <p:sp>
        <p:nvSpPr>
          <p:cNvPr id="5" name="Rectangle 4"/>
          <p:cNvSpPr/>
          <p:nvPr/>
        </p:nvSpPr>
        <p:spPr>
          <a:xfrm>
            <a:off x="1224951" y="2819400"/>
            <a:ext cx="7106728" cy="1384995"/>
          </a:xfrm>
          <a:prstGeom prst="rect">
            <a:avLst/>
          </a:prstGeom>
        </p:spPr>
        <p:txBody>
          <a:bodyPr wrap="square">
            <a:spAutoFit/>
          </a:bodyPr>
          <a:lstStyle/>
          <a:p>
            <a:pPr marL="457200" indent="-457200">
              <a:buFont typeface="Wingdings" panose="05000000000000000000" pitchFamily="2" charset="2"/>
              <a:buChar char="§"/>
            </a:pPr>
            <a:r>
              <a:rPr lang="en-US" sz="2800" b="1" dirty="0" smtClean="0"/>
              <a:t>State Law</a:t>
            </a:r>
          </a:p>
          <a:p>
            <a:pPr marL="914400" lvl="1" indent="-457200">
              <a:buFont typeface="Courier New" panose="02070309020205020404" pitchFamily="49" charset="0"/>
              <a:buChar char="o"/>
            </a:pPr>
            <a:r>
              <a:rPr lang="en-US" sz="2800" dirty="0" smtClean="0"/>
              <a:t>Preemption</a:t>
            </a:r>
          </a:p>
          <a:p>
            <a:pPr marL="914400" lvl="1" indent="-457200">
              <a:buFont typeface="Courier New" panose="02070309020205020404" pitchFamily="49" charset="0"/>
              <a:buChar char="o"/>
            </a:pPr>
            <a:r>
              <a:rPr lang="en-US" sz="2800" dirty="0" smtClean="0"/>
              <a:t>Exception Determination</a:t>
            </a:r>
          </a:p>
        </p:txBody>
      </p:sp>
      <p:sp>
        <p:nvSpPr>
          <p:cNvPr id="6" name="Rectangle 5"/>
          <p:cNvSpPr/>
          <p:nvPr/>
        </p:nvSpPr>
        <p:spPr>
          <a:xfrm>
            <a:off x="1262332" y="4419600"/>
            <a:ext cx="7106728" cy="1815882"/>
          </a:xfrm>
          <a:prstGeom prst="rect">
            <a:avLst/>
          </a:prstGeom>
        </p:spPr>
        <p:txBody>
          <a:bodyPr wrap="square">
            <a:spAutoFit/>
          </a:bodyPr>
          <a:lstStyle/>
          <a:p>
            <a:pPr marL="457200" indent="-457200">
              <a:buFont typeface="Wingdings" panose="05000000000000000000" pitchFamily="2" charset="2"/>
              <a:buChar char="§"/>
            </a:pPr>
            <a:r>
              <a:rPr lang="en-US" sz="2800" b="1" dirty="0" smtClean="0"/>
              <a:t>Enforcement and Penalties </a:t>
            </a:r>
          </a:p>
          <a:p>
            <a:pPr marL="914400" lvl="1" indent="-457200">
              <a:buFont typeface="Courier New" panose="02070309020205020404" pitchFamily="49" charset="0"/>
              <a:buChar char="o"/>
            </a:pPr>
            <a:r>
              <a:rPr lang="en-US" sz="2800" dirty="0" smtClean="0"/>
              <a:t>Compliance</a:t>
            </a:r>
          </a:p>
          <a:p>
            <a:pPr marL="914400" lvl="1" indent="-457200">
              <a:buFont typeface="Courier New" panose="02070309020205020404" pitchFamily="49" charset="0"/>
              <a:buChar char="o"/>
            </a:pPr>
            <a:r>
              <a:rPr lang="en-US" sz="2800" dirty="0" smtClean="0"/>
              <a:t>Civil Money Penalties</a:t>
            </a:r>
          </a:p>
          <a:p>
            <a:pPr marL="914400" lvl="1" indent="-457200">
              <a:buFont typeface="Courier New" panose="02070309020205020404" pitchFamily="49" charset="0"/>
              <a:buChar char="o"/>
            </a:pPr>
            <a:r>
              <a:rPr lang="en-US" sz="2800" dirty="0" smtClean="0"/>
              <a:t>Criminal Penalties</a:t>
            </a:r>
          </a:p>
        </p:txBody>
      </p:sp>
    </p:spTree>
    <p:extLst>
      <p:ext uri="{BB962C8B-B14F-4D97-AF65-F5344CB8AC3E}">
        <p14:creationId xmlns:p14="http://schemas.microsoft.com/office/powerpoint/2010/main" val="33306395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82438" y="324928"/>
            <a:ext cx="8304362"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Enforcement and Penalties</a:t>
            </a:r>
            <a:endParaRPr lang="en-US" sz="3000" dirty="0"/>
          </a:p>
        </p:txBody>
      </p:sp>
      <p:sp>
        <p:nvSpPr>
          <p:cNvPr id="6" name="Rectangle 5"/>
          <p:cNvSpPr/>
          <p:nvPr/>
        </p:nvSpPr>
        <p:spPr>
          <a:xfrm>
            <a:off x="299049" y="1254475"/>
            <a:ext cx="5715000" cy="1323439"/>
          </a:xfrm>
          <a:prstGeom prst="rect">
            <a:avLst/>
          </a:prstGeom>
        </p:spPr>
        <p:txBody>
          <a:bodyPr wrap="square">
            <a:spAutoFit/>
          </a:bodyPr>
          <a:lstStyle/>
          <a:p>
            <a:pPr marL="914400" lvl="1" indent="-457200">
              <a:buFont typeface="Courier New" panose="02070309020205020404" pitchFamily="49" charset="0"/>
              <a:buChar char="o"/>
            </a:pPr>
            <a:r>
              <a:rPr lang="en-US" sz="2000" b="1" dirty="0" smtClean="0"/>
              <a:t>Compliance</a:t>
            </a:r>
            <a:r>
              <a:rPr lang="en-US" sz="2000" dirty="0" smtClean="0"/>
              <a:t> – Office of Civil Rights (OCR) is responsible for enforcing standards</a:t>
            </a:r>
          </a:p>
          <a:p>
            <a:pPr marL="914400" lvl="1" indent="-457200">
              <a:buFont typeface="Courier New" panose="02070309020205020404" pitchFamily="49" charset="0"/>
              <a:buChar char="o"/>
            </a:pPr>
            <a:r>
              <a:rPr lang="en-US" sz="2000" b="1" dirty="0" smtClean="0"/>
              <a:t>Civil Money Penalties </a:t>
            </a:r>
            <a:r>
              <a:rPr lang="en-US" sz="2000" dirty="0" smtClean="0"/>
              <a:t>-</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524000"/>
            <a:ext cx="2402675"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299049" y="4552890"/>
            <a:ext cx="3962400" cy="400110"/>
          </a:xfrm>
          <a:prstGeom prst="rect">
            <a:avLst/>
          </a:prstGeom>
        </p:spPr>
        <p:txBody>
          <a:bodyPr wrap="square">
            <a:spAutoFit/>
          </a:bodyPr>
          <a:lstStyle/>
          <a:p>
            <a:pPr marL="914400" lvl="1" indent="-457200">
              <a:buFont typeface="Courier New" panose="02070309020205020404" pitchFamily="49" charset="0"/>
              <a:buChar char="o"/>
            </a:pPr>
            <a:r>
              <a:rPr lang="en-US" sz="2000" b="1" dirty="0" smtClean="0"/>
              <a:t>Criminal Penalties -</a:t>
            </a:r>
          </a:p>
        </p:txBody>
      </p:sp>
      <p:graphicFrame>
        <p:nvGraphicFramePr>
          <p:cNvPr id="4" name="Table 3"/>
          <p:cNvGraphicFramePr>
            <a:graphicFrameLocks noGrp="1"/>
          </p:cNvGraphicFramePr>
          <p:nvPr>
            <p:extLst>
              <p:ext uri="{D42A27DB-BD31-4B8C-83A1-F6EECF244321}">
                <p14:modId xmlns:p14="http://schemas.microsoft.com/office/powerpoint/2010/main" val="446975777"/>
              </p:ext>
            </p:extLst>
          </p:nvPr>
        </p:nvGraphicFramePr>
        <p:xfrm>
          <a:off x="685800" y="2602356"/>
          <a:ext cx="5194898" cy="1817244"/>
        </p:xfrm>
        <a:graphic>
          <a:graphicData uri="http://schemas.openxmlformats.org/drawingml/2006/table">
            <a:tbl>
              <a:tblPr>
                <a:tableStyleId>{08FB837D-C827-4EFA-A057-4D05807E0F7C}</a:tableStyleId>
              </a:tblPr>
              <a:tblGrid>
                <a:gridCol w="1534209"/>
                <a:gridCol w="1755689"/>
                <a:gridCol w="1905000"/>
              </a:tblGrid>
              <a:tr h="762000">
                <a:tc>
                  <a:txBody>
                    <a:bodyPr/>
                    <a:lstStyle/>
                    <a:p>
                      <a:pPr algn="l" fontAlgn="b"/>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For violations occurring prior to 2/18/2009</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For violations occurring on or after 2/18/2009</a:t>
                      </a:r>
                      <a:endParaRPr lang="en-US" sz="1400" b="1" i="0" u="none" strike="noStrike" dirty="0">
                        <a:solidFill>
                          <a:srgbClr val="000000"/>
                        </a:solidFill>
                        <a:effectLst/>
                        <a:latin typeface="Calibri"/>
                      </a:endParaRPr>
                    </a:p>
                  </a:txBody>
                  <a:tcPr marL="9525" marR="9525" marT="9525" marB="0" anchor="b"/>
                </a:tc>
              </a:tr>
              <a:tr h="521844">
                <a:tc>
                  <a:txBody>
                    <a:bodyPr/>
                    <a:lstStyle/>
                    <a:p>
                      <a:pPr algn="ctr" fontAlgn="b"/>
                      <a:r>
                        <a:rPr lang="en-US" sz="1400" u="none" strike="noStrike">
                          <a:effectLst/>
                        </a:rPr>
                        <a:t>Penalty Amount</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Up to $100 per violation</a:t>
                      </a:r>
                      <a:endParaRPr lang="en-US" sz="1400" b="0" i="0"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$100 to $50,000 or more per violation</a:t>
                      </a:r>
                      <a:endParaRPr lang="en-US" sz="1400" b="0" i="0" u="none" strike="noStrike">
                        <a:solidFill>
                          <a:srgbClr val="000000"/>
                        </a:solidFill>
                        <a:effectLst/>
                        <a:latin typeface="Calibri"/>
                      </a:endParaRPr>
                    </a:p>
                  </a:txBody>
                  <a:tcPr marL="9525" marR="9525" marT="9525" marB="0" anchor="b"/>
                </a:tc>
              </a:tr>
              <a:tr h="533400">
                <a:tc>
                  <a:txBody>
                    <a:bodyPr/>
                    <a:lstStyle/>
                    <a:p>
                      <a:pPr algn="ctr" fontAlgn="b"/>
                      <a:r>
                        <a:rPr lang="en-US" sz="1400" u="none" strike="noStrike">
                          <a:effectLst/>
                        </a:rPr>
                        <a:t>Calendar Year Cap</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u="none" strike="noStrike" dirty="0">
                          <a:effectLst/>
                        </a:rPr>
                        <a:t>$25,000</a:t>
                      </a:r>
                      <a:endParaRPr lang="en-US" sz="1400" b="0" i="0" u="none" strike="noStrike" dirty="0">
                        <a:solidFill>
                          <a:srgbClr val="000000"/>
                        </a:solidFill>
                        <a:effectLst/>
                        <a:latin typeface="Calibri"/>
                      </a:endParaRPr>
                    </a:p>
                  </a:txBody>
                  <a:tcPr marL="9525" marR="9525" marT="9525" marB="0" anchor="b"/>
                </a:tc>
                <a:tc>
                  <a:txBody>
                    <a:bodyPr/>
                    <a:lstStyle/>
                    <a:p>
                      <a:pPr algn="ctr" fontAlgn="b"/>
                      <a:r>
                        <a:rPr lang="en-US" sz="1400" u="none" strike="noStrike" dirty="0">
                          <a:effectLst/>
                        </a:rPr>
                        <a:t>$1,500,000</a:t>
                      </a:r>
                      <a:endParaRPr lang="en-US" sz="1400" b="0" i="0" u="none" strike="noStrike" dirty="0">
                        <a:solidFill>
                          <a:srgbClr val="000000"/>
                        </a:solidFill>
                        <a:effectLst/>
                        <a:latin typeface="Calibri"/>
                      </a:endParaRPr>
                    </a:p>
                  </a:txBody>
                  <a:tcPr marL="9525" marR="9525" marT="9525" marB="0" anchor="b"/>
                </a:tc>
              </a:tr>
            </a:tbl>
          </a:graphicData>
        </a:graphic>
      </p:graphicFrame>
      <p:sp>
        <p:nvSpPr>
          <p:cNvPr id="9" name="Content Placeholder 5"/>
          <p:cNvSpPr txBox="1">
            <a:spLocks/>
          </p:cNvSpPr>
          <p:nvPr/>
        </p:nvSpPr>
        <p:spPr>
          <a:xfrm>
            <a:off x="990598" y="4953000"/>
            <a:ext cx="7294355" cy="1116284"/>
          </a:xfrm>
          <a:prstGeom prst="rect">
            <a:avLst/>
          </a:prstGeom>
        </p:spPr>
        <p:txBody>
          <a:bodyPr vert="horz">
            <a:normAutofit fontScale="77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just">
              <a:spcAft>
                <a:spcPts val="1800"/>
              </a:spcAft>
              <a:buNone/>
            </a:pPr>
            <a:r>
              <a:rPr lang="en-US" sz="2000" dirty="0" smtClean="0"/>
              <a:t>A person who knowingly obtains or discloses individually identifiable health information in violation of HIPAA’s Privacy Rule may face criminal penalty of up to </a:t>
            </a:r>
            <a:r>
              <a:rPr lang="en-US" sz="2000" b="1" dirty="0" smtClean="0"/>
              <a:t>$50,000 </a:t>
            </a:r>
            <a:r>
              <a:rPr lang="en-US" sz="2000" dirty="0" smtClean="0"/>
              <a:t>and up to </a:t>
            </a:r>
            <a:r>
              <a:rPr lang="en-US" sz="2000" b="1" dirty="0" smtClean="0"/>
              <a:t>one-year</a:t>
            </a:r>
            <a:r>
              <a:rPr lang="en-US" sz="2000" dirty="0" smtClean="0"/>
              <a:t> imprisonment. [If intent to sell, personal gain or malicious harm, they may face up to </a:t>
            </a:r>
            <a:r>
              <a:rPr lang="en-US" sz="2000" b="1" dirty="0" smtClean="0"/>
              <a:t>$250,000 </a:t>
            </a:r>
            <a:r>
              <a:rPr lang="en-US" sz="2000" dirty="0" smtClean="0"/>
              <a:t>penalties and </a:t>
            </a:r>
            <a:r>
              <a:rPr lang="en-US" sz="2000" b="1" dirty="0" smtClean="0"/>
              <a:t>10 years </a:t>
            </a:r>
            <a:r>
              <a:rPr lang="en-US" sz="2000" dirty="0" smtClean="0"/>
              <a:t>imprisonment].  </a:t>
            </a:r>
          </a:p>
        </p:txBody>
      </p:sp>
    </p:spTree>
    <p:extLst>
      <p:ext uri="{BB962C8B-B14F-4D97-AF65-F5344CB8AC3E}">
        <p14:creationId xmlns:p14="http://schemas.microsoft.com/office/powerpoint/2010/main" val="245463666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1903562"/>
            <a:ext cx="5791200" cy="2677656"/>
          </a:xfrm>
          <a:prstGeom prst="rect">
            <a:avLst/>
          </a:prstGeom>
        </p:spPr>
        <p:txBody>
          <a:bodyPr wrap="square">
            <a:spAutoFit/>
          </a:bodyPr>
          <a:lstStyle/>
          <a:p>
            <a:pPr marL="457200" indent="-457200">
              <a:buFont typeface="Wingdings" panose="05000000000000000000" pitchFamily="2" charset="2"/>
              <a:buChar char="§"/>
            </a:pPr>
            <a:r>
              <a:rPr lang="en-US" sz="2800" dirty="0" smtClean="0"/>
              <a:t>State Laws</a:t>
            </a:r>
          </a:p>
          <a:p>
            <a:pPr marL="457200" indent="-457200">
              <a:buFont typeface="Wingdings" panose="05000000000000000000" pitchFamily="2" charset="2"/>
              <a:buChar char="§"/>
            </a:pPr>
            <a:r>
              <a:rPr lang="en-US" sz="2800" dirty="0" smtClean="0"/>
              <a:t>Gramm-Leach-Bliley Act</a:t>
            </a:r>
          </a:p>
          <a:p>
            <a:pPr marL="457200" indent="-457200">
              <a:buFont typeface="Wingdings" panose="05000000000000000000" pitchFamily="2" charset="2"/>
              <a:buChar char="§"/>
            </a:pPr>
            <a:r>
              <a:rPr lang="en-US" sz="2800" dirty="0" smtClean="0"/>
              <a:t>Confidentiality of Alcohol and Drug Abuse Patient Records (42 CFR Pt.2)</a:t>
            </a:r>
          </a:p>
          <a:p>
            <a:pPr marL="457200" indent="-457200">
              <a:buFont typeface="Wingdings" panose="05000000000000000000" pitchFamily="2" charset="2"/>
              <a:buChar char="§"/>
            </a:pPr>
            <a:r>
              <a:rPr lang="en-US" sz="2800" dirty="0" smtClean="0"/>
              <a:t>Red Flag Rule</a:t>
            </a:r>
          </a:p>
        </p:txBody>
      </p:sp>
      <p:sp>
        <p:nvSpPr>
          <p:cNvPr id="3" name="Title 1"/>
          <p:cNvSpPr txBox="1">
            <a:spLocks/>
          </p:cNvSpPr>
          <p:nvPr/>
        </p:nvSpPr>
        <p:spPr>
          <a:xfrm>
            <a:off x="457200" y="393940"/>
            <a:ext cx="73152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Other Privacy Laws</a:t>
            </a:r>
            <a:endParaRPr lang="en-US" sz="3600" dirty="0"/>
          </a:p>
        </p:txBody>
      </p:sp>
    </p:spTree>
    <p:extLst>
      <p:ext uri="{BB962C8B-B14F-4D97-AF65-F5344CB8AC3E}">
        <p14:creationId xmlns:p14="http://schemas.microsoft.com/office/powerpoint/2010/main" val="28098659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8200" y="2286000"/>
            <a:ext cx="7564821" cy="1815882"/>
          </a:xfrm>
          <a:prstGeom prst="rect">
            <a:avLst/>
          </a:prstGeom>
        </p:spPr>
        <p:txBody>
          <a:bodyPr wrap="square">
            <a:spAutoFit/>
          </a:bodyPr>
          <a:lstStyle/>
          <a:p>
            <a:pPr marL="342900" indent="-342900">
              <a:buFont typeface="Wingdings" panose="05000000000000000000" pitchFamily="2" charset="2"/>
              <a:buChar char="q"/>
            </a:pPr>
            <a:r>
              <a:rPr lang="en-US" sz="2800" b="1" dirty="0" smtClean="0"/>
              <a:t>Department of Commerce (DOC)</a:t>
            </a:r>
          </a:p>
          <a:p>
            <a:pPr marL="342900" indent="-342900">
              <a:buFont typeface="Wingdings" panose="05000000000000000000" pitchFamily="2" charset="2"/>
              <a:buChar char="q"/>
            </a:pPr>
            <a:r>
              <a:rPr lang="en-US" sz="2800" b="1" dirty="0" smtClean="0"/>
              <a:t>Government Accounting Office (GAO)</a:t>
            </a:r>
          </a:p>
          <a:p>
            <a:pPr marL="342900" indent="-342900">
              <a:buFont typeface="Wingdings" panose="05000000000000000000" pitchFamily="2" charset="2"/>
              <a:buChar char="q"/>
            </a:pPr>
            <a:r>
              <a:rPr lang="en-US" sz="2800" b="1" dirty="0" smtClean="0"/>
              <a:t>Health and Human Services (HHS)</a:t>
            </a:r>
          </a:p>
          <a:p>
            <a:pPr marL="342900" indent="-342900">
              <a:buFont typeface="Wingdings" panose="05000000000000000000" pitchFamily="2" charset="2"/>
              <a:buChar char="q"/>
            </a:pPr>
            <a:r>
              <a:rPr lang="en-US" sz="2800" b="1" dirty="0" smtClean="0"/>
              <a:t>Office of Management and Budget (OMB)</a:t>
            </a:r>
            <a:endParaRPr lang="en-US" sz="2800" b="1" dirty="0"/>
          </a:p>
        </p:txBody>
      </p:sp>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588579" y="1524000"/>
            <a:ext cx="8001000" cy="674132"/>
          </a:xfrm>
        </p:spPr>
        <p:txBody>
          <a:bodyPr>
            <a:normAutofit fontScale="85000" lnSpcReduction="20000"/>
          </a:bodyPr>
          <a:lstStyle/>
          <a:p>
            <a:pPr marL="109728" indent="0">
              <a:spcAft>
                <a:spcPts val="1800"/>
              </a:spcAft>
              <a:buNone/>
            </a:pPr>
            <a:r>
              <a:rPr lang="en-US" sz="3300" b="1" dirty="0" smtClean="0"/>
              <a:t>HIPAA</a:t>
            </a:r>
            <a:r>
              <a:rPr lang="en-US" sz="2400" b="1" dirty="0" smtClean="0"/>
              <a:t> is administered by which Federal Agency: </a:t>
            </a:r>
          </a:p>
          <a:p>
            <a:pPr marL="109728" indent="0">
              <a:spcAft>
                <a:spcPts val="1800"/>
              </a:spcAft>
              <a:buNone/>
            </a:pPr>
            <a:endParaRPr lang="en-US" sz="2300" b="1" dirty="0" smtClean="0"/>
          </a:p>
        </p:txBody>
      </p:sp>
      <p:grpSp>
        <p:nvGrpSpPr>
          <p:cNvPr id="8" name="Group 7"/>
          <p:cNvGrpSpPr/>
          <p:nvPr/>
        </p:nvGrpSpPr>
        <p:grpSpPr>
          <a:xfrm>
            <a:off x="893379" y="3193941"/>
            <a:ext cx="7641021" cy="3240851"/>
            <a:chOff x="893379" y="3193941"/>
            <a:chExt cx="7641021" cy="3240851"/>
          </a:xfrm>
        </p:grpSpPr>
        <p:sp>
          <p:nvSpPr>
            <p:cNvPr id="4" name="TextBox 3"/>
            <p:cNvSpPr txBox="1"/>
            <p:nvPr/>
          </p:nvSpPr>
          <p:spPr>
            <a:xfrm>
              <a:off x="990600" y="4495800"/>
              <a:ext cx="7543800" cy="1938992"/>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The answer is HHS (Health and Human Services)- mandates that patient medical records and other health care data be protected against security breaches and unauthorized use or disclosure</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893379" y="3193941"/>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11774720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497457" y="1371600"/>
            <a:ext cx="8001000" cy="3809999"/>
          </a:xfrm>
        </p:spPr>
        <p:txBody>
          <a:bodyPr>
            <a:normAutofit/>
          </a:bodyPr>
          <a:lstStyle/>
          <a:p>
            <a:pPr marL="109728" indent="0">
              <a:spcAft>
                <a:spcPts val="1800"/>
              </a:spcAft>
              <a:buNone/>
            </a:pPr>
            <a:r>
              <a:rPr lang="en-US" sz="2400" b="1" dirty="0" smtClean="0"/>
              <a:t>In accordance with HIPAA Title II Subtitle F – Administrative Simplification provisions - you are considered a “covered entity” if you are a healthcare organization that create, receive, maintain, or transmit patient health care information</a:t>
            </a:r>
            <a:endParaRPr lang="en-US" sz="2300" b="1" dirty="0" smtClean="0"/>
          </a:p>
          <a:p>
            <a:pPr lvl="3">
              <a:spcAft>
                <a:spcPts val="1800"/>
              </a:spcAft>
              <a:buClrTx/>
              <a:buFont typeface="Wingdings" panose="05000000000000000000" pitchFamily="2" charset="2"/>
              <a:buChar char="q"/>
            </a:pPr>
            <a:r>
              <a:rPr lang="en-US" sz="2800" b="1" dirty="0" smtClean="0"/>
              <a:t>True</a:t>
            </a:r>
          </a:p>
          <a:p>
            <a:pPr lvl="3">
              <a:spcAft>
                <a:spcPts val="1800"/>
              </a:spcAft>
              <a:buClrTx/>
              <a:buFont typeface="Wingdings" panose="05000000000000000000" pitchFamily="2" charset="2"/>
              <a:buChar char="q"/>
            </a:pPr>
            <a:r>
              <a:rPr lang="en-US" sz="2800" b="1" dirty="0" smtClean="0"/>
              <a:t>False</a:t>
            </a:r>
          </a:p>
        </p:txBody>
      </p:sp>
      <p:grpSp>
        <p:nvGrpSpPr>
          <p:cNvPr id="3" name="Group 2"/>
          <p:cNvGrpSpPr/>
          <p:nvPr/>
        </p:nvGrpSpPr>
        <p:grpSpPr>
          <a:xfrm>
            <a:off x="1371600" y="3507828"/>
            <a:ext cx="7239000" cy="2938632"/>
            <a:chOff x="1407543" y="4390846"/>
            <a:chExt cx="7239000" cy="2938632"/>
          </a:xfrm>
        </p:grpSpPr>
        <p:sp>
          <p:nvSpPr>
            <p:cNvPr id="4" name="TextBox 3"/>
            <p:cNvSpPr txBox="1"/>
            <p:nvPr/>
          </p:nvSpPr>
          <p:spPr>
            <a:xfrm>
              <a:off x="1407543" y="5759818"/>
              <a:ext cx="7239000" cy="1569660"/>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True – HIPAA further delineates that all healthcare providers are considered “covered entities”</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1506746" y="4390846"/>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578821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310106" y="457200"/>
            <a:ext cx="7386094"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HIPAA - Administrative Simplification</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8"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10106" y="1371600"/>
            <a:ext cx="2232537" cy="1551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Rectangle 18"/>
          <p:cNvSpPr/>
          <p:nvPr/>
        </p:nvSpPr>
        <p:spPr>
          <a:xfrm>
            <a:off x="2669606" y="2743200"/>
            <a:ext cx="5410200" cy="2677656"/>
          </a:xfrm>
          <a:prstGeom prst="rect">
            <a:avLst/>
          </a:prstGeom>
        </p:spPr>
        <p:txBody>
          <a:bodyPr wrap="square">
            <a:spAutoFit/>
          </a:bodyPr>
          <a:lstStyle/>
          <a:p>
            <a:pPr marL="457200" indent="-457200">
              <a:buFont typeface="Wingdings" panose="05000000000000000000" pitchFamily="2" charset="2"/>
              <a:buChar char="q"/>
            </a:pPr>
            <a:r>
              <a:rPr lang="en-US" sz="3200" b="1" dirty="0" smtClean="0"/>
              <a:t>Privacy Rule</a:t>
            </a:r>
          </a:p>
          <a:p>
            <a:pPr marL="457200" indent="-457200">
              <a:buFont typeface="Wingdings" panose="05000000000000000000" pitchFamily="2" charset="2"/>
              <a:buChar char="q"/>
            </a:pPr>
            <a:r>
              <a:rPr lang="en-US" sz="3600" b="1" i="1" dirty="0">
                <a:solidFill>
                  <a:schemeClr val="accent2">
                    <a:lumMod val="75000"/>
                  </a:schemeClr>
                </a:solidFill>
              </a:rPr>
              <a:t>Security </a:t>
            </a:r>
            <a:r>
              <a:rPr lang="en-US" sz="3600" b="1" i="1" dirty="0" smtClean="0">
                <a:solidFill>
                  <a:schemeClr val="accent2">
                    <a:lumMod val="75000"/>
                  </a:schemeClr>
                </a:solidFill>
              </a:rPr>
              <a:t>Rule</a:t>
            </a:r>
          </a:p>
          <a:p>
            <a:pPr marL="457200" indent="-457200">
              <a:buFont typeface="Wingdings" panose="05000000000000000000" pitchFamily="2" charset="2"/>
              <a:buChar char="q"/>
            </a:pPr>
            <a:r>
              <a:rPr lang="en-US" b="1" dirty="0" smtClean="0"/>
              <a:t>Electronic Transactions and Code Set Rule</a:t>
            </a:r>
          </a:p>
          <a:p>
            <a:pPr marL="457200" indent="-457200">
              <a:buFont typeface="Wingdings" panose="05000000000000000000" pitchFamily="2" charset="2"/>
              <a:buChar char="q"/>
            </a:pPr>
            <a:r>
              <a:rPr lang="en-US" b="1" dirty="0" smtClean="0"/>
              <a:t>National Identifiers</a:t>
            </a:r>
          </a:p>
          <a:p>
            <a:pPr marL="457200" indent="-457200">
              <a:buFont typeface="Wingdings" panose="05000000000000000000" pitchFamily="2" charset="2"/>
              <a:buChar char="q"/>
            </a:pPr>
            <a:r>
              <a:rPr lang="en-US" sz="3200" b="1" dirty="0" smtClean="0"/>
              <a:t>Breach Notification Rule</a:t>
            </a:r>
          </a:p>
          <a:p>
            <a:pPr marL="457200" indent="-457200">
              <a:buFont typeface="Wingdings" panose="05000000000000000000" pitchFamily="2" charset="2"/>
              <a:buChar char="q"/>
            </a:pPr>
            <a:r>
              <a:rPr lang="en-US" sz="3200" b="1" dirty="0" smtClean="0"/>
              <a:t>Enforcement Rule</a:t>
            </a:r>
          </a:p>
        </p:txBody>
      </p:sp>
      <p:sp>
        <p:nvSpPr>
          <p:cNvPr id="3" name="Oval 2"/>
          <p:cNvSpPr/>
          <p:nvPr/>
        </p:nvSpPr>
        <p:spPr>
          <a:xfrm>
            <a:off x="1295401" y="2147258"/>
            <a:ext cx="1247242" cy="900742"/>
          </a:xfrm>
          <a:prstGeom prst="ellipse">
            <a:avLst/>
          </a:prstGeom>
          <a:noFill/>
          <a:ln>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238875" y="1295400"/>
            <a:ext cx="2208425" cy="2397604"/>
          </a:xfrm>
          <a:prstGeom prst="rect">
            <a:avLst/>
          </a:prstGeom>
        </p:spPr>
      </p:pic>
      <p:sp>
        <p:nvSpPr>
          <p:cNvPr id="21" name="Content Placeholder 1"/>
          <p:cNvSpPr txBox="1">
            <a:spLocks/>
          </p:cNvSpPr>
          <p:nvPr/>
        </p:nvSpPr>
        <p:spPr>
          <a:xfrm>
            <a:off x="3548063" y="1628940"/>
            <a:ext cx="1371600" cy="698028"/>
          </a:xfrm>
          <a:prstGeom prst="rect">
            <a:avLst/>
          </a:prstGeom>
          <a:solidFill>
            <a:srgbClr val="00B0F0"/>
          </a:solidFill>
          <a:effectLst>
            <a:glow rad="101600">
              <a:schemeClr val="accent5">
                <a:satMod val="175000"/>
                <a:alpha val="40000"/>
              </a:schemeClr>
            </a:glow>
            <a:outerShdw blurRad="50800" dist="38100" dir="5400000" algn="t" rotWithShape="0">
              <a:prstClr val="black">
                <a:alpha val="40000"/>
              </a:prstClr>
            </a:outerShdw>
          </a:effectLst>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800" b="1" dirty="0" smtClean="0"/>
              <a:t>Addresses ePHI only</a:t>
            </a:r>
            <a:endParaRPr lang="en-US" sz="1800" b="1" dirty="0"/>
          </a:p>
        </p:txBody>
      </p:sp>
    </p:spTree>
    <p:extLst>
      <p:ext uri="{BB962C8B-B14F-4D97-AF65-F5344CB8AC3E}">
        <p14:creationId xmlns:p14="http://schemas.microsoft.com/office/powerpoint/2010/main" val="349890138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1" y="1376958"/>
            <a:ext cx="7696200" cy="3385542"/>
          </a:xfrm>
          <a:prstGeom prst="rect">
            <a:avLst/>
          </a:prstGeom>
        </p:spPr>
        <p:txBody>
          <a:bodyPr wrap="square">
            <a:spAutoFit/>
          </a:bodyPr>
          <a:lstStyle/>
          <a:p>
            <a:pPr marL="342900" indent="-342900">
              <a:buFont typeface="Wingdings" panose="05000000000000000000" pitchFamily="2" charset="2"/>
              <a:buChar char="q"/>
            </a:pPr>
            <a:r>
              <a:rPr lang="en-US" sz="3200" b="1" dirty="0" smtClean="0"/>
              <a:t>Security Rule </a:t>
            </a:r>
            <a:r>
              <a:rPr lang="en-US" sz="2800" b="1" dirty="0" smtClean="0"/>
              <a:t>[electronic PHI ‘</a:t>
            </a:r>
            <a:r>
              <a:rPr lang="en-US" sz="2800" b="1" dirty="0" err="1" smtClean="0"/>
              <a:t>ePHI</a:t>
            </a:r>
            <a:r>
              <a:rPr lang="en-US" sz="2800" b="1" dirty="0" smtClean="0"/>
              <a:t>’]</a:t>
            </a:r>
          </a:p>
          <a:p>
            <a:pPr marL="800100" lvl="1" indent="-342900">
              <a:buFont typeface="Arial" panose="020B0604020202020204" pitchFamily="34" charset="0"/>
              <a:buChar char="•"/>
            </a:pPr>
            <a:r>
              <a:rPr lang="en-US" sz="2600" b="1" dirty="0" smtClean="0"/>
              <a:t>Ensure the “confidentiality, integrity, and availability” of ePHI</a:t>
            </a:r>
          </a:p>
          <a:p>
            <a:pPr marL="800100" lvl="1" indent="-342900">
              <a:buFont typeface="Arial" panose="020B0604020202020204" pitchFamily="34" charset="0"/>
              <a:buChar char="•"/>
            </a:pPr>
            <a:r>
              <a:rPr lang="en-US" sz="2600" b="1" dirty="0" smtClean="0"/>
              <a:t>Protect ePHI “against any reasonably anticipated threats; and</a:t>
            </a:r>
          </a:p>
          <a:p>
            <a:pPr marL="800100" lvl="1" indent="-342900">
              <a:buFont typeface="Arial" panose="020B0604020202020204" pitchFamily="34" charset="0"/>
              <a:buChar char="•"/>
            </a:pPr>
            <a:r>
              <a:rPr lang="en-US" sz="2600" b="1" dirty="0" smtClean="0"/>
              <a:t>Protect ePHI against uses or      disclosures that are not              permitted by HIPAA</a:t>
            </a:r>
          </a:p>
        </p:txBody>
      </p:sp>
      <p:sp>
        <p:nvSpPr>
          <p:cNvPr id="3" name="Title 1"/>
          <p:cNvSpPr txBox="1">
            <a:spLocks/>
          </p:cNvSpPr>
          <p:nvPr/>
        </p:nvSpPr>
        <p:spPr>
          <a:xfrm>
            <a:off x="457200" y="393940"/>
            <a:ext cx="76962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dirty="0" smtClean="0"/>
              <a:t>What Constitute Security Compliance?</a:t>
            </a:r>
            <a:endParaRPr lang="en-US" sz="3200" dirty="0"/>
          </a:p>
        </p:txBody>
      </p:sp>
      <p:sp>
        <p:nvSpPr>
          <p:cNvPr id="4" name="Rectangle 3"/>
          <p:cNvSpPr/>
          <p:nvPr/>
        </p:nvSpPr>
        <p:spPr>
          <a:xfrm>
            <a:off x="1333500" y="4833342"/>
            <a:ext cx="5257800" cy="1354217"/>
          </a:xfrm>
          <a:prstGeom prst="rect">
            <a:avLst/>
          </a:prstGeom>
        </p:spPr>
        <p:txBody>
          <a:bodyPr wrap="square">
            <a:spAutoFit/>
          </a:bodyPr>
          <a:lstStyle/>
          <a:p>
            <a:pPr lvl="1"/>
            <a:r>
              <a:rPr lang="en-US" sz="1600" b="1" i="1" dirty="0" smtClean="0"/>
              <a:t>The </a:t>
            </a:r>
            <a:r>
              <a:rPr lang="en-US" b="1" i="1" u="sng" dirty="0" smtClean="0"/>
              <a:t>Security Rule </a:t>
            </a:r>
            <a:r>
              <a:rPr lang="en-US" sz="1600" b="1" i="1" dirty="0" smtClean="0"/>
              <a:t>protects electronic forms of patient information and covers computers, networks, and any other electronic device that handles or store patient date – i.e. smart phones and other portable devices</a:t>
            </a:r>
            <a:endParaRPr lang="en-US" sz="1600" b="1" i="1" dirty="0"/>
          </a:p>
        </p:txBody>
      </p:sp>
      <p:pic>
        <p:nvPicPr>
          <p:cNvPr id="5" name="Picture 5" descr="C:\Users\larry delone\AppData\Local\Microsoft\Windows\Temporary Internet Files\Content.IE5\8EMZ1ANN\MP900448692[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1" y="3505200"/>
            <a:ext cx="17526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21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1447799"/>
            <a:ext cx="7696200" cy="4401205"/>
          </a:xfrm>
          <a:prstGeom prst="rect">
            <a:avLst/>
          </a:prstGeom>
        </p:spPr>
        <p:txBody>
          <a:bodyPr wrap="square">
            <a:spAutoFit/>
          </a:bodyPr>
          <a:lstStyle/>
          <a:p>
            <a:pPr marL="342900" indent="-342900">
              <a:buFont typeface="Wingdings" panose="05000000000000000000" pitchFamily="2" charset="2"/>
              <a:buChar char="q"/>
            </a:pPr>
            <a:r>
              <a:rPr lang="en-US" sz="2800" b="1" dirty="0" smtClean="0"/>
              <a:t>Administrative Safeguards</a:t>
            </a:r>
          </a:p>
          <a:p>
            <a:pPr marL="342900" indent="-342900">
              <a:buFont typeface="Wingdings" panose="05000000000000000000" pitchFamily="2" charset="2"/>
              <a:buChar char="q"/>
            </a:pPr>
            <a:endParaRPr lang="en-US" sz="2800" b="1" dirty="0" smtClean="0"/>
          </a:p>
          <a:p>
            <a:pPr marL="342900" indent="-342900">
              <a:buFont typeface="Wingdings" panose="05000000000000000000" pitchFamily="2" charset="2"/>
              <a:buChar char="q"/>
            </a:pPr>
            <a:r>
              <a:rPr lang="en-US" sz="2800" b="1" dirty="0" smtClean="0"/>
              <a:t>Physical Safeguards</a:t>
            </a:r>
          </a:p>
          <a:p>
            <a:pPr marL="342900" indent="-342900">
              <a:buFont typeface="Wingdings" panose="05000000000000000000" pitchFamily="2" charset="2"/>
              <a:buChar char="q"/>
            </a:pPr>
            <a:endParaRPr lang="en-US" sz="2800" b="1" dirty="0" smtClean="0"/>
          </a:p>
          <a:p>
            <a:pPr marL="342900" indent="-342900">
              <a:buFont typeface="Wingdings" panose="05000000000000000000" pitchFamily="2" charset="2"/>
              <a:buChar char="q"/>
            </a:pPr>
            <a:r>
              <a:rPr lang="en-US" sz="2800" b="1" dirty="0" smtClean="0"/>
              <a:t>Technical Safeguards</a:t>
            </a:r>
          </a:p>
          <a:p>
            <a:pPr marL="342900" indent="-342900">
              <a:buFont typeface="Wingdings" panose="05000000000000000000" pitchFamily="2" charset="2"/>
              <a:buChar char="q"/>
            </a:pPr>
            <a:endParaRPr lang="en-US" sz="2800" b="1" dirty="0" smtClean="0"/>
          </a:p>
          <a:p>
            <a:pPr marL="342900" indent="-342900">
              <a:buFont typeface="Wingdings" panose="05000000000000000000" pitchFamily="2" charset="2"/>
              <a:buChar char="q"/>
            </a:pPr>
            <a:r>
              <a:rPr lang="en-US" sz="2800" b="1" dirty="0" smtClean="0"/>
              <a:t>Organizational Requirements</a:t>
            </a:r>
          </a:p>
          <a:p>
            <a:pPr marL="342900" indent="-342900">
              <a:buFont typeface="Wingdings" panose="05000000000000000000" pitchFamily="2" charset="2"/>
              <a:buChar char="q"/>
            </a:pPr>
            <a:endParaRPr lang="en-US" sz="2800" b="1" dirty="0" smtClean="0"/>
          </a:p>
          <a:p>
            <a:pPr marL="342900" indent="-342900">
              <a:buFont typeface="Wingdings" panose="05000000000000000000" pitchFamily="2" charset="2"/>
              <a:buChar char="q"/>
            </a:pPr>
            <a:r>
              <a:rPr lang="en-US" sz="2800" b="1" dirty="0" smtClean="0"/>
              <a:t>Policies and Procedures and Documentation Requirements </a:t>
            </a:r>
          </a:p>
        </p:txBody>
      </p:sp>
      <p:sp>
        <p:nvSpPr>
          <p:cNvPr id="3" name="Title 1"/>
          <p:cNvSpPr txBox="1">
            <a:spLocks/>
          </p:cNvSpPr>
          <p:nvPr/>
        </p:nvSpPr>
        <p:spPr>
          <a:xfrm>
            <a:off x="11430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dirty="0" smtClean="0"/>
              <a:t>Five Categories of Security Rule</a:t>
            </a:r>
            <a:endParaRPr lang="en-US" sz="3200" dirty="0"/>
          </a:p>
        </p:txBody>
      </p:sp>
    </p:spTree>
    <p:extLst>
      <p:ext uri="{BB962C8B-B14F-4D97-AF65-F5344CB8AC3E}">
        <p14:creationId xmlns:p14="http://schemas.microsoft.com/office/powerpoint/2010/main" val="292837916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Security Rule Standards</a:t>
            </a:r>
            <a:endParaRPr lang="en-US" sz="3600" dirty="0"/>
          </a:p>
        </p:txBody>
      </p:sp>
      <p:graphicFrame>
        <p:nvGraphicFramePr>
          <p:cNvPr id="6" name="Table 5"/>
          <p:cNvGraphicFramePr>
            <a:graphicFrameLocks noGrp="1"/>
          </p:cNvGraphicFramePr>
          <p:nvPr>
            <p:extLst>
              <p:ext uri="{D42A27DB-BD31-4B8C-83A1-F6EECF244321}">
                <p14:modId xmlns:p14="http://schemas.microsoft.com/office/powerpoint/2010/main" val="2453820258"/>
              </p:ext>
            </p:extLst>
          </p:nvPr>
        </p:nvGraphicFramePr>
        <p:xfrm>
          <a:off x="455762" y="1447800"/>
          <a:ext cx="8153399" cy="1981200"/>
        </p:xfrm>
        <a:graphic>
          <a:graphicData uri="http://schemas.openxmlformats.org/drawingml/2006/table">
            <a:tbl>
              <a:tblPr>
                <a:tableStyleId>{2A488322-F2BA-4B5B-9748-0D474271808F}</a:tableStyleId>
              </a:tblPr>
              <a:tblGrid>
                <a:gridCol w="2341039"/>
                <a:gridCol w="1126624"/>
                <a:gridCol w="4685736"/>
              </a:tblGrid>
              <a:tr h="190500">
                <a:tc>
                  <a:txBody>
                    <a:bodyPr/>
                    <a:lstStyle/>
                    <a:p>
                      <a:pPr algn="ctr" fontAlgn="b"/>
                      <a:r>
                        <a:rPr lang="en-US" sz="1100" b="1" u="none" strike="noStrike" dirty="0">
                          <a:effectLst/>
                        </a:rPr>
                        <a:t>Standards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Sections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Implementation Specifications (R) = Required, (A) = Addressable</a:t>
                      </a:r>
                      <a:endParaRPr lang="en-US" sz="1100" b="1" i="0" u="none" strike="noStrike" dirty="0">
                        <a:solidFill>
                          <a:srgbClr val="000000"/>
                        </a:solidFill>
                        <a:effectLst/>
                        <a:latin typeface="Calibri"/>
                      </a:endParaRPr>
                    </a:p>
                  </a:txBody>
                  <a:tcPr marL="9525" marR="9525" marT="9525" marB="0" anchor="b"/>
                </a:tc>
              </a:tr>
              <a:tr h="190500">
                <a:tc gridSpan="3">
                  <a:txBody>
                    <a:bodyPr/>
                    <a:lstStyle/>
                    <a:p>
                      <a:pPr algn="ctr" fontAlgn="b"/>
                      <a:r>
                        <a:rPr lang="en-US" sz="1200" b="1" u="none" strike="noStrike" dirty="0">
                          <a:effectLst/>
                        </a:rPr>
                        <a:t>Administrative Safeguards</a:t>
                      </a:r>
                      <a:endParaRPr lang="en-US" sz="1200" b="1" i="0" u="none" strike="noStrike" dirty="0">
                        <a:solidFill>
                          <a:srgbClr val="000000"/>
                        </a:solidFill>
                        <a:effectLst/>
                        <a:latin typeface="Calibri"/>
                      </a:endParaRPr>
                    </a:p>
                  </a:txBody>
                  <a:tcPr marL="9525" marR="9525" marT="9525" marB="0" anchor="b"/>
                </a:tc>
                <a:tc hMerge="1">
                  <a:txBody>
                    <a:bodyPr/>
                    <a:lstStyle/>
                    <a:p>
                      <a:endParaRPr lang="en-US"/>
                    </a:p>
                  </a:txBody>
                  <a:tcPr/>
                </a:tc>
                <a:tc hMerge="1">
                  <a:txBody>
                    <a:bodyPr/>
                    <a:lstStyle/>
                    <a:p>
                      <a:endParaRPr lang="en-US"/>
                    </a:p>
                  </a:txBody>
                  <a:tcPr/>
                </a:tc>
              </a:tr>
              <a:tr h="190500">
                <a:tc>
                  <a:txBody>
                    <a:bodyPr/>
                    <a:lstStyle/>
                    <a:p>
                      <a:pPr algn="l" fontAlgn="b"/>
                      <a:r>
                        <a:rPr lang="en-US" sz="1100" u="none" strike="noStrike" dirty="0">
                          <a:effectLst/>
                        </a:rPr>
                        <a:t>Security Management Process</a:t>
                      </a:r>
                      <a:endParaRPr lang="en-US" sz="1100" b="0" i="0" u="none" strike="noStrike" dirty="0">
                        <a:solidFill>
                          <a:srgbClr val="000000"/>
                        </a:solidFill>
                        <a:effectLst/>
                        <a:latin typeface="Calibri"/>
                      </a:endParaRPr>
                    </a:p>
                  </a:txBody>
                  <a:tcPr marL="9525" marR="9525" marT="9525" marB="0" anchor="b"/>
                </a:tc>
                <a:tc>
                  <a:txBody>
                    <a:bodyPr/>
                    <a:lstStyle/>
                    <a:p>
                      <a:pPr algn="l" fontAlgn="b"/>
                      <a:r>
                        <a:rPr lang="en-US" sz="1100" u="none" strike="noStrike" dirty="0">
                          <a:effectLst/>
                        </a:rPr>
                        <a:t>164.308(a)(1)</a:t>
                      </a:r>
                      <a:endParaRPr lang="en-US" sz="1100" b="0" i="0" u="none" strike="noStrike" dirty="0">
                        <a:solidFill>
                          <a:srgbClr val="000000"/>
                        </a:solidFill>
                        <a:effectLst/>
                        <a:latin typeface="Calibri"/>
                      </a:endParaRPr>
                    </a:p>
                  </a:txBody>
                  <a:tcPr marL="9525" marR="9525" marT="9525" marB="0" anchor="b"/>
                </a:tc>
                <a:tc>
                  <a:txBody>
                    <a:bodyPr/>
                    <a:lstStyle/>
                    <a:p>
                      <a:pPr algn="l" fontAlgn="b"/>
                      <a:r>
                        <a:rPr lang="en-US" sz="1100" u="none" strike="noStrike" dirty="0">
                          <a:effectLst/>
                        </a:rPr>
                        <a:t>Risk Analysis [R]</a:t>
                      </a:r>
                      <a:endParaRPr lang="en-US" sz="1100" b="0" i="0" u="none" strike="noStrike" dirty="0">
                        <a:solidFill>
                          <a:srgbClr val="000000"/>
                        </a:solidFill>
                        <a:effectLst/>
                        <a:latin typeface="Calibri"/>
                      </a:endParaRPr>
                    </a:p>
                  </a:txBody>
                  <a:tcPr marL="9525" marR="9525" marT="9525" marB="0" anchor="b"/>
                </a:tc>
              </a:tr>
              <a:tr h="190500">
                <a:tc>
                  <a:txBody>
                    <a:bodyPr/>
                    <a:lstStyle/>
                    <a:p>
                      <a:pPr algn="l" fontAlgn="b"/>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Risk Management [R]</a:t>
                      </a:r>
                      <a:endParaRPr lang="en-US" sz="1100" b="0" i="0" u="none" strike="noStrike">
                        <a:solidFill>
                          <a:srgbClr val="000000"/>
                        </a:solidFill>
                        <a:effectLst/>
                        <a:latin typeface="Calibri"/>
                      </a:endParaRPr>
                    </a:p>
                  </a:txBody>
                  <a:tcPr marL="9525" marR="9525" marT="9525" marB="0" anchor="b"/>
                </a:tc>
              </a:tr>
              <a:tr h="190500">
                <a:tc>
                  <a:txBody>
                    <a:bodyPr/>
                    <a:lstStyle/>
                    <a:p>
                      <a:pPr algn="l" fontAlgn="b"/>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Sanction Policy [R]</a:t>
                      </a:r>
                      <a:endParaRPr lang="en-US" sz="1100" b="0" i="0" u="none" strike="noStrike">
                        <a:solidFill>
                          <a:srgbClr val="000000"/>
                        </a:solidFill>
                        <a:effectLst/>
                        <a:latin typeface="Calibri"/>
                      </a:endParaRPr>
                    </a:p>
                  </a:txBody>
                  <a:tcPr marL="9525" marR="9525" marT="9525" marB="0" anchor="b"/>
                </a:tc>
              </a:tr>
              <a:tr h="190500">
                <a:tc>
                  <a:txBody>
                    <a:bodyPr/>
                    <a:lstStyle/>
                    <a:p>
                      <a:pPr algn="l" fontAlgn="b"/>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Information System Activity Review [R]</a:t>
                      </a:r>
                      <a:endParaRPr lang="en-US" sz="1100" b="0" i="0" u="none" strike="noStrike">
                        <a:solidFill>
                          <a:srgbClr val="000000"/>
                        </a:solidFill>
                        <a:effectLst/>
                        <a:latin typeface="Calibri"/>
                      </a:endParaRPr>
                    </a:p>
                  </a:txBody>
                  <a:tcPr marL="9525" marR="9525" marT="9525" marB="0" anchor="b"/>
                </a:tc>
              </a:tr>
              <a:tr h="190500">
                <a:tc>
                  <a:txBody>
                    <a:bodyPr/>
                    <a:lstStyle/>
                    <a:p>
                      <a:pPr algn="l" fontAlgn="b"/>
                      <a:r>
                        <a:rPr lang="en-US" sz="1100" u="none" strike="noStrike">
                          <a:effectLst/>
                        </a:rPr>
                        <a:t>Assigned Security Responsibility</a:t>
                      </a:r>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164.308(a)(2)</a:t>
                      </a:r>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[R]</a:t>
                      </a:r>
                      <a:endParaRPr lang="en-US" sz="1100" b="0" i="0" u="none" strike="noStrike">
                        <a:solidFill>
                          <a:srgbClr val="000000"/>
                        </a:solidFill>
                        <a:effectLst/>
                        <a:latin typeface="Calibri"/>
                      </a:endParaRPr>
                    </a:p>
                  </a:txBody>
                  <a:tcPr marL="9525" marR="9525" marT="9525" marB="0" anchor="b"/>
                </a:tc>
              </a:tr>
              <a:tr h="645795">
                <a:tc>
                  <a:txBody>
                    <a:bodyPr/>
                    <a:lstStyle/>
                    <a:p>
                      <a:pPr algn="l" fontAlgn="b"/>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7" name="TextBox 6"/>
          <p:cNvSpPr txBox="1"/>
          <p:nvPr/>
        </p:nvSpPr>
        <p:spPr>
          <a:xfrm>
            <a:off x="3962400" y="2667000"/>
            <a:ext cx="228600" cy="923330"/>
          </a:xfrm>
          <a:prstGeom prst="rect">
            <a:avLst/>
          </a:prstGeom>
          <a:noFill/>
        </p:spPr>
        <p:txBody>
          <a:bodyPr wrap="square" rtlCol="0">
            <a:spAutoFit/>
          </a:bodyPr>
          <a:lstStyle/>
          <a:p>
            <a:r>
              <a:rPr lang="en-US" dirty="0" smtClean="0"/>
              <a:t>.</a:t>
            </a:r>
          </a:p>
          <a:p>
            <a:r>
              <a:rPr lang="en-US" dirty="0" smtClean="0"/>
              <a:t>.</a:t>
            </a:r>
          </a:p>
          <a:p>
            <a:endParaRPr lang="en-US" dirty="0"/>
          </a:p>
        </p:txBody>
      </p:sp>
      <p:sp>
        <p:nvSpPr>
          <p:cNvPr id="9" name="Rectangle 8"/>
          <p:cNvSpPr/>
          <p:nvPr/>
        </p:nvSpPr>
        <p:spPr>
          <a:xfrm>
            <a:off x="628934" y="3590330"/>
            <a:ext cx="8077200" cy="584775"/>
          </a:xfrm>
          <a:prstGeom prst="rect">
            <a:avLst/>
          </a:prstGeom>
        </p:spPr>
        <p:txBody>
          <a:bodyPr wrap="square">
            <a:spAutoFit/>
          </a:bodyPr>
          <a:lstStyle/>
          <a:p>
            <a:r>
              <a:rPr lang="en-US" sz="1600" b="1" dirty="0" smtClean="0"/>
              <a:t>Implementation specifications </a:t>
            </a:r>
            <a:r>
              <a:rPr lang="en-US" sz="1600" dirty="0" smtClean="0"/>
              <a:t>are detailed instructions for implementing a particular Standard.  </a:t>
            </a:r>
            <a:endParaRPr lang="en-US" sz="1600" b="1" dirty="0"/>
          </a:p>
        </p:txBody>
      </p:sp>
      <p:sp>
        <p:nvSpPr>
          <p:cNvPr id="10" name="Rectangle 9"/>
          <p:cNvSpPr/>
          <p:nvPr/>
        </p:nvSpPr>
        <p:spPr>
          <a:xfrm>
            <a:off x="781334" y="4495800"/>
            <a:ext cx="8077200" cy="1323439"/>
          </a:xfrm>
          <a:prstGeom prst="rect">
            <a:avLst/>
          </a:prstGeom>
        </p:spPr>
        <p:txBody>
          <a:bodyPr wrap="square">
            <a:spAutoFit/>
          </a:bodyPr>
          <a:lstStyle/>
          <a:p>
            <a:r>
              <a:rPr lang="en-US" sz="1600" b="1" dirty="0" smtClean="0"/>
              <a:t>“Required” </a:t>
            </a:r>
            <a:r>
              <a:rPr lang="en-US" sz="1600" dirty="0" smtClean="0"/>
              <a:t>– covered entity must implement policies and/or procedures to meet requirements of specification </a:t>
            </a:r>
          </a:p>
          <a:p>
            <a:r>
              <a:rPr lang="en-US" sz="1600" b="1" dirty="0" smtClean="0"/>
              <a:t>“Addressable” </a:t>
            </a:r>
            <a:r>
              <a:rPr lang="en-US" sz="1600" dirty="0" smtClean="0"/>
              <a:t>– covered entity must assess whether it is reasonable and appropriate in the entity’s environment </a:t>
            </a:r>
            <a:r>
              <a:rPr lang="en-US" sz="1600" i="1" dirty="0" smtClean="0"/>
              <a:t>(your organization) .  </a:t>
            </a:r>
            <a:r>
              <a:rPr lang="en-US" sz="1600" b="1" i="1" dirty="0" smtClean="0"/>
              <a:t>Addressable does </a:t>
            </a:r>
            <a:r>
              <a:rPr lang="en-US" sz="1600" b="1" i="1" u="sng" dirty="0" smtClean="0"/>
              <a:t>not</a:t>
            </a:r>
            <a:r>
              <a:rPr lang="en-US" sz="1600" b="1" i="1" dirty="0" smtClean="0"/>
              <a:t> mean optional.</a:t>
            </a:r>
            <a:endParaRPr lang="en-US" sz="1600" b="1" i="1" dirty="0"/>
          </a:p>
        </p:txBody>
      </p:sp>
    </p:spTree>
    <p:extLst>
      <p:ext uri="{BB962C8B-B14F-4D97-AF65-F5344CB8AC3E}">
        <p14:creationId xmlns:p14="http://schemas.microsoft.com/office/powerpoint/2010/main" val="198242843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4397" y="1403294"/>
            <a:ext cx="6858000" cy="3170099"/>
          </a:xfrm>
          <a:prstGeom prst="rect">
            <a:avLst/>
          </a:prstGeom>
        </p:spPr>
        <p:txBody>
          <a:bodyPr wrap="square">
            <a:spAutoFit/>
          </a:bodyPr>
          <a:lstStyle/>
          <a:p>
            <a:r>
              <a:rPr lang="en-US" sz="2800" b="1" dirty="0" smtClean="0"/>
              <a:t>Security Management Process (S)</a:t>
            </a:r>
          </a:p>
          <a:p>
            <a:pPr marL="914400" lvl="1" indent="-457200">
              <a:buFont typeface="Wingdings" panose="05000000000000000000" pitchFamily="2" charset="2"/>
              <a:buChar char="§"/>
            </a:pPr>
            <a:r>
              <a:rPr lang="en-US" sz="3200" b="1" i="1" dirty="0" smtClean="0">
                <a:solidFill>
                  <a:srgbClr val="FF0000"/>
                </a:solidFill>
              </a:rPr>
              <a:t>Risk Analysis (R) </a:t>
            </a:r>
          </a:p>
          <a:p>
            <a:pPr marL="914400" lvl="1" indent="-457200">
              <a:buFont typeface="Wingdings" panose="05000000000000000000" pitchFamily="2" charset="2"/>
              <a:buChar char="§"/>
            </a:pPr>
            <a:r>
              <a:rPr lang="en-US" sz="2000" b="1" dirty="0" smtClean="0"/>
              <a:t>Risk Management (R) </a:t>
            </a:r>
          </a:p>
          <a:p>
            <a:pPr marL="914400" lvl="1" indent="-457200">
              <a:buFont typeface="Wingdings" panose="05000000000000000000" pitchFamily="2" charset="2"/>
              <a:buChar char="§"/>
            </a:pPr>
            <a:r>
              <a:rPr lang="en-US" sz="2000" b="1" dirty="0" smtClean="0"/>
              <a:t>Sanction </a:t>
            </a:r>
            <a:r>
              <a:rPr lang="en-US" sz="2000" b="1" dirty="0"/>
              <a:t>Policy (R) 	</a:t>
            </a:r>
            <a:endParaRPr lang="en-US" sz="2000" b="1" dirty="0" smtClean="0"/>
          </a:p>
          <a:p>
            <a:pPr marL="914400" lvl="1" indent="-457200">
              <a:buFont typeface="Wingdings" panose="05000000000000000000" pitchFamily="2" charset="2"/>
              <a:buChar char="§"/>
            </a:pPr>
            <a:r>
              <a:rPr lang="en-US" sz="2000" b="1" dirty="0" smtClean="0"/>
              <a:t>Information System Activity </a:t>
            </a:r>
            <a:r>
              <a:rPr lang="en-US" sz="2000" b="1" dirty="0"/>
              <a:t>Review (R) </a:t>
            </a:r>
            <a:endParaRPr lang="en-US" sz="2000" b="1" dirty="0" smtClean="0"/>
          </a:p>
          <a:p>
            <a:pPr marL="914400" lvl="1" indent="-457200">
              <a:buFont typeface="Wingdings" panose="05000000000000000000" pitchFamily="2" charset="2"/>
              <a:buChar char="§"/>
            </a:pPr>
            <a:endParaRPr lang="en-US" sz="2000" b="1" dirty="0"/>
          </a:p>
          <a:p>
            <a:pPr marL="914400" lvl="1" indent="-457200">
              <a:buFont typeface="Wingdings" panose="05000000000000000000" pitchFamily="2" charset="2"/>
              <a:buChar char="§"/>
            </a:pPr>
            <a:endParaRPr lang="en-US" sz="2000" b="1" dirty="0" smtClean="0"/>
          </a:p>
          <a:p>
            <a:pPr marL="914400" lvl="1" indent="-457200">
              <a:buFont typeface="Wingdings" panose="05000000000000000000" pitchFamily="2" charset="2"/>
              <a:buChar char="§"/>
            </a:pPr>
            <a:endParaRPr lang="en-US" sz="2000" b="1" dirty="0"/>
          </a:p>
          <a:p>
            <a:pPr marL="914400" lvl="1" indent="-457200">
              <a:buFont typeface="Wingdings" panose="05000000000000000000" pitchFamily="2" charset="2"/>
              <a:buChar char="§"/>
            </a:pPr>
            <a:endParaRPr lang="en-US" sz="2000" b="1"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Administrative Safeguards</a:t>
            </a:r>
            <a:endParaRPr lang="en-US" sz="3600" dirty="0"/>
          </a:p>
        </p:txBody>
      </p:sp>
      <p:grpSp>
        <p:nvGrpSpPr>
          <p:cNvPr id="6" name="Group 5"/>
          <p:cNvGrpSpPr/>
          <p:nvPr/>
        </p:nvGrpSpPr>
        <p:grpSpPr>
          <a:xfrm>
            <a:off x="3517771" y="3349850"/>
            <a:ext cx="4347308" cy="820168"/>
            <a:chOff x="358930" y="1482955"/>
            <a:chExt cx="5185395" cy="1372388"/>
          </a:xfrm>
        </p:grpSpPr>
        <p:sp>
          <p:nvSpPr>
            <p:cNvPr id="7" name="Freeform 6"/>
            <p:cNvSpPr/>
            <p:nvPr/>
          </p:nvSpPr>
          <p:spPr>
            <a:xfrm>
              <a:off x="358930" y="1482955"/>
              <a:ext cx="5185395" cy="1372388"/>
            </a:xfrm>
            <a:custGeom>
              <a:avLst/>
              <a:gdLst>
                <a:gd name="connsiteX0" fmla="*/ 0 w 3047999"/>
                <a:gd name="connsiteY0" fmla="*/ 0 h 461883"/>
                <a:gd name="connsiteX1" fmla="*/ 3047999 w 3047999"/>
                <a:gd name="connsiteY1" fmla="*/ 0 h 461883"/>
                <a:gd name="connsiteX2" fmla="*/ 3047999 w 3047999"/>
                <a:gd name="connsiteY2" fmla="*/ 461883 h 461883"/>
                <a:gd name="connsiteX3" fmla="*/ 0 w 3047999"/>
                <a:gd name="connsiteY3" fmla="*/ 461883 h 461883"/>
                <a:gd name="connsiteX4" fmla="*/ 0 w 3047999"/>
                <a:gd name="connsiteY4" fmla="*/ 0 h 461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99" h="461883">
                  <a:moveTo>
                    <a:pt x="0" y="0"/>
                  </a:moveTo>
                  <a:lnTo>
                    <a:pt x="3047999" y="0"/>
                  </a:lnTo>
                  <a:lnTo>
                    <a:pt x="3047999" y="461883"/>
                  </a:lnTo>
                  <a:lnTo>
                    <a:pt x="0" y="461883"/>
                  </a:lnTo>
                  <a:lnTo>
                    <a:pt x="0" y="0"/>
                  </a:lnTo>
                  <a:close/>
                </a:path>
              </a:pathLst>
            </a:custGeom>
            <a:solidFill>
              <a:srgbClr val="CEE8FC">
                <a:alpha val="90000"/>
              </a:srgb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6248" tIns="36830" rIns="206248" bIns="36830" numCol="1" spcCol="1270" anchor="ctr" anchorCtr="0">
              <a:noAutofit/>
            </a:bodyPr>
            <a:lstStyle/>
            <a:p>
              <a:pPr lvl="0" algn="ctr" defTabSz="1289050">
                <a:lnSpc>
                  <a:spcPct val="90000"/>
                </a:lnSpc>
                <a:spcBef>
                  <a:spcPct val="0"/>
                </a:spcBef>
                <a:spcAft>
                  <a:spcPct val="35000"/>
                </a:spcAft>
              </a:pPr>
              <a:endParaRPr lang="en-US" sz="2900" kern="1200"/>
            </a:p>
          </p:txBody>
        </p:sp>
        <p:sp>
          <p:nvSpPr>
            <p:cNvPr id="8" name="TextBox 7"/>
            <p:cNvSpPr txBox="1"/>
            <p:nvPr/>
          </p:nvSpPr>
          <p:spPr>
            <a:xfrm>
              <a:off x="461216" y="1624384"/>
              <a:ext cx="4980821" cy="1127857"/>
            </a:xfrm>
            <a:prstGeom prst="rect">
              <a:avLst/>
            </a:prstGeom>
            <a:noFill/>
          </p:spPr>
          <p:txBody>
            <a:bodyPr wrap="square" rtlCol="0">
              <a:spAutoFit/>
            </a:bodyPr>
            <a:lstStyle/>
            <a:p>
              <a:pPr>
                <a:lnSpc>
                  <a:spcPct val="90000"/>
                </a:lnSpc>
                <a:spcAft>
                  <a:spcPts val="600"/>
                </a:spcAft>
                <a:buClr>
                  <a:srgbClr val="004186"/>
                </a:buClr>
              </a:pPr>
              <a:r>
                <a:rPr lang="en-US" sz="1400" b="1" dirty="0" smtClean="0"/>
                <a:t>Protect electronic PHI </a:t>
              </a:r>
              <a:r>
                <a:rPr lang="en-US" sz="1400" dirty="0" smtClean="0"/>
                <a:t>- Conduct a security </a:t>
              </a:r>
              <a:r>
                <a:rPr lang="en-US" sz="1400" b="1" i="1" dirty="0"/>
                <a:t>R</a:t>
              </a:r>
              <a:r>
                <a:rPr lang="en-US" sz="1400" b="1" i="1" dirty="0" smtClean="0"/>
                <a:t>isk </a:t>
              </a:r>
              <a:r>
                <a:rPr lang="en-US" sz="1400" b="1" i="1" dirty="0"/>
                <a:t>A</a:t>
              </a:r>
              <a:r>
                <a:rPr lang="en-US" sz="1400" b="1" i="1" dirty="0" smtClean="0"/>
                <a:t>nalysis </a:t>
              </a:r>
              <a:r>
                <a:rPr lang="en-US" sz="1400" dirty="0" smtClean="0"/>
                <a:t>in accordance with the requirements under 45 CFR 164.308 (a)(1)</a:t>
              </a:r>
            </a:p>
          </p:txBody>
        </p:sp>
      </p:grpSp>
      <p:grpSp>
        <p:nvGrpSpPr>
          <p:cNvPr id="9" name="Group 8"/>
          <p:cNvGrpSpPr/>
          <p:nvPr/>
        </p:nvGrpSpPr>
        <p:grpSpPr>
          <a:xfrm>
            <a:off x="698016" y="3434469"/>
            <a:ext cx="1670494" cy="686194"/>
            <a:chOff x="425725" y="1298192"/>
            <a:chExt cx="1670494" cy="686194"/>
          </a:xfrm>
        </p:grpSpPr>
        <p:sp>
          <p:nvSpPr>
            <p:cNvPr id="10" name="Freeform 9"/>
            <p:cNvSpPr/>
            <p:nvPr/>
          </p:nvSpPr>
          <p:spPr>
            <a:xfrm>
              <a:off x="425725" y="1298192"/>
              <a:ext cx="1670494" cy="686194"/>
            </a:xfrm>
            <a:custGeom>
              <a:avLst/>
              <a:gdLst>
                <a:gd name="connsiteX0" fmla="*/ 0 w 3047999"/>
                <a:gd name="connsiteY0" fmla="*/ 0 h 461883"/>
                <a:gd name="connsiteX1" fmla="*/ 3047999 w 3047999"/>
                <a:gd name="connsiteY1" fmla="*/ 0 h 461883"/>
                <a:gd name="connsiteX2" fmla="*/ 3047999 w 3047999"/>
                <a:gd name="connsiteY2" fmla="*/ 461883 h 461883"/>
                <a:gd name="connsiteX3" fmla="*/ 0 w 3047999"/>
                <a:gd name="connsiteY3" fmla="*/ 461883 h 461883"/>
                <a:gd name="connsiteX4" fmla="*/ 0 w 3047999"/>
                <a:gd name="connsiteY4" fmla="*/ 0 h 461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99" h="461883">
                  <a:moveTo>
                    <a:pt x="0" y="0"/>
                  </a:moveTo>
                  <a:lnTo>
                    <a:pt x="3047999" y="0"/>
                  </a:lnTo>
                  <a:lnTo>
                    <a:pt x="3047999" y="461883"/>
                  </a:lnTo>
                  <a:lnTo>
                    <a:pt x="0" y="461883"/>
                  </a:lnTo>
                  <a:lnTo>
                    <a:pt x="0" y="0"/>
                  </a:lnTo>
                  <a:close/>
                </a:path>
              </a:pathLst>
            </a:custGeom>
            <a:solidFill>
              <a:srgbClr val="B01E2D">
                <a:alpha val="90000"/>
              </a:srgb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6248" tIns="36830" rIns="206248" bIns="36830" numCol="1" spcCol="1270" anchor="ctr" anchorCtr="0">
              <a:noAutofit/>
            </a:bodyPr>
            <a:lstStyle/>
            <a:p>
              <a:pPr lvl="0" algn="ctr" defTabSz="1289050">
                <a:lnSpc>
                  <a:spcPct val="90000"/>
                </a:lnSpc>
                <a:spcBef>
                  <a:spcPct val="0"/>
                </a:spcBef>
                <a:spcAft>
                  <a:spcPct val="35000"/>
                </a:spcAft>
              </a:pPr>
              <a:endParaRPr lang="en-US" sz="2900" kern="1200" dirty="0"/>
            </a:p>
          </p:txBody>
        </p:sp>
        <p:sp>
          <p:nvSpPr>
            <p:cNvPr id="11" name="TextBox 10"/>
            <p:cNvSpPr txBox="1"/>
            <p:nvPr/>
          </p:nvSpPr>
          <p:spPr>
            <a:xfrm>
              <a:off x="428600" y="1396501"/>
              <a:ext cx="1640095" cy="523220"/>
            </a:xfrm>
            <a:prstGeom prst="rect">
              <a:avLst/>
            </a:prstGeom>
            <a:noFill/>
          </p:spPr>
          <p:txBody>
            <a:bodyPr wrap="square" rtlCol="0">
              <a:spAutoFit/>
            </a:bodyPr>
            <a:lstStyle/>
            <a:p>
              <a:pPr algn="ctr"/>
              <a:r>
                <a:rPr lang="pt-BR" sz="1400" b="1" dirty="0" smtClean="0">
                  <a:solidFill>
                    <a:schemeClr val="bg1"/>
                  </a:solidFill>
                </a:rPr>
                <a:t>MU Core Measure # 11</a:t>
              </a:r>
            </a:p>
          </p:txBody>
        </p:sp>
      </p:grpSp>
      <p:sp>
        <p:nvSpPr>
          <p:cNvPr id="12" name="Right Arrow 11"/>
          <p:cNvSpPr/>
          <p:nvPr/>
        </p:nvSpPr>
        <p:spPr>
          <a:xfrm>
            <a:off x="2578016" y="3549970"/>
            <a:ext cx="793820" cy="393201"/>
          </a:xfrm>
          <a:prstGeom prst="rightArrow">
            <a:avLst/>
          </a:prstGeom>
          <a:solidFill>
            <a:srgbClr val="B01E2D"/>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98017" y="4464659"/>
            <a:ext cx="7854380" cy="1077218"/>
          </a:xfrm>
          <a:prstGeom prst="rect">
            <a:avLst/>
          </a:prstGeom>
        </p:spPr>
        <p:txBody>
          <a:bodyPr wrap="square">
            <a:spAutoFit/>
          </a:bodyPr>
          <a:lstStyle/>
          <a:p>
            <a:r>
              <a:rPr lang="en-US" sz="1600" b="1" dirty="0" smtClean="0"/>
              <a:t>In order to </a:t>
            </a:r>
            <a:r>
              <a:rPr lang="en-US" sz="1600" b="1" u="sng" dirty="0" smtClean="0"/>
              <a:t>ATTEST</a:t>
            </a:r>
            <a:r>
              <a:rPr lang="en-US" sz="1600" b="1" dirty="0" smtClean="0"/>
              <a:t> to MU Stage 1 and Stage 2 Core Measure entitled – “Protect electronic PHI”;  providers are required to conduct an accurate and thorough analysis of the potential risks and vulnerabilities to the confidentiality, integrity, and availability of ePHI.  </a:t>
            </a:r>
            <a:r>
              <a:rPr lang="en-US" sz="1100" b="1" dirty="0" smtClean="0"/>
              <a:t>&lt;</a:t>
            </a:r>
            <a:r>
              <a:rPr lang="en-US" sz="1100" b="1" i="1" dirty="0" smtClean="0"/>
              <a:t>CMS  MU security analysis TIP Sheet&gt;</a:t>
            </a:r>
          </a:p>
        </p:txBody>
      </p:sp>
      <p:sp>
        <p:nvSpPr>
          <p:cNvPr id="14" name="Rectangle 13"/>
          <p:cNvSpPr/>
          <p:nvPr/>
        </p:nvSpPr>
        <p:spPr>
          <a:xfrm>
            <a:off x="3668506" y="5715000"/>
            <a:ext cx="3800532" cy="646331"/>
          </a:xfrm>
          <a:prstGeom prst="rect">
            <a:avLst/>
          </a:prstGeom>
        </p:spPr>
        <p:txBody>
          <a:bodyPr wrap="square">
            <a:spAutoFit/>
          </a:bodyPr>
          <a:lstStyle/>
          <a:p>
            <a:pPr lvl="1"/>
            <a:r>
              <a:rPr lang="en-US" sz="1200" b="1" i="1" dirty="0" smtClean="0"/>
              <a:t>Note: a security risk analysis must be conducted during each reporting period for Stage 1 and Stage 2</a:t>
            </a:r>
            <a:endParaRPr lang="en-US" sz="1200" b="1" dirty="0"/>
          </a:p>
        </p:txBody>
      </p:sp>
      <p:pic>
        <p:nvPicPr>
          <p:cNvPr id="15" name="Picture 2" descr="http://i1.squidoocdn.com/resize/squidoo_images/400/draft_lens19073910module156484045photo_1330455653-a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9038" y="1324186"/>
            <a:ext cx="1308479" cy="1353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92601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How do we Visualize Risk?</a:t>
            </a:r>
            <a:endParaRPr lang="en-US" sz="36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2718" y="1178457"/>
            <a:ext cx="7040880"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3124200" y="5334000"/>
            <a:ext cx="3800532" cy="276999"/>
          </a:xfrm>
          <a:prstGeom prst="rect">
            <a:avLst/>
          </a:prstGeom>
        </p:spPr>
        <p:txBody>
          <a:bodyPr wrap="square">
            <a:spAutoFit/>
          </a:bodyPr>
          <a:lstStyle/>
          <a:p>
            <a:pPr lvl="1"/>
            <a:r>
              <a:rPr lang="en-US" sz="1200" b="1" i="1" dirty="0" smtClean="0"/>
              <a:t>Copyright of the Supremus Group Venture</a:t>
            </a:r>
            <a:endParaRPr lang="en-US" sz="1200" b="1" dirty="0"/>
          </a:p>
        </p:txBody>
      </p:sp>
    </p:spTree>
    <p:extLst>
      <p:ext uri="{BB962C8B-B14F-4D97-AF65-F5344CB8AC3E}">
        <p14:creationId xmlns:p14="http://schemas.microsoft.com/office/powerpoint/2010/main" val="290705307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Risk Analysis Process</a:t>
            </a:r>
            <a:endParaRPr lang="en-US" sz="3600" dirty="0"/>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896" y="1219200"/>
            <a:ext cx="7668904" cy="44695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607" y="1237333"/>
            <a:ext cx="1236823" cy="820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5134529"/>
            <a:ext cx="1562243" cy="8852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2819400" y="5943600"/>
            <a:ext cx="3810000" cy="307777"/>
          </a:xfrm>
          <a:prstGeom prst="rect">
            <a:avLst/>
          </a:prstGeom>
          <a:solidFill>
            <a:schemeClr val="accent1">
              <a:lumMod val="75000"/>
            </a:schemeClr>
          </a:solidFill>
        </p:spPr>
        <p:txBody>
          <a:bodyPr wrap="square">
            <a:spAutoFit/>
          </a:bodyPr>
          <a:lstStyle/>
          <a:p>
            <a:r>
              <a:rPr lang="en-US" sz="1400" b="1" dirty="0" smtClean="0">
                <a:solidFill>
                  <a:schemeClr val="bg1"/>
                </a:solidFill>
              </a:rPr>
              <a:t>Vulnerability </a:t>
            </a:r>
            <a:r>
              <a:rPr lang="en-US" sz="1400" dirty="0" smtClean="0">
                <a:solidFill>
                  <a:schemeClr val="bg1"/>
                </a:solidFill>
              </a:rPr>
              <a:t>exploited by</a:t>
            </a:r>
            <a:r>
              <a:rPr lang="en-US" sz="1400" b="1" dirty="0" smtClean="0">
                <a:solidFill>
                  <a:schemeClr val="bg1"/>
                </a:solidFill>
              </a:rPr>
              <a:t> Threat = Risk</a:t>
            </a:r>
          </a:p>
        </p:txBody>
      </p:sp>
    </p:spTree>
    <p:extLst>
      <p:ext uri="{BB962C8B-B14F-4D97-AF65-F5344CB8AC3E}">
        <p14:creationId xmlns:p14="http://schemas.microsoft.com/office/powerpoint/2010/main" val="284053151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2000250"/>
            <a:ext cx="6705600" cy="3970318"/>
          </a:xfrm>
          <a:prstGeom prst="rect">
            <a:avLst/>
          </a:prstGeom>
        </p:spPr>
        <p:txBody>
          <a:bodyPr wrap="square">
            <a:spAutoFit/>
          </a:bodyPr>
          <a:lstStyle/>
          <a:p>
            <a:r>
              <a:rPr lang="en-US" sz="2800" b="1" dirty="0" smtClean="0"/>
              <a:t>Step 1 – System Characterization</a:t>
            </a:r>
          </a:p>
          <a:p>
            <a:r>
              <a:rPr lang="en-US" sz="2800" b="1" dirty="0" smtClean="0"/>
              <a:t>Step 2 – Threat Identification</a:t>
            </a:r>
          </a:p>
          <a:p>
            <a:r>
              <a:rPr lang="en-US" sz="2800" b="1" dirty="0" smtClean="0"/>
              <a:t>Step 3 – Vulnerability Identification</a:t>
            </a:r>
          </a:p>
          <a:p>
            <a:r>
              <a:rPr lang="en-US" sz="2800" b="1" dirty="0" smtClean="0"/>
              <a:t>Step 4 – Control(s) Analysis</a:t>
            </a:r>
          </a:p>
          <a:p>
            <a:r>
              <a:rPr lang="en-US" sz="2800" b="1" dirty="0" smtClean="0"/>
              <a:t>Step 5 – Likelihood Determination</a:t>
            </a:r>
          </a:p>
          <a:p>
            <a:r>
              <a:rPr lang="en-US" sz="2800" b="1" dirty="0" smtClean="0"/>
              <a:t>Step 6 – Impact Analysis</a:t>
            </a:r>
          </a:p>
          <a:p>
            <a:r>
              <a:rPr lang="en-US" sz="2800" b="1" dirty="0" smtClean="0"/>
              <a:t>Step 7 – Risk Determination</a:t>
            </a:r>
          </a:p>
          <a:p>
            <a:r>
              <a:rPr lang="en-US" sz="2800" b="1" dirty="0" smtClean="0"/>
              <a:t>Step 8 – Control(s) Recommendations</a:t>
            </a:r>
          </a:p>
          <a:p>
            <a:r>
              <a:rPr lang="en-US" sz="2800" b="1" dirty="0" smtClean="0"/>
              <a:t>Step 9 – Results Documentation</a:t>
            </a:r>
            <a:endParaRPr lang="en-US" sz="2600" b="1" dirty="0" smtClean="0"/>
          </a:p>
        </p:txBody>
      </p:sp>
      <p:sp>
        <p:nvSpPr>
          <p:cNvPr id="3" name="Title 1"/>
          <p:cNvSpPr txBox="1">
            <a:spLocks/>
          </p:cNvSpPr>
          <p:nvPr/>
        </p:nvSpPr>
        <p:spPr>
          <a:xfrm>
            <a:off x="457200" y="393940"/>
            <a:ext cx="7848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Risk Analysis Guidelines</a:t>
            </a:r>
            <a:endParaRPr lang="en-US" sz="2000" dirty="0"/>
          </a:p>
        </p:txBody>
      </p:sp>
      <p:sp>
        <p:nvSpPr>
          <p:cNvPr id="4" name="Content Placeholder 1"/>
          <p:cNvSpPr txBox="1">
            <a:spLocks/>
          </p:cNvSpPr>
          <p:nvPr/>
        </p:nvSpPr>
        <p:spPr>
          <a:xfrm>
            <a:off x="293221" y="1302577"/>
            <a:ext cx="1002179" cy="483086"/>
          </a:xfrm>
          <a:prstGeom prst="rect">
            <a:avLst/>
          </a:prstGeom>
          <a:solidFill>
            <a:srgbClr val="00B0F0"/>
          </a:solidFill>
          <a:effectLst>
            <a:glow rad="101600">
              <a:schemeClr val="accent5">
                <a:satMod val="175000"/>
                <a:alpha val="40000"/>
              </a:schemeClr>
            </a:glow>
            <a:outerShdw blurRad="50800" dist="38100" dir="5400000" algn="t" rotWithShape="0">
              <a:prstClr val="black">
                <a:alpha val="40000"/>
              </a:prstClr>
            </a:outerShdw>
          </a:effectLst>
        </p:spPr>
        <p:txBody>
          <a:bodyPr vert="horz">
            <a:normAutofit fontScale="77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600" dirty="0" smtClean="0"/>
              <a:t>NIST</a:t>
            </a:r>
          </a:p>
          <a:p>
            <a:pPr marL="0" indent="0" algn="ctr" fontAlgn="auto">
              <a:buFont typeface="Wingdings 3"/>
              <a:buNone/>
            </a:pPr>
            <a:r>
              <a:rPr lang="en-US" sz="1600" dirty="0" smtClean="0"/>
              <a:t>SP800-30</a:t>
            </a:r>
            <a:endParaRPr lang="en-US" sz="2400" dirty="0"/>
          </a:p>
        </p:txBody>
      </p:sp>
      <p:pic>
        <p:nvPicPr>
          <p:cNvPr id="1028" name="Picture 4" descr="C:\Users\larry delone\AppData\Local\Microsoft\Windows\Temporary Internet Files\Content.IE5\8EMZ1ANN\MC900432665[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8950" y="1143000"/>
            <a:ext cx="1714500" cy="17145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133600" y="1374843"/>
            <a:ext cx="3924300" cy="338554"/>
          </a:xfrm>
          <a:prstGeom prst="rect">
            <a:avLst/>
          </a:prstGeom>
          <a:solidFill>
            <a:schemeClr val="tx2"/>
          </a:solidFill>
        </p:spPr>
        <p:txBody>
          <a:bodyPr wrap="square">
            <a:spAutoFit/>
          </a:bodyPr>
          <a:lstStyle/>
          <a:p>
            <a:pPr algn="ctr"/>
            <a:r>
              <a:rPr lang="en-US" sz="1600" b="1" dirty="0" smtClean="0">
                <a:solidFill>
                  <a:schemeClr val="bg1"/>
                </a:solidFill>
              </a:rPr>
              <a:t>MU Core Measure 11 – “Protect PHI”</a:t>
            </a:r>
          </a:p>
        </p:txBody>
      </p:sp>
    </p:spTree>
    <p:extLst>
      <p:ext uri="{BB962C8B-B14F-4D97-AF65-F5344CB8AC3E}">
        <p14:creationId xmlns:p14="http://schemas.microsoft.com/office/powerpoint/2010/main" val="242079877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5075" y="1472840"/>
            <a:ext cx="7425525" cy="4524315"/>
          </a:xfrm>
          <a:prstGeom prst="rect">
            <a:avLst/>
          </a:prstGeom>
        </p:spPr>
        <p:txBody>
          <a:bodyPr wrap="square">
            <a:spAutoFit/>
          </a:bodyPr>
          <a:lstStyle/>
          <a:p>
            <a:pPr marL="342900" indent="-342900">
              <a:buFont typeface="Wingdings" panose="05000000000000000000" pitchFamily="2" charset="2"/>
              <a:buChar char="q"/>
            </a:pPr>
            <a:r>
              <a:rPr lang="en-US" sz="2400" b="1" dirty="0" smtClean="0"/>
              <a:t>Assign Security Responsibility (S)</a:t>
            </a:r>
          </a:p>
          <a:p>
            <a:pPr marL="800100" lvl="1" indent="-342900">
              <a:buFont typeface="Wingdings" panose="05000000000000000000" pitchFamily="2" charset="2"/>
              <a:buChar char="§"/>
            </a:pPr>
            <a:r>
              <a:rPr lang="en-US" sz="2400" b="1" dirty="0" smtClean="0"/>
              <a:t>Identify and Assign Security </a:t>
            </a:r>
          </a:p>
          <a:p>
            <a:pPr lvl="1"/>
            <a:r>
              <a:rPr lang="en-US" sz="2400" b="1" dirty="0"/>
              <a:t>	</a:t>
            </a:r>
            <a:r>
              <a:rPr lang="en-US" sz="2400" b="1" dirty="0" smtClean="0"/>
              <a:t>Officer (R) </a:t>
            </a:r>
          </a:p>
          <a:p>
            <a:pPr marL="342900" indent="-342900">
              <a:buFont typeface="Wingdings" panose="05000000000000000000" pitchFamily="2" charset="2"/>
              <a:buChar char="q"/>
            </a:pPr>
            <a:r>
              <a:rPr lang="en-US" sz="2400" b="1" dirty="0" smtClean="0"/>
              <a:t>Workforce Security (S)</a:t>
            </a:r>
          </a:p>
          <a:p>
            <a:pPr marL="800100" lvl="1" indent="-342900">
              <a:buFont typeface="Wingdings" panose="05000000000000000000" pitchFamily="2" charset="2"/>
              <a:buChar char="§"/>
            </a:pPr>
            <a:r>
              <a:rPr lang="en-US" sz="2400" b="1" dirty="0" smtClean="0"/>
              <a:t>Authorization and/or Supervision (A)</a:t>
            </a:r>
          </a:p>
          <a:p>
            <a:pPr marL="800100" lvl="1" indent="-342900">
              <a:buFont typeface="Wingdings" panose="05000000000000000000" pitchFamily="2" charset="2"/>
              <a:buChar char="§"/>
            </a:pPr>
            <a:r>
              <a:rPr lang="en-US" sz="2400" b="1" dirty="0" smtClean="0"/>
              <a:t>Workforce clearance procedure (A)</a:t>
            </a:r>
          </a:p>
          <a:p>
            <a:pPr marL="800100" lvl="1" indent="-342900">
              <a:buFont typeface="Wingdings" panose="05000000000000000000" pitchFamily="2" charset="2"/>
              <a:buChar char="§"/>
            </a:pPr>
            <a:r>
              <a:rPr lang="en-US" sz="2400" b="1" dirty="0" smtClean="0"/>
              <a:t>Termination procedure (A)</a:t>
            </a:r>
          </a:p>
          <a:p>
            <a:pPr marL="342900" indent="-342900">
              <a:buFont typeface="Wingdings" panose="05000000000000000000" pitchFamily="2" charset="2"/>
              <a:buChar char="q"/>
            </a:pPr>
            <a:r>
              <a:rPr lang="en-US" sz="2400" b="1" dirty="0" smtClean="0"/>
              <a:t>Information Access Management (S)</a:t>
            </a:r>
          </a:p>
          <a:p>
            <a:pPr marL="800100" lvl="1" indent="-342900">
              <a:buFont typeface="Wingdings" panose="05000000000000000000" pitchFamily="2" charset="2"/>
              <a:buChar char="§"/>
            </a:pPr>
            <a:r>
              <a:rPr lang="en-US" sz="2400" b="1" dirty="0" smtClean="0"/>
              <a:t>Isolating Healthcare Clearinghouse Function (R) </a:t>
            </a:r>
          </a:p>
          <a:p>
            <a:pPr marL="800100" lvl="1" indent="-342900">
              <a:buFont typeface="Wingdings" panose="05000000000000000000" pitchFamily="2" charset="2"/>
              <a:buChar char="§"/>
            </a:pPr>
            <a:r>
              <a:rPr lang="en-US" sz="2400" b="1" dirty="0" smtClean="0"/>
              <a:t>Access Authorization (A)</a:t>
            </a:r>
          </a:p>
          <a:p>
            <a:pPr marL="800100" lvl="1" indent="-342900">
              <a:buFont typeface="Wingdings" panose="05000000000000000000" pitchFamily="2" charset="2"/>
              <a:buChar char="§"/>
            </a:pPr>
            <a:r>
              <a:rPr lang="en-US" sz="2400" b="1" dirty="0" smtClean="0"/>
              <a:t>Access Establishment and Modification (A)</a:t>
            </a:r>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Administrative </a:t>
            </a:r>
            <a:r>
              <a:rPr lang="en-US" sz="3600" dirty="0"/>
              <a:t>Safeguards </a:t>
            </a:r>
            <a:r>
              <a:rPr lang="en-US" sz="2000" dirty="0"/>
              <a:t>(cont.)</a:t>
            </a:r>
          </a:p>
          <a:p>
            <a:pPr algn="l"/>
            <a:endParaRPr lang="en-US" sz="3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6695" y="1186132"/>
            <a:ext cx="1356705" cy="1795024"/>
          </a:xfrm>
          <a:prstGeom prst="rect">
            <a:avLst/>
          </a:prstGeom>
        </p:spPr>
      </p:pic>
    </p:spTree>
    <p:extLst>
      <p:ext uri="{BB962C8B-B14F-4D97-AF65-F5344CB8AC3E}">
        <p14:creationId xmlns:p14="http://schemas.microsoft.com/office/powerpoint/2010/main" val="358617629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1342" y="1282456"/>
            <a:ext cx="7431657" cy="4678204"/>
          </a:xfrm>
          <a:prstGeom prst="rect">
            <a:avLst/>
          </a:prstGeom>
        </p:spPr>
        <p:txBody>
          <a:bodyPr wrap="square">
            <a:spAutoFit/>
          </a:bodyPr>
          <a:lstStyle/>
          <a:p>
            <a:pPr marL="342900" indent="-342900">
              <a:buFont typeface="Wingdings" panose="05000000000000000000" pitchFamily="2" charset="2"/>
              <a:buChar char="q"/>
            </a:pPr>
            <a:r>
              <a:rPr lang="en-US" sz="2000" b="1" dirty="0"/>
              <a:t>Security Awareness &amp; </a:t>
            </a:r>
            <a:r>
              <a:rPr lang="en-US" sz="2000" b="1" dirty="0" smtClean="0"/>
              <a:t>Training (S)</a:t>
            </a:r>
            <a:endParaRPr lang="en-US" sz="2000" b="1" dirty="0"/>
          </a:p>
          <a:p>
            <a:pPr marL="800100" lvl="1" indent="-342900">
              <a:buFont typeface="Wingdings" panose="05000000000000000000" pitchFamily="2" charset="2"/>
              <a:buChar char="§"/>
            </a:pPr>
            <a:r>
              <a:rPr lang="en-US" b="1" dirty="0" smtClean="0"/>
              <a:t>Security Reminders (A)</a:t>
            </a:r>
          </a:p>
          <a:p>
            <a:pPr marL="800100" lvl="1" indent="-342900">
              <a:buFont typeface="Wingdings" panose="05000000000000000000" pitchFamily="2" charset="2"/>
              <a:buChar char="§"/>
            </a:pPr>
            <a:r>
              <a:rPr lang="en-US" b="1" dirty="0" smtClean="0"/>
              <a:t>Protection from Malicious Software (A)</a:t>
            </a:r>
          </a:p>
          <a:p>
            <a:pPr marL="800100" lvl="1" indent="-342900">
              <a:buFont typeface="Wingdings" panose="05000000000000000000" pitchFamily="2" charset="2"/>
              <a:buChar char="§"/>
            </a:pPr>
            <a:r>
              <a:rPr lang="en-US" b="1" dirty="0" smtClean="0"/>
              <a:t>Log-in Monitoring (A)</a:t>
            </a:r>
          </a:p>
          <a:p>
            <a:pPr marL="800100" lvl="1" indent="-342900">
              <a:buFont typeface="Wingdings" panose="05000000000000000000" pitchFamily="2" charset="2"/>
              <a:buChar char="§"/>
            </a:pPr>
            <a:r>
              <a:rPr lang="en-US" b="1" dirty="0" smtClean="0"/>
              <a:t>Password Management (A)</a:t>
            </a:r>
          </a:p>
          <a:p>
            <a:pPr marL="342900" indent="-342900">
              <a:buFont typeface="Wingdings" panose="05000000000000000000" pitchFamily="2" charset="2"/>
              <a:buChar char="q"/>
            </a:pPr>
            <a:r>
              <a:rPr lang="en-US" sz="2000" b="1" dirty="0" smtClean="0"/>
              <a:t>Security Incident Procedures (S)</a:t>
            </a:r>
          </a:p>
          <a:p>
            <a:pPr marL="800100" lvl="1" indent="-342900">
              <a:buFont typeface="Wingdings" panose="05000000000000000000" pitchFamily="2" charset="2"/>
              <a:buChar char="§"/>
            </a:pPr>
            <a:r>
              <a:rPr lang="en-US" b="1" dirty="0" smtClean="0"/>
              <a:t>Response and Reporting </a:t>
            </a:r>
            <a:r>
              <a:rPr lang="en-US" b="1" dirty="0"/>
              <a:t>(R)</a:t>
            </a:r>
            <a:r>
              <a:rPr lang="en-US" b="1" dirty="0" smtClean="0"/>
              <a:t> </a:t>
            </a:r>
          </a:p>
          <a:p>
            <a:pPr marL="342900" indent="-342900">
              <a:buFont typeface="Wingdings" panose="05000000000000000000" pitchFamily="2" charset="2"/>
              <a:buChar char="q"/>
            </a:pPr>
            <a:r>
              <a:rPr lang="en-US" sz="2000" b="1" dirty="0" smtClean="0"/>
              <a:t>Contingency Plan(S)</a:t>
            </a:r>
          </a:p>
          <a:p>
            <a:pPr marL="800100" lvl="1" indent="-342900">
              <a:buFont typeface="Wingdings" panose="05000000000000000000" pitchFamily="2" charset="2"/>
              <a:buChar char="§"/>
            </a:pPr>
            <a:r>
              <a:rPr lang="en-US" b="1" dirty="0" smtClean="0"/>
              <a:t>Data back-up Plan </a:t>
            </a:r>
            <a:r>
              <a:rPr lang="en-US" b="1" dirty="0"/>
              <a:t>(R</a:t>
            </a:r>
            <a:r>
              <a:rPr lang="en-US" b="1" dirty="0" smtClean="0"/>
              <a:t>)</a:t>
            </a:r>
          </a:p>
          <a:p>
            <a:pPr marL="800100" lvl="1" indent="-342900">
              <a:buFont typeface="Wingdings" panose="05000000000000000000" pitchFamily="2" charset="2"/>
              <a:buChar char="§"/>
            </a:pPr>
            <a:r>
              <a:rPr lang="en-US" b="1" dirty="0"/>
              <a:t>Disaster Recovery Plan (R</a:t>
            </a:r>
            <a:r>
              <a:rPr lang="en-US" b="1" dirty="0" smtClean="0"/>
              <a:t>)</a:t>
            </a:r>
          </a:p>
          <a:p>
            <a:pPr marL="800100" lvl="1" indent="-342900">
              <a:buFont typeface="Wingdings" panose="05000000000000000000" pitchFamily="2" charset="2"/>
              <a:buChar char="§"/>
            </a:pPr>
            <a:r>
              <a:rPr lang="en-US" b="1" dirty="0" smtClean="0"/>
              <a:t>Emergency Mode </a:t>
            </a:r>
            <a:r>
              <a:rPr lang="en-US" b="1" dirty="0"/>
              <a:t>Operation Plan (R</a:t>
            </a:r>
            <a:r>
              <a:rPr lang="en-US" b="1" dirty="0" smtClean="0"/>
              <a:t>)</a:t>
            </a:r>
          </a:p>
          <a:p>
            <a:pPr marL="800100" lvl="1" indent="-342900">
              <a:buFont typeface="Wingdings" panose="05000000000000000000" pitchFamily="2" charset="2"/>
              <a:buChar char="§"/>
            </a:pPr>
            <a:r>
              <a:rPr lang="en-US" b="1" dirty="0" smtClean="0"/>
              <a:t>Testing </a:t>
            </a:r>
            <a:r>
              <a:rPr lang="en-US" b="1" dirty="0"/>
              <a:t>and Revision Plan (R</a:t>
            </a:r>
            <a:r>
              <a:rPr lang="en-US" b="1" dirty="0" smtClean="0"/>
              <a:t>)</a:t>
            </a:r>
          </a:p>
          <a:p>
            <a:pPr marL="342900" indent="-342900">
              <a:buFont typeface="Wingdings" panose="05000000000000000000" pitchFamily="2" charset="2"/>
              <a:buChar char="q"/>
            </a:pPr>
            <a:r>
              <a:rPr lang="en-US" sz="2000" b="1" dirty="0" smtClean="0"/>
              <a:t>Evaluation (S)</a:t>
            </a:r>
          </a:p>
          <a:p>
            <a:pPr marL="800100" lvl="1" indent="-342900">
              <a:buFont typeface="Wingdings" panose="05000000000000000000" pitchFamily="2" charset="2"/>
              <a:buChar char="§"/>
            </a:pPr>
            <a:r>
              <a:rPr lang="en-US" b="1" dirty="0" smtClean="0"/>
              <a:t>Technical and Non-Technical Evaluation</a:t>
            </a:r>
            <a:r>
              <a:rPr lang="en-US" b="1" dirty="0"/>
              <a:t> (R)</a:t>
            </a:r>
            <a:endParaRPr lang="en-US" b="1" dirty="0" smtClean="0"/>
          </a:p>
          <a:p>
            <a:pPr marL="342900" indent="-342900">
              <a:buFont typeface="Wingdings" panose="05000000000000000000" pitchFamily="2" charset="2"/>
              <a:buChar char="q"/>
            </a:pPr>
            <a:r>
              <a:rPr lang="en-US" sz="2000" b="1" dirty="0" smtClean="0"/>
              <a:t>Business Associate Contract &amp; Other Arrangements (S)</a:t>
            </a:r>
          </a:p>
          <a:p>
            <a:pPr marL="800100" lvl="1" indent="-342900">
              <a:buFont typeface="Wingdings" panose="05000000000000000000" pitchFamily="2" charset="2"/>
              <a:buChar char="§"/>
            </a:pPr>
            <a:r>
              <a:rPr lang="en-US" b="1" dirty="0" smtClean="0"/>
              <a:t>Written Contract or Other Arrangement</a:t>
            </a:r>
          </a:p>
        </p:txBody>
      </p:sp>
      <p:sp>
        <p:nvSpPr>
          <p:cNvPr id="3" name="Title 1"/>
          <p:cNvSpPr txBox="1">
            <a:spLocks/>
          </p:cNvSpPr>
          <p:nvPr/>
        </p:nvSpPr>
        <p:spPr>
          <a:xfrm>
            <a:off x="457200" y="393940"/>
            <a:ext cx="7848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Administrative Safeguards </a:t>
            </a:r>
            <a:r>
              <a:rPr lang="en-US" sz="2000" dirty="0" smtClean="0"/>
              <a:t>(cont.)</a:t>
            </a:r>
            <a:endParaRPr lang="en-US" sz="2000" dirty="0"/>
          </a:p>
        </p:txBody>
      </p:sp>
    </p:spTree>
    <p:extLst>
      <p:ext uri="{BB962C8B-B14F-4D97-AF65-F5344CB8AC3E}">
        <p14:creationId xmlns:p14="http://schemas.microsoft.com/office/powerpoint/2010/main" val="223758201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4134" y="2515528"/>
            <a:ext cx="8382000" cy="2062103"/>
          </a:xfrm>
          <a:prstGeom prst="rect">
            <a:avLst/>
          </a:prstGeom>
        </p:spPr>
        <p:txBody>
          <a:bodyPr wrap="square">
            <a:spAutoFit/>
          </a:bodyPr>
          <a:lstStyle/>
          <a:p>
            <a:pPr marL="800100" lvl="1" indent="-342900">
              <a:buFont typeface="Wingdings" panose="05000000000000000000" pitchFamily="2" charset="2"/>
              <a:buChar char="§"/>
            </a:pPr>
            <a:r>
              <a:rPr lang="en-US" sz="3200" b="1" i="1" dirty="0" smtClean="0"/>
              <a:t>Data back-up Plan </a:t>
            </a:r>
            <a:r>
              <a:rPr lang="en-US" sz="3200" b="1" i="1" dirty="0"/>
              <a:t>(R</a:t>
            </a:r>
            <a:r>
              <a:rPr lang="en-US" sz="3200" b="1" i="1" dirty="0" smtClean="0"/>
              <a:t>)</a:t>
            </a:r>
          </a:p>
          <a:p>
            <a:pPr marL="800100" lvl="1" indent="-342900">
              <a:buFont typeface="Wingdings" panose="05000000000000000000" pitchFamily="2" charset="2"/>
              <a:buChar char="§"/>
            </a:pPr>
            <a:r>
              <a:rPr lang="en-US" sz="3200" b="1" i="1" dirty="0"/>
              <a:t>Disaster Recovery Plan (R</a:t>
            </a:r>
            <a:r>
              <a:rPr lang="en-US" sz="3200" b="1" i="1" dirty="0" smtClean="0"/>
              <a:t>)</a:t>
            </a:r>
          </a:p>
          <a:p>
            <a:pPr marL="800100" lvl="1" indent="-342900">
              <a:buFont typeface="Wingdings" panose="05000000000000000000" pitchFamily="2" charset="2"/>
              <a:buChar char="§"/>
            </a:pPr>
            <a:r>
              <a:rPr lang="en-US" sz="3200" b="1" i="1" dirty="0" smtClean="0"/>
              <a:t>Emergency Mode </a:t>
            </a:r>
            <a:r>
              <a:rPr lang="en-US" sz="3200" b="1" i="1" dirty="0"/>
              <a:t>Operation Plan (R</a:t>
            </a:r>
            <a:r>
              <a:rPr lang="en-US" sz="3200" b="1" i="1" dirty="0" smtClean="0"/>
              <a:t>)</a:t>
            </a:r>
          </a:p>
          <a:p>
            <a:pPr marL="800100" lvl="1" indent="-342900">
              <a:buFont typeface="Wingdings" panose="05000000000000000000" pitchFamily="2" charset="2"/>
              <a:buChar char="§"/>
            </a:pPr>
            <a:r>
              <a:rPr lang="en-US" sz="3200" b="1" i="1" dirty="0" smtClean="0"/>
              <a:t>Testing </a:t>
            </a:r>
            <a:r>
              <a:rPr lang="en-US" sz="3200" b="1" i="1" dirty="0"/>
              <a:t>and Revision </a:t>
            </a:r>
            <a:r>
              <a:rPr lang="en-US" sz="3200" b="1" i="1" dirty="0" smtClean="0"/>
              <a:t>Procedure (A)</a:t>
            </a:r>
          </a:p>
        </p:txBody>
      </p:sp>
      <p:sp>
        <p:nvSpPr>
          <p:cNvPr id="3" name="Title 1"/>
          <p:cNvSpPr txBox="1">
            <a:spLocks/>
          </p:cNvSpPr>
          <p:nvPr/>
        </p:nvSpPr>
        <p:spPr>
          <a:xfrm>
            <a:off x="457200" y="393940"/>
            <a:ext cx="7848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Contingency Plan Standard</a:t>
            </a:r>
            <a:endParaRPr lang="en-US" sz="2000" dirty="0"/>
          </a:p>
        </p:txBody>
      </p:sp>
      <p:sp>
        <p:nvSpPr>
          <p:cNvPr id="4" name="Rectangle 3"/>
          <p:cNvSpPr/>
          <p:nvPr/>
        </p:nvSpPr>
        <p:spPr>
          <a:xfrm>
            <a:off x="1295400" y="1303697"/>
            <a:ext cx="7524466" cy="1200329"/>
          </a:xfrm>
          <a:prstGeom prst="rect">
            <a:avLst/>
          </a:prstGeom>
        </p:spPr>
        <p:txBody>
          <a:bodyPr wrap="square">
            <a:spAutoFit/>
          </a:bodyPr>
          <a:lstStyle/>
          <a:p>
            <a:r>
              <a:rPr lang="en-US" i="1" dirty="0"/>
              <a:t>“Establish </a:t>
            </a:r>
            <a:r>
              <a:rPr lang="en-US" b="1" i="1" dirty="0" smtClean="0"/>
              <a:t>policies </a:t>
            </a:r>
            <a:r>
              <a:rPr lang="en-US" b="1" i="1" dirty="0"/>
              <a:t>and procedures </a:t>
            </a:r>
            <a:r>
              <a:rPr lang="en-US" i="1" dirty="0" smtClean="0"/>
              <a:t>for responding </a:t>
            </a:r>
            <a:r>
              <a:rPr lang="en-US" i="1" dirty="0"/>
              <a:t>to an </a:t>
            </a:r>
            <a:r>
              <a:rPr lang="en-US" b="1" i="1" dirty="0"/>
              <a:t>emergency </a:t>
            </a:r>
            <a:r>
              <a:rPr lang="en-US" i="1" dirty="0"/>
              <a:t>or other occurrence (for example, fire</a:t>
            </a:r>
            <a:r>
              <a:rPr lang="en-US" i="1" dirty="0" smtClean="0"/>
              <a:t>, vandalism</a:t>
            </a:r>
            <a:r>
              <a:rPr lang="en-US" i="1" dirty="0"/>
              <a:t>, system failure, and natural disaster) that </a:t>
            </a:r>
            <a:r>
              <a:rPr lang="en-US" b="1" i="1" dirty="0"/>
              <a:t>damages systems </a:t>
            </a:r>
            <a:r>
              <a:rPr lang="en-US" i="1" dirty="0" smtClean="0"/>
              <a:t>that contain </a:t>
            </a:r>
            <a:r>
              <a:rPr lang="en-US" i="1" dirty="0"/>
              <a:t>electronic protected health </a:t>
            </a:r>
            <a:r>
              <a:rPr lang="en-US" i="1" dirty="0" smtClean="0"/>
              <a:t>information </a:t>
            </a:r>
            <a:r>
              <a:rPr lang="en-US" b="1" i="1" dirty="0" smtClean="0"/>
              <a:t>(ePHI).”</a:t>
            </a:r>
            <a:endParaRPr lang="en-US" b="1" dirty="0"/>
          </a:p>
        </p:txBody>
      </p:sp>
      <p:pic>
        <p:nvPicPr>
          <p:cNvPr id="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62400" y="4587696"/>
            <a:ext cx="3268436" cy="1947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142" y="1306902"/>
            <a:ext cx="1101701" cy="928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55528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04800" y="393940"/>
            <a:ext cx="8229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100" dirty="0" smtClean="0"/>
              <a:t>Real World Consequences </a:t>
            </a:r>
            <a:r>
              <a:rPr lang="en-US" sz="3200" dirty="0" smtClean="0"/>
              <a:t>- </a:t>
            </a:r>
            <a:r>
              <a:rPr lang="en-US" sz="2400" dirty="0"/>
              <a:t>Y</a:t>
            </a:r>
            <a:r>
              <a:rPr lang="en-US" sz="2400" dirty="0" smtClean="0"/>
              <a:t>ou never know!</a:t>
            </a:r>
            <a:endParaRPr lang="en-US" sz="2400" dirty="0"/>
          </a:p>
        </p:txBody>
      </p:sp>
      <p:pic>
        <p:nvPicPr>
          <p:cNvPr id="5" name="Picture 2" descr="http://apyxx.com/site/wp-content/uploads/2013/02/disaster-planning-are-you-ready.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419045"/>
            <a:ext cx="2743200" cy="1492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38630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393940"/>
            <a:ext cx="7848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Causes of Disasters</a:t>
            </a:r>
            <a:endParaRPr lang="en-US" sz="2000"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056" y="1295400"/>
            <a:ext cx="7332888" cy="4509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443128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393940"/>
            <a:ext cx="7848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Data Backup</a:t>
            </a:r>
            <a:endParaRPr lang="en-US" sz="2000" dirty="0"/>
          </a:p>
        </p:txBody>
      </p:sp>
      <p:pic>
        <p:nvPicPr>
          <p:cNvPr id="2050" name="Picture 2" descr="http://www.ikrishna.com/US/images/Products/DataBkup/9.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7105" y="1600443"/>
            <a:ext cx="4010023" cy="41393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04800" y="1338618"/>
            <a:ext cx="4419601" cy="4401205"/>
          </a:xfrm>
          <a:prstGeom prst="rect">
            <a:avLst/>
          </a:prstGeom>
        </p:spPr>
        <p:txBody>
          <a:bodyPr wrap="square">
            <a:spAutoFit/>
          </a:bodyPr>
          <a:lstStyle/>
          <a:p>
            <a:pPr marL="285750" indent="-285750">
              <a:buFont typeface="Wingdings" panose="05000000000000000000" pitchFamily="2" charset="2"/>
              <a:buChar char="ü"/>
            </a:pPr>
            <a:r>
              <a:rPr lang="en-US" sz="2000" b="1" dirty="0"/>
              <a:t> What is the </a:t>
            </a:r>
            <a:r>
              <a:rPr lang="en-US" sz="2000" b="1" dirty="0" smtClean="0"/>
              <a:t>ePHI </a:t>
            </a:r>
            <a:r>
              <a:rPr lang="en-US" sz="2000" b="1" dirty="0"/>
              <a:t>that must be backed up</a:t>
            </a:r>
            <a:r>
              <a:rPr lang="en-US" sz="2000" b="1" dirty="0" smtClean="0"/>
              <a:t>?</a:t>
            </a:r>
            <a:endParaRPr lang="en-US" sz="2000" b="1" dirty="0"/>
          </a:p>
          <a:p>
            <a:pPr marL="285750" indent="-285750">
              <a:buFont typeface="Wingdings" panose="05000000000000000000" pitchFamily="2" charset="2"/>
              <a:buChar char="ü"/>
            </a:pPr>
            <a:r>
              <a:rPr lang="en-US" sz="2000" b="1" dirty="0"/>
              <a:t> Does the plan include all important sources of </a:t>
            </a:r>
            <a:r>
              <a:rPr lang="en-US" sz="2000" b="1" dirty="0" smtClean="0"/>
              <a:t>data</a:t>
            </a:r>
          </a:p>
          <a:p>
            <a:pPr marL="342900" indent="-342900">
              <a:buFont typeface="Wingdings" panose="05000000000000000000" pitchFamily="2" charset="2"/>
              <a:buChar char="ü"/>
            </a:pPr>
            <a:r>
              <a:rPr lang="en-US" sz="2000" b="1" dirty="0"/>
              <a:t>Has the organization considered the various methods of backups, </a:t>
            </a:r>
            <a:r>
              <a:rPr lang="en-US" sz="2000" b="1" dirty="0" smtClean="0"/>
              <a:t>including tape</a:t>
            </a:r>
            <a:r>
              <a:rPr lang="en-US" sz="2000" b="1" dirty="0"/>
              <a:t>, disk, or CD?</a:t>
            </a:r>
          </a:p>
          <a:p>
            <a:pPr marL="342900" indent="-342900">
              <a:buFont typeface="Wingdings" panose="05000000000000000000" pitchFamily="2" charset="2"/>
              <a:buChar char="ü"/>
            </a:pPr>
            <a:r>
              <a:rPr lang="en-US" sz="2000" b="1" dirty="0" smtClean="0"/>
              <a:t>Does </a:t>
            </a:r>
            <a:r>
              <a:rPr lang="en-US" sz="2000" b="1" dirty="0"/>
              <a:t>the backup plan include storage of backups in a safe, secure place?</a:t>
            </a:r>
          </a:p>
          <a:p>
            <a:pPr marL="342900" indent="-342900">
              <a:buFont typeface="Wingdings" panose="05000000000000000000" pitchFamily="2" charset="2"/>
              <a:buChar char="ü"/>
            </a:pPr>
            <a:r>
              <a:rPr lang="en-US" sz="2000" b="1" dirty="0" smtClean="0"/>
              <a:t>Is </a:t>
            </a:r>
            <a:r>
              <a:rPr lang="en-US" sz="2000" b="1" dirty="0"/>
              <a:t>the organization’s frequency of backups appropriate for its environment?</a:t>
            </a:r>
          </a:p>
        </p:txBody>
      </p:sp>
    </p:spTree>
    <p:extLst>
      <p:ext uri="{BB962C8B-B14F-4D97-AF65-F5344CB8AC3E}">
        <p14:creationId xmlns:p14="http://schemas.microsoft.com/office/powerpoint/2010/main" val="257659534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393940"/>
            <a:ext cx="7848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Disaster Recovery</a:t>
            </a:r>
            <a:endParaRPr lang="en-US" sz="2000" dirty="0"/>
          </a:p>
        </p:txBody>
      </p:sp>
      <p:sp>
        <p:nvSpPr>
          <p:cNvPr id="2" name="Rectangle 1"/>
          <p:cNvSpPr/>
          <p:nvPr/>
        </p:nvSpPr>
        <p:spPr>
          <a:xfrm>
            <a:off x="4710752" y="1447800"/>
            <a:ext cx="4114800" cy="4524315"/>
          </a:xfrm>
          <a:prstGeom prst="rect">
            <a:avLst/>
          </a:prstGeom>
        </p:spPr>
        <p:txBody>
          <a:bodyPr wrap="square">
            <a:spAutoFit/>
          </a:bodyPr>
          <a:lstStyle/>
          <a:p>
            <a:pPr marL="285750" indent="-285750">
              <a:buFont typeface="Wingdings" panose="05000000000000000000" pitchFamily="2" charset="2"/>
              <a:buChar char="ü"/>
            </a:pPr>
            <a:r>
              <a:rPr lang="en-US" sz="2400" b="1" dirty="0"/>
              <a:t>Does the disaster recovery plan address issues specific to </a:t>
            </a:r>
            <a:r>
              <a:rPr lang="en-US" sz="2400" b="1" dirty="0" smtClean="0"/>
              <a:t>your operating </a:t>
            </a:r>
            <a:r>
              <a:rPr lang="en-US" sz="2400" b="1" dirty="0"/>
              <a:t>environment?</a:t>
            </a:r>
          </a:p>
          <a:p>
            <a:pPr marL="285750" indent="-285750">
              <a:buFont typeface="Wingdings" panose="05000000000000000000" pitchFamily="2" charset="2"/>
              <a:buChar char="ü"/>
            </a:pPr>
            <a:r>
              <a:rPr lang="en-US" sz="2400" b="1" dirty="0"/>
              <a:t> Does the plan address what data is to be restored?</a:t>
            </a:r>
          </a:p>
          <a:p>
            <a:pPr marL="285750" indent="-285750">
              <a:buFont typeface="Wingdings" panose="05000000000000000000" pitchFamily="2" charset="2"/>
              <a:buChar char="ü"/>
            </a:pPr>
            <a:r>
              <a:rPr lang="en-US" sz="2400" b="1" dirty="0"/>
              <a:t> Is a copy of the disaster recovery plan readily accessible at more than </a:t>
            </a:r>
            <a:r>
              <a:rPr lang="en-US" sz="2400" b="1" dirty="0" smtClean="0"/>
              <a:t>one location or possibly on-line?</a:t>
            </a:r>
            <a:endParaRPr lang="en-US" sz="2400" b="1" dirty="0"/>
          </a:p>
        </p:txBody>
      </p:sp>
      <p:pic>
        <p:nvPicPr>
          <p:cNvPr id="3078" name="Picture 6" descr="http://brendanmoran.ie/wp-content/uploads/2013/02/Computer-Repair.gif">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29" y="1447800"/>
            <a:ext cx="4784678" cy="4398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659534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393940"/>
            <a:ext cx="7848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Emergency Mode Operations</a:t>
            </a:r>
            <a:endParaRPr lang="en-US" sz="2000" dirty="0"/>
          </a:p>
        </p:txBody>
      </p:sp>
      <p:pic>
        <p:nvPicPr>
          <p:cNvPr id="4098" name="Picture 2" descr="http://www.hdtglobal.com/site_media/uploads/images/products/HDT_medical_shelters_1.gif">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030" y="1223749"/>
            <a:ext cx="7848600" cy="45674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34133" y="1290834"/>
            <a:ext cx="8153400" cy="4893647"/>
          </a:xfrm>
          <a:prstGeom prst="rect">
            <a:avLst/>
          </a:prstGeom>
        </p:spPr>
        <p:txBody>
          <a:bodyPr wrap="square">
            <a:spAutoFit/>
          </a:bodyPr>
          <a:lstStyle/>
          <a:p>
            <a:pPr marL="342900" indent="-342900">
              <a:buFont typeface="Wingdings" panose="05000000000000000000" pitchFamily="2" charset="2"/>
              <a:buChar char="ü"/>
            </a:pPr>
            <a:r>
              <a:rPr lang="en-US" sz="2400" b="1" dirty="0"/>
              <a:t>Does the organization’s plan balance the need to protect the data with </a:t>
            </a:r>
            <a:r>
              <a:rPr lang="en-US" sz="2400" b="1" dirty="0" smtClean="0"/>
              <a:t>the organization’s </a:t>
            </a:r>
            <a:r>
              <a:rPr lang="en-US" sz="2400" b="1" dirty="0"/>
              <a:t>need to access the data?</a:t>
            </a:r>
          </a:p>
          <a:p>
            <a:pPr marL="342900" indent="-342900">
              <a:buFont typeface="Wingdings" panose="05000000000000000000" pitchFamily="2" charset="2"/>
              <a:buChar char="ü"/>
            </a:pPr>
            <a:r>
              <a:rPr lang="en-US" sz="2400" b="1" dirty="0"/>
              <a:t> Will alternative security measures be used to </a:t>
            </a:r>
            <a:r>
              <a:rPr lang="en-US" sz="2400" b="1" dirty="0">
                <a:solidFill>
                  <a:schemeClr val="bg1"/>
                </a:solidFill>
              </a:rPr>
              <a:t>protect the EPHI?</a:t>
            </a:r>
          </a:p>
          <a:p>
            <a:pPr marL="342900" indent="-342900">
              <a:buFont typeface="Wingdings" panose="05000000000000000000" pitchFamily="2" charset="2"/>
              <a:buChar char="ü"/>
            </a:pPr>
            <a:r>
              <a:rPr lang="en-US" sz="2400" b="1" dirty="0">
                <a:solidFill>
                  <a:schemeClr val="bg1"/>
                </a:solidFill>
              </a:rPr>
              <a:t> Does the emergency mode operation plan include possible </a:t>
            </a:r>
            <a:r>
              <a:rPr lang="en-US" sz="2400" b="1" dirty="0" smtClean="0">
                <a:solidFill>
                  <a:schemeClr val="bg1"/>
                </a:solidFill>
              </a:rPr>
              <a:t>manual procedures </a:t>
            </a:r>
            <a:r>
              <a:rPr lang="en-US" sz="2400" b="1" dirty="0">
                <a:solidFill>
                  <a:schemeClr val="bg1"/>
                </a:solidFill>
              </a:rPr>
              <a:t>for security protection that can be implemented as needed?</a:t>
            </a:r>
          </a:p>
          <a:p>
            <a:pPr marL="342900" indent="-342900">
              <a:buFont typeface="Wingdings" panose="05000000000000000000" pitchFamily="2" charset="2"/>
              <a:buChar char="ü"/>
            </a:pPr>
            <a:r>
              <a:rPr lang="en-US" sz="2400" b="1" dirty="0"/>
              <a:t> </a:t>
            </a:r>
            <a:r>
              <a:rPr lang="en-US" sz="2400" b="1" dirty="0">
                <a:solidFill>
                  <a:schemeClr val="bg1"/>
                </a:solidFill>
              </a:rPr>
              <a:t>Does the emergency mode operation plan include telephone numbers </a:t>
            </a:r>
            <a:r>
              <a:rPr lang="en-US" sz="2400" b="1" dirty="0" smtClean="0">
                <a:solidFill>
                  <a:schemeClr val="bg1"/>
                </a:solidFill>
              </a:rPr>
              <a:t>and contact </a:t>
            </a:r>
            <a:r>
              <a:rPr lang="en-US" sz="2400" b="1" dirty="0">
                <a:solidFill>
                  <a:schemeClr val="bg1"/>
                </a:solidFill>
              </a:rPr>
              <a:t>names for all persons that must be notified in the event of a disaster</a:t>
            </a:r>
            <a:r>
              <a:rPr lang="en-US" sz="2400" b="1" dirty="0" smtClean="0">
                <a:solidFill>
                  <a:schemeClr val="bg1"/>
                </a:solidFill>
              </a:rPr>
              <a:t>, as </a:t>
            </a:r>
            <a:r>
              <a:rPr lang="en-US" sz="2400" b="1" dirty="0">
                <a:solidFill>
                  <a:schemeClr val="bg1"/>
                </a:solidFill>
              </a:rPr>
              <a:t>well as roles and responsibilities of </a:t>
            </a:r>
            <a:r>
              <a:rPr lang="en-US" sz="2400" b="1" dirty="0"/>
              <a:t>those people involved in </a:t>
            </a:r>
            <a:r>
              <a:rPr lang="en-US" sz="2400" b="1" dirty="0" smtClean="0"/>
              <a:t>the restoration </a:t>
            </a:r>
            <a:r>
              <a:rPr lang="en-US" sz="2400" b="1" dirty="0"/>
              <a:t>process?</a:t>
            </a:r>
          </a:p>
        </p:txBody>
      </p:sp>
    </p:spTree>
    <p:extLst>
      <p:ext uri="{BB962C8B-B14F-4D97-AF65-F5344CB8AC3E}">
        <p14:creationId xmlns:p14="http://schemas.microsoft.com/office/powerpoint/2010/main" val="104604128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393940"/>
            <a:ext cx="78486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Testing and Revisions Planning</a:t>
            </a:r>
            <a:endParaRPr lang="en-US" sz="2000" dirty="0"/>
          </a:p>
        </p:txBody>
      </p:sp>
      <p:pic>
        <p:nvPicPr>
          <p:cNvPr id="4103"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524000"/>
            <a:ext cx="2883127"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3923581" y="1371600"/>
            <a:ext cx="4419600" cy="4154984"/>
          </a:xfrm>
          <a:prstGeom prst="rect">
            <a:avLst/>
          </a:prstGeom>
        </p:spPr>
        <p:txBody>
          <a:bodyPr wrap="square">
            <a:spAutoFit/>
          </a:bodyPr>
          <a:lstStyle/>
          <a:p>
            <a:pPr marL="285750" indent="-285750">
              <a:buFont typeface="Wingdings" panose="05000000000000000000" pitchFamily="2" charset="2"/>
              <a:buChar char="ü"/>
            </a:pPr>
            <a:r>
              <a:rPr lang="en-US" sz="2400" b="1" dirty="0" smtClean="0"/>
              <a:t>Do those responsible for performing contingency planning tasks understand their responsibilities?</a:t>
            </a:r>
            <a:endParaRPr lang="en-US" sz="2400" b="1" dirty="0"/>
          </a:p>
          <a:p>
            <a:pPr marL="285750" indent="-285750">
              <a:buFont typeface="Wingdings" panose="05000000000000000000" pitchFamily="2" charset="2"/>
              <a:buChar char="ü"/>
            </a:pPr>
            <a:r>
              <a:rPr lang="en-US" sz="2400" b="1" dirty="0"/>
              <a:t> </a:t>
            </a:r>
            <a:r>
              <a:rPr lang="en-US" sz="2400" b="1" dirty="0" smtClean="0"/>
              <a:t>Have those responsible actually performed a test of the procedures?</a:t>
            </a:r>
            <a:endParaRPr lang="en-US" sz="2400" b="1" dirty="0"/>
          </a:p>
          <a:p>
            <a:pPr marL="285750" indent="-285750">
              <a:buFont typeface="Wingdings" panose="05000000000000000000" pitchFamily="2" charset="2"/>
              <a:buChar char="ü"/>
            </a:pPr>
            <a:r>
              <a:rPr lang="en-US" sz="2400" b="1" dirty="0"/>
              <a:t> </a:t>
            </a:r>
            <a:r>
              <a:rPr lang="en-US" sz="2400" b="1" dirty="0" smtClean="0"/>
              <a:t>Have the results of each test been documented and any problems reviewed and corrected?</a:t>
            </a:r>
            <a:endParaRPr lang="en-US" sz="2400" b="1" dirty="0"/>
          </a:p>
        </p:txBody>
      </p:sp>
      <p:grpSp>
        <p:nvGrpSpPr>
          <p:cNvPr id="8" name="Group 7"/>
          <p:cNvGrpSpPr/>
          <p:nvPr/>
        </p:nvGrpSpPr>
        <p:grpSpPr>
          <a:xfrm>
            <a:off x="484517" y="3677816"/>
            <a:ext cx="2792083" cy="1447800"/>
            <a:chOff x="358930" y="1482955"/>
            <a:chExt cx="5185395" cy="1372388"/>
          </a:xfrm>
        </p:grpSpPr>
        <p:sp>
          <p:nvSpPr>
            <p:cNvPr id="9" name="Freeform 8"/>
            <p:cNvSpPr/>
            <p:nvPr/>
          </p:nvSpPr>
          <p:spPr>
            <a:xfrm>
              <a:off x="358930" y="1482955"/>
              <a:ext cx="5185395" cy="1372388"/>
            </a:xfrm>
            <a:custGeom>
              <a:avLst/>
              <a:gdLst>
                <a:gd name="connsiteX0" fmla="*/ 0 w 3047999"/>
                <a:gd name="connsiteY0" fmla="*/ 0 h 461883"/>
                <a:gd name="connsiteX1" fmla="*/ 3047999 w 3047999"/>
                <a:gd name="connsiteY1" fmla="*/ 0 h 461883"/>
                <a:gd name="connsiteX2" fmla="*/ 3047999 w 3047999"/>
                <a:gd name="connsiteY2" fmla="*/ 461883 h 461883"/>
                <a:gd name="connsiteX3" fmla="*/ 0 w 3047999"/>
                <a:gd name="connsiteY3" fmla="*/ 461883 h 461883"/>
                <a:gd name="connsiteX4" fmla="*/ 0 w 3047999"/>
                <a:gd name="connsiteY4" fmla="*/ 0 h 461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7999" h="461883">
                  <a:moveTo>
                    <a:pt x="0" y="0"/>
                  </a:moveTo>
                  <a:lnTo>
                    <a:pt x="3047999" y="0"/>
                  </a:lnTo>
                  <a:lnTo>
                    <a:pt x="3047999" y="461883"/>
                  </a:lnTo>
                  <a:lnTo>
                    <a:pt x="0" y="461883"/>
                  </a:lnTo>
                  <a:lnTo>
                    <a:pt x="0" y="0"/>
                  </a:lnTo>
                  <a:close/>
                </a:path>
              </a:pathLst>
            </a:custGeom>
            <a:solidFill>
              <a:schemeClr val="accent3">
                <a:lumMod val="60000"/>
                <a:lumOff val="40000"/>
                <a:alpha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6248" tIns="36830" rIns="206248" bIns="36830" numCol="1" spcCol="1270" anchor="ctr" anchorCtr="0">
              <a:noAutofit/>
            </a:bodyPr>
            <a:lstStyle/>
            <a:p>
              <a:pPr lvl="0" algn="ctr" defTabSz="1289050">
                <a:lnSpc>
                  <a:spcPct val="90000"/>
                </a:lnSpc>
                <a:spcBef>
                  <a:spcPct val="0"/>
                </a:spcBef>
                <a:spcAft>
                  <a:spcPct val="35000"/>
                </a:spcAft>
              </a:pPr>
              <a:endParaRPr lang="en-US" sz="2900" kern="1200"/>
            </a:p>
          </p:txBody>
        </p:sp>
        <p:sp>
          <p:nvSpPr>
            <p:cNvPr id="10" name="TextBox 9"/>
            <p:cNvSpPr txBox="1"/>
            <p:nvPr/>
          </p:nvSpPr>
          <p:spPr>
            <a:xfrm>
              <a:off x="461218" y="1624384"/>
              <a:ext cx="4980821" cy="1195426"/>
            </a:xfrm>
            <a:prstGeom prst="rect">
              <a:avLst/>
            </a:prstGeom>
            <a:noFill/>
          </p:spPr>
          <p:txBody>
            <a:bodyPr wrap="square" rtlCol="0">
              <a:spAutoFit/>
            </a:bodyPr>
            <a:lstStyle/>
            <a:p>
              <a:pPr algn="ctr">
                <a:lnSpc>
                  <a:spcPct val="90000"/>
                </a:lnSpc>
                <a:spcAft>
                  <a:spcPts val="600"/>
                </a:spcAft>
                <a:buClr>
                  <a:srgbClr val="004186"/>
                </a:buClr>
              </a:pPr>
              <a:r>
                <a:rPr lang="en-US" sz="1400" b="1" dirty="0" smtClean="0"/>
                <a:t>When determined to be reasonable and appropriate, the testing and revision procedures will vary in frequency and comprehensiveness.</a:t>
              </a:r>
              <a:endParaRPr lang="en-US" sz="1400" dirty="0" smtClean="0"/>
            </a:p>
          </p:txBody>
        </p:sp>
      </p:grpSp>
    </p:spTree>
    <p:extLst>
      <p:ext uri="{BB962C8B-B14F-4D97-AF65-F5344CB8AC3E}">
        <p14:creationId xmlns:p14="http://schemas.microsoft.com/office/powerpoint/2010/main" val="327437255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6992" y="1295400"/>
            <a:ext cx="7285008" cy="4985980"/>
          </a:xfrm>
          <a:prstGeom prst="rect">
            <a:avLst/>
          </a:prstGeom>
        </p:spPr>
        <p:txBody>
          <a:bodyPr wrap="square">
            <a:spAutoFit/>
          </a:bodyPr>
          <a:lstStyle/>
          <a:p>
            <a:pPr marL="342900" indent="-342900">
              <a:buFont typeface="Wingdings" panose="05000000000000000000" pitchFamily="2" charset="2"/>
              <a:buChar char="q"/>
            </a:pPr>
            <a:r>
              <a:rPr lang="en-US" sz="2400" b="1" dirty="0" smtClean="0"/>
              <a:t>Facility Access Controls (S)</a:t>
            </a:r>
          </a:p>
          <a:p>
            <a:pPr marL="800100" lvl="1" indent="-342900">
              <a:buFont typeface="Wingdings" panose="05000000000000000000" pitchFamily="2" charset="2"/>
              <a:buChar char="§"/>
            </a:pPr>
            <a:r>
              <a:rPr lang="en-US" sz="2200" b="1" dirty="0" smtClean="0"/>
              <a:t>Contingency Operations (A)</a:t>
            </a:r>
          </a:p>
          <a:p>
            <a:pPr marL="800100" lvl="1" indent="-342900">
              <a:buFont typeface="Wingdings" panose="05000000000000000000" pitchFamily="2" charset="2"/>
              <a:buChar char="§"/>
            </a:pPr>
            <a:r>
              <a:rPr lang="en-US" sz="2200" b="1" dirty="0" smtClean="0"/>
              <a:t>Facility Security Plan (A)</a:t>
            </a:r>
          </a:p>
          <a:p>
            <a:pPr marL="800100" lvl="1" indent="-342900">
              <a:buFont typeface="Wingdings" panose="05000000000000000000" pitchFamily="2" charset="2"/>
              <a:buChar char="§"/>
            </a:pPr>
            <a:r>
              <a:rPr lang="en-US" sz="2200" b="1" dirty="0" smtClean="0"/>
              <a:t>Access Control and Validation Procedures (A)</a:t>
            </a:r>
          </a:p>
          <a:p>
            <a:pPr marL="800100" lvl="1" indent="-342900">
              <a:buFont typeface="Wingdings" panose="05000000000000000000" pitchFamily="2" charset="2"/>
              <a:buChar char="§"/>
            </a:pPr>
            <a:r>
              <a:rPr lang="en-US" sz="2200" b="1" dirty="0" smtClean="0"/>
              <a:t>Maintenance Records (A)</a:t>
            </a:r>
          </a:p>
          <a:p>
            <a:pPr marL="342900" indent="-342900">
              <a:buFont typeface="Wingdings" panose="05000000000000000000" pitchFamily="2" charset="2"/>
              <a:buChar char="q"/>
            </a:pPr>
            <a:r>
              <a:rPr lang="en-US" sz="2400" b="1" dirty="0" smtClean="0"/>
              <a:t>Workstation </a:t>
            </a:r>
            <a:r>
              <a:rPr lang="en-US" sz="2400" b="1" dirty="0"/>
              <a:t>Use </a:t>
            </a:r>
            <a:r>
              <a:rPr lang="en-US" sz="2400" b="1" dirty="0" smtClean="0"/>
              <a:t>(S)</a:t>
            </a:r>
          </a:p>
          <a:p>
            <a:pPr marL="800100" lvl="1" indent="-342900">
              <a:buFont typeface="Wingdings" panose="05000000000000000000" pitchFamily="2" charset="2"/>
              <a:buChar char="§"/>
            </a:pPr>
            <a:r>
              <a:rPr lang="en-US" sz="2200" b="1" dirty="0" smtClean="0"/>
              <a:t>Function and Attributes </a:t>
            </a:r>
            <a:r>
              <a:rPr lang="en-US" sz="2200" b="1" dirty="0"/>
              <a:t>(R)</a:t>
            </a:r>
            <a:endParaRPr lang="en-US" sz="2200" b="1" dirty="0" smtClean="0"/>
          </a:p>
          <a:p>
            <a:pPr marL="342900" indent="-342900">
              <a:buFont typeface="Wingdings" panose="05000000000000000000" pitchFamily="2" charset="2"/>
              <a:buChar char="q"/>
            </a:pPr>
            <a:r>
              <a:rPr lang="en-US" sz="2400" b="1" dirty="0" smtClean="0"/>
              <a:t>Workstation </a:t>
            </a:r>
            <a:r>
              <a:rPr lang="en-US" sz="2400" b="1" dirty="0"/>
              <a:t>Security </a:t>
            </a:r>
            <a:r>
              <a:rPr lang="en-US" sz="2400" b="1" dirty="0" smtClean="0"/>
              <a:t>(S)</a:t>
            </a:r>
          </a:p>
          <a:p>
            <a:pPr marL="800100" lvl="1" indent="-342900">
              <a:buFont typeface="Wingdings" panose="05000000000000000000" pitchFamily="2" charset="2"/>
              <a:buChar char="§"/>
            </a:pPr>
            <a:r>
              <a:rPr lang="en-US" sz="2200" b="1" dirty="0" smtClean="0"/>
              <a:t>Restrict Access</a:t>
            </a:r>
            <a:r>
              <a:rPr lang="en-US" sz="2200" b="1" dirty="0"/>
              <a:t> (R)</a:t>
            </a:r>
            <a:endParaRPr lang="en-US" sz="2200" b="1" dirty="0" smtClean="0"/>
          </a:p>
          <a:p>
            <a:pPr marL="342900" indent="-342900">
              <a:buFont typeface="Wingdings" panose="05000000000000000000" pitchFamily="2" charset="2"/>
              <a:buChar char="q"/>
            </a:pPr>
            <a:r>
              <a:rPr lang="en-US" sz="2400" b="1" dirty="0" smtClean="0"/>
              <a:t>Device and Media Controls (S)</a:t>
            </a:r>
          </a:p>
          <a:p>
            <a:pPr marL="800100" lvl="1" indent="-342900">
              <a:buFont typeface="Wingdings" panose="05000000000000000000" pitchFamily="2" charset="2"/>
              <a:buChar char="§"/>
            </a:pPr>
            <a:r>
              <a:rPr lang="en-US" sz="2200" b="1" dirty="0" smtClean="0"/>
              <a:t>Disposal </a:t>
            </a:r>
            <a:r>
              <a:rPr lang="en-US" sz="2200" b="1" dirty="0"/>
              <a:t>(R</a:t>
            </a:r>
            <a:r>
              <a:rPr lang="en-US" sz="2200" b="1" dirty="0" smtClean="0"/>
              <a:t>)</a:t>
            </a:r>
          </a:p>
          <a:p>
            <a:pPr marL="800100" lvl="1" indent="-342900">
              <a:buFont typeface="Wingdings" panose="05000000000000000000" pitchFamily="2" charset="2"/>
              <a:buChar char="§"/>
            </a:pPr>
            <a:r>
              <a:rPr lang="en-US" sz="2200" b="1" dirty="0"/>
              <a:t>Media Re-use (R</a:t>
            </a:r>
            <a:r>
              <a:rPr lang="en-US" sz="2200" b="1" dirty="0" smtClean="0"/>
              <a:t>)</a:t>
            </a:r>
          </a:p>
          <a:p>
            <a:pPr marL="800100" lvl="1" indent="-342900">
              <a:buFont typeface="Wingdings" panose="05000000000000000000" pitchFamily="2" charset="2"/>
              <a:buChar char="§"/>
            </a:pPr>
            <a:r>
              <a:rPr lang="en-US" sz="2200" b="1" dirty="0" smtClean="0"/>
              <a:t>Accountability (A)</a:t>
            </a:r>
          </a:p>
          <a:p>
            <a:pPr marL="800100" lvl="1" indent="-342900">
              <a:buFont typeface="Wingdings" panose="05000000000000000000" pitchFamily="2" charset="2"/>
              <a:buChar char="§"/>
            </a:pPr>
            <a:r>
              <a:rPr lang="en-US" sz="2200" b="1" dirty="0" smtClean="0"/>
              <a:t>Data back-up and Storage (A)</a:t>
            </a:r>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Physical Safeguards</a:t>
            </a:r>
            <a:endParaRPr lang="en-US" sz="3600" dirty="0"/>
          </a:p>
        </p:txBody>
      </p:sp>
    </p:spTree>
    <p:extLst>
      <p:ext uri="{BB962C8B-B14F-4D97-AF65-F5344CB8AC3E}">
        <p14:creationId xmlns:p14="http://schemas.microsoft.com/office/powerpoint/2010/main" val="159839913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447800"/>
            <a:ext cx="2390775" cy="1914525"/>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8373" y="2490787"/>
            <a:ext cx="2294537" cy="1743075"/>
          </a:xfrm>
          <a:prstGeom prst="rect">
            <a:avLst/>
          </a:prstGeom>
        </p:spPr>
      </p:pic>
      <p:sp>
        <p:nvSpPr>
          <p:cNvPr id="2" name="Rectangle 1"/>
          <p:cNvSpPr/>
          <p:nvPr/>
        </p:nvSpPr>
        <p:spPr>
          <a:xfrm>
            <a:off x="2133600" y="1273834"/>
            <a:ext cx="6096000" cy="4401205"/>
          </a:xfrm>
          <a:prstGeom prst="rect">
            <a:avLst/>
          </a:prstGeom>
        </p:spPr>
        <p:txBody>
          <a:bodyPr wrap="square">
            <a:spAutoFit/>
          </a:bodyPr>
          <a:lstStyle/>
          <a:p>
            <a:pPr marL="342900" indent="-342900">
              <a:buFont typeface="Wingdings" panose="05000000000000000000" pitchFamily="2" charset="2"/>
              <a:buChar char="q"/>
            </a:pPr>
            <a:r>
              <a:rPr lang="en-US" sz="2400" b="1" dirty="0" smtClean="0"/>
              <a:t>Access Controls (S)</a:t>
            </a:r>
          </a:p>
          <a:p>
            <a:pPr marL="800100" lvl="1" indent="-342900">
              <a:buFont typeface="Wingdings" panose="05000000000000000000" pitchFamily="2" charset="2"/>
              <a:buChar char="§"/>
            </a:pPr>
            <a:r>
              <a:rPr lang="en-US" sz="2000" b="1" dirty="0" smtClean="0"/>
              <a:t>Unique User Identification </a:t>
            </a:r>
            <a:r>
              <a:rPr lang="en-US" sz="2000" b="1" dirty="0"/>
              <a:t>(R</a:t>
            </a:r>
            <a:r>
              <a:rPr lang="en-US" sz="2000" b="1" dirty="0" smtClean="0"/>
              <a:t>)</a:t>
            </a:r>
          </a:p>
          <a:p>
            <a:pPr marL="800100" lvl="1" indent="-342900">
              <a:buFont typeface="Wingdings" panose="05000000000000000000" pitchFamily="2" charset="2"/>
              <a:buChar char="§"/>
            </a:pPr>
            <a:r>
              <a:rPr lang="en-US" sz="2000" b="1" dirty="0" smtClean="0"/>
              <a:t>Emergency </a:t>
            </a:r>
            <a:r>
              <a:rPr lang="en-US" sz="2000" b="1" dirty="0"/>
              <a:t>Access Procedure (R</a:t>
            </a:r>
            <a:r>
              <a:rPr lang="en-US" sz="2000" b="1" dirty="0" smtClean="0"/>
              <a:t>)</a:t>
            </a:r>
          </a:p>
          <a:p>
            <a:pPr marL="800100" lvl="1" indent="-342900">
              <a:buFont typeface="Wingdings" panose="05000000000000000000" pitchFamily="2" charset="2"/>
              <a:buChar char="§"/>
            </a:pPr>
            <a:r>
              <a:rPr lang="en-US" sz="2000" b="1" dirty="0" smtClean="0"/>
              <a:t>Automatic Log-off (A)</a:t>
            </a:r>
          </a:p>
          <a:p>
            <a:pPr marL="800100" lvl="1" indent="-342900">
              <a:buFont typeface="Wingdings" panose="05000000000000000000" pitchFamily="2" charset="2"/>
              <a:buChar char="§"/>
            </a:pPr>
            <a:r>
              <a:rPr lang="en-US" sz="2000" b="1" dirty="0" smtClean="0"/>
              <a:t>Encryption and Decryption (A)*</a:t>
            </a:r>
          </a:p>
          <a:p>
            <a:pPr marL="342900" indent="-342900">
              <a:buFont typeface="Wingdings" panose="05000000000000000000" pitchFamily="2" charset="2"/>
              <a:buChar char="q"/>
            </a:pPr>
            <a:r>
              <a:rPr lang="en-US" sz="2400" b="1" dirty="0"/>
              <a:t>Audit Controls </a:t>
            </a:r>
            <a:r>
              <a:rPr lang="en-US" sz="2400" b="1" dirty="0" smtClean="0"/>
              <a:t>(S)(R</a:t>
            </a:r>
            <a:r>
              <a:rPr lang="en-US" sz="2400" b="1" dirty="0"/>
              <a:t>)</a:t>
            </a:r>
            <a:endParaRPr lang="en-US" sz="2400" b="1" dirty="0" smtClean="0"/>
          </a:p>
          <a:p>
            <a:pPr marL="342900" indent="-342900">
              <a:buFont typeface="Wingdings" panose="05000000000000000000" pitchFamily="2" charset="2"/>
              <a:buChar char="q"/>
            </a:pPr>
            <a:r>
              <a:rPr lang="en-US" sz="2400" b="1" dirty="0" smtClean="0"/>
              <a:t>Integrity (S)</a:t>
            </a:r>
          </a:p>
          <a:p>
            <a:pPr marL="800100" lvl="1" indent="-342900">
              <a:buFont typeface="Wingdings" panose="05000000000000000000" pitchFamily="2" charset="2"/>
              <a:buChar char="q"/>
            </a:pPr>
            <a:r>
              <a:rPr lang="en-US" sz="2000" b="1" dirty="0" smtClean="0"/>
              <a:t>Mechanism to Authenticate 	   electronic PHI (A)</a:t>
            </a:r>
          </a:p>
          <a:p>
            <a:pPr marL="342900" indent="-342900">
              <a:buFont typeface="Wingdings" panose="05000000000000000000" pitchFamily="2" charset="2"/>
              <a:buChar char="q"/>
            </a:pPr>
            <a:r>
              <a:rPr lang="en-US" sz="2400" b="1" dirty="0" smtClean="0"/>
              <a:t>Person or Entity </a:t>
            </a:r>
            <a:r>
              <a:rPr lang="en-US" sz="2400" b="1" dirty="0"/>
              <a:t>Authentication </a:t>
            </a:r>
            <a:r>
              <a:rPr lang="en-US" sz="2400" b="1" dirty="0" smtClean="0"/>
              <a:t>(S)(R)</a:t>
            </a:r>
            <a:endParaRPr lang="en-US" sz="2400" b="1" dirty="0"/>
          </a:p>
          <a:p>
            <a:pPr marL="342900" indent="-342900">
              <a:buFont typeface="Wingdings" panose="05000000000000000000" pitchFamily="2" charset="2"/>
              <a:buChar char="q"/>
            </a:pPr>
            <a:r>
              <a:rPr lang="en-US" sz="2400" b="1" dirty="0" smtClean="0"/>
              <a:t>Transmission Security</a:t>
            </a:r>
          </a:p>
          <a:p>
            <a:pPr marL="800100" lvl="1" indent="-342900">
              <a:buFont typeface="Wingdings" panose="05000000000000000000" pitchFamily="2" charset="2"/>
              <a:buChar char="§"/>
            </a:pPr>
            <a:r>
              <a:rPr lang="en-US" sz="2000" b="1" dirty="0" smtClean="0"/>
              <a:t>Integrity Controls (A)</a:t>
            </a:r>
          </a:p>
          <a:p>
            <a:pPr marL="800100" lvl="1" indent="-342900">
              <a:buFont typeface="Wingdings" panose="05000000000000000000" pitchFamily="2" charset="2"/>
              <a:buChar char="§"/>
            </a:pPr>
            <a:r>
              <a:rPr lang="en-US" sz="2000" b="1" dirty="0" smtClean="0"/>
              <a:t>Encryption (A)*</a:t>
            </a:r>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Technical Safeguards</a:t>
            </a:r>
            <a:endParaRPr lang="en-US" sz="3600" dirty="0"/>
          </a:p>
        </p:txBody>
      </p:sp>
      <p:sp>
        <p:nvSpPr>
          <p:cNvPr id="6" name="Content Placeholder 1"/>
          <p:cNvSpPr txBox="1">
            <a:spLocks/>
          </p:cNvSpPr>
          <p:nvPr/>
        </p:nvSpPr>
        <p:spPr>
          <a:xfrm>
            <a:off x="2718758" y="5867400"/>
            <a:ext cx="3763992" cy="6096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200" b="1" i="1" dirty="0" smtClean="0"/>
              <a:t>*Addressable, but an absolute must for meeting MU Protect PHI requirement for data at rest or in transit</a:t>
            </a:r>
            <a:endParaRPr lang="en-US" sz="1200" b="1" i="1" dirty="0"/>
          </a:p>
        </p:txBody>
      </p:sp>
    </p:spTree>
    <p:extLst>
      <p:ext uri="{BB962C8B-B14F-4D97-AF65-F5344CB8AC3E}">
        <p14:creationId xmlns:p14="http://schemas.microsoft.com/office/powerpoint/2010/main" val="261275848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9494" y="1742304"/>
            <a:ext cx="6816306" cy="1815882"/>
          </a:xfrm>
          <a:prstGeom prst="rect">
            <a:avLst/>
          </a:prstGeom>
        </p:spPr>
        <p:txBody>
          <a:bodyPr wrap="square">
            <a:spAutoFit/>
          </a:bodyPr>
          <a:lstStyle/>
          <a:p>
            <a:pPr marL="342900" indent="-342900">
              <a:buFont typeface="Wingdings" panose="05000000000000000000" pitchFamily="2" charset="2"/>
              <a:buChar char="q"/>
            </a:pPr>
            <a:r>
              <a:rPr lang="en-US" sz="2400" b="1" dirty="0" smtClean="0"/>
              <a:t>Business Associate Contracts or Other Agreements</a:t>
            </a:r>
          </a:p>
          <a:p>
            <a:pPr marL="800100" lvl="1" indent="-342900">
              <a:buFont typeface="Wingdings" panose="05000000000000000000" pitchFamily="2" charset="2"/>
              <a:buChar char="q"/>
            </a:pPr>
            <a:r>
              <a:rPr lang="en-US" sz="2000" b="1" dirty="0" smtClean="0"/>
              <a:t>Business Associate Contracts (R)</a:t>
            </a:r>
          </a:p>
          <a:p>
            <a:pPr marL="800100" lvl="1" indent="-342900">
              <a:buFont typeface="Wingdings" panose="05000000000000000000" pitchFamily="2" charset="2"/>
              <a:buChar char="q"/>
            </a:pPr>
            <a:r>
              <a:rPr lang="en-US" sz="2000" b="1" dirty="0" smtClean="0"/>
              <a:t>Other Agreements (R)</a:t>
            </a:r>
          </a:p>
          <a:p>
            <a:pPr marL="342900" indent="-342900">
              <a:buFont typeface="Wingdings" panose="05000000000000000000" pitchFamily="2" charset="2"/>
              <a:buChar char="q"/>
            </a:pPr>
            <a:r>
              <a:rPr lang="en-US" sz="2400" b="1" dirty="0" smtClean="0"/>
              <a:t>Requirements for Group Health Plans (R)</a:t>
            </a:r>
          </a:p>
        </p:txBody>
      </p:sp>
      <p:sp>
        <p:nvSpPr>
          <p:cNvPr id="3" name="Title 1"/>
          <p:cNvSpPr txBox="1">
            <a:spLocks/>
          </p:cNvSpPr>
          <p:nvPr/>
        </p:nvSpPr>
        <p:spPr>
          <a:xfrm>
            <a:off x="457200" y="393940"/>
            <a:ext cx="76200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dirty="0" smtClean="0"/>
              <a:t>Other Security Rule Requirements</a:t>
            </a:r>
            <a:endParaRPr lang="en-US" sz="3200" dirty="0"/>
          </a:p>
        </p:txBody>
      </p:sp>
      <p:sp>
        <p:nvSpPr>
          <p:cNvPr id="4" name="Rectangle 3"/>
          <p:cNvSpPr/>
          <p:nvPr/>
        </p:nvSpPr>
        <p:spPr>
          <a:xfrm>
            <a:off x="1489494" y="4526944"/>
            <a:ext cx="4495800" cy="1754326"/>
          </a:xfrm>
          <a:prstGeom prst="rect">
            <a:avLst/>
          </a:prstGeom>
        </p:spPr>
        <p:txBody>
          <a:bodyPr wrap="square">
            <a:spAutoFit/>
          </a:bodyPr>
          <a:lstStyle/>
          <a:p>
            <a:pPr marL="342900" indent="-342900">
              <a:buFont typeface="Wingdings" panose="05000000000000000000" pitchFamily="2" charset="2"/>
              <a:buChar char="q"/>
            </a:pPr>
            <a:r>
              <a:rPr lang="en-US" sz="2400" b="1" dirty="0" smtClean="0"/>
              <a:t>Policies and Procedures</a:t>
            </a:r>
          </a:p>
          <a:p>
            <a:pPr marL="342900" indent="-342900">
              <a:buFont typeface="Wingdings" panose="05000000000000000000" pitchFamily="2" charset="2"/>
              <a:buChar char="q"/>
            </a:pPr>
            <a:r>
              <a:rPr lang="en-US" sz="2400" b="1" dirty="0" smtClean="0"/>
              <a:t>Documentation</a:t>
            </a:r>
          </a:p>
          <a:p>
            <a:pPr marL="800100" lvl="1" indent="-342900">
              <a:buFont typeface="Wingdings" panose="05000000000000000000" pitchFamily="2" charset="2"/>
              <a:buChar char="q"/>
            </a:pPr>
            <a:r>
              <a:rPr lang="en-US" sz="2000" b="1" dirty="0" smtClean="0"/>
              <a:t>Time Limit (R)</a:t>
            </a:r>
          </a:p>
          <a:p>
            <a:pPr marL="800100" lvl="1" indent="-342900">
              <a:buFont typeface="Wingdings" panose="05000000000000000000" pitchFamily="2" charset="2"/>
              <a:buChar char="q"/>
            </a:pPr>
            <a:r>
              <a:rPr lang="en-US" sz="2000" b="1" dirty="0" smtClean="0"/>
              <a:t>Availability (R)</a:t>
            </a:r>
          </a:p>
          <a:p>
            <a:pPr marL="800100" lvl="1" indent="-342900">
              <a:buFont typeface="Wingdings" panose="05000000000000000000" pitchFamily="2" charset="2"/>
              <a:buChar char="q"/>
            </a:pPr>
            <a:r>
              <a:rPr lang="en-US" sz="2000" b="1" dirty="0" smtClean="0"/>
              <a:t>Updates (R)</a:t>
            </a:r>
          </a:p>
        </p:txBody>
      </p:sp>
      <p:sp>
        <p:nvSpPr>
          <p:cNvPr id="5" name="Rectangle 4"/>
          <p:cNvSpPr/>
          <p:nvPr/>
        </p:nvSpPr>
        <p:spPr>
          <a:xfrm>
            <a:off x="685800" y="1219200"/>
            <a:ext cx="6816306" cy="523220"/>
          </a:xfrm>
          <a:prstGeom prst="rect">
            <a:avLst/>
          </a:prstGeom>
        </p:spPr>
        <p:txBody>
          <a:bodyPr wrap="square">
            <a:spAutoFit/>
          </a:bodyPr>
          <a:lstStyle/>
          <a:p>
            <a:r>
              <a:rPr lang="en-US" sz="2800" b="1" dirty="0" smtClean="0"/>
              <a:t>Organizational Requirements</a:t>
            </a:r>
            <a:endParaRPr lang="en-US" sz="2400" b="1" dirty="0" smtClean="0"/>
          </a:p>
        </p:txBody>
      </p:sp>
      <p:sp>
        <p:nvSpPr>
          <p:cNvPr id="6" name="Rectangle 5"/>
          <p:cNvSpPr/>
          <p:nvPr/>
        </p:nvSpPr>
        <p:spPr>
          <a:xfrm>
            <a:off x="685800" y="3572837"/>
            <a:ext cx="7620000" cy="954107"/>
          </a:xfrm>
          <a:prstGeom prst="rect">
            <a:avLst/>
          </a:prstGeom>
        </p:spPr>
        <p:txBody>
          <a:bodyPr wrap="square">
            <a:spAutoFit/>
          </a:bodyPr>
          <a:lstStyle/>
          <a:p>
            <a:r>
              <a:rPr lang="en-US" sz="2800" b="1" dirty="0" smtClean="0"/>
              <a:t>Policies &amp; Procedures and Documentation Requirements</a:t>
            </a:r>
            <a:endParaRPr lang="en-US" sz="2400" b="1" dirty="0" smtClean="0"/>
          </a:p>
        </p:txBody>
      </p:sp>
      <p:pic>
        <p:nvPicPr>
          <p:cNvPr id="3074" name="Picture 2" descr="C:\Users\larry delone\AppData\Local\Microsoft\Windows\Temporary Internet Files\Content.IE5\8EMZ1ANN\MP90044829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4199396"/>
            <a:ext cx="1634706" cy="2081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53399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8200" y="2286000"/>
            <a:ext cx="7564821" cy="1815882"/>
          </a:xfrm>
          <a:prstGeom prst="rect">
            <a:avLst/>
          </a:prstGeom>
        </p:spPr>
        <p:txBody>
          <a:bodyPr wrap="square">
            <a:spAutoFit/>
          </a:bodyPr>
          <a:lstStyle/>
          <a:p>
            <a:pPr marL="342900" indent="-342900">
              <a:buFont typeface="Wingdings" panose="05000000000000000000" pitchFamily="2" charset="2"/>
              <a:buChar char="q"/>
            </a:pPr>
            <a:r>
              <a:rPr lang="en-US" sz="2800" b="1" dirty="0" smtClean="0"/>
              <a:t>Department of Commerce (DOC)</a:t>
            </a:r>
          </a:p>
          <a:p>
            <a:pPr marL="342900" indent="-342900">
              <a:buFont typeface="Wingdings" panose="05000000000000000000" pitchFamily="2" charset="2"/>
              <a:buChar char="q"/>
            </a:pPr>
            <a:r>
              <a:rPr lang="en-US" sz="2800" b="1" dirty="0" smtClean="0"/>
              <a:t>Government Accounting Office (GAO)</a:t>
            </a:r>
          </a:p>
          <a:p>
            <a:pPr marL="342900" indent="-342900">
              <a:buFont typeface="Wingdings" panose="05000000000000000000" pitchFamily="2" charset="2"/>
              <a:buChar char="q"/>
            </a:pPr>
            <a:r>
              <a:rPr lang="en-US" sz="2800" b="1" dirty="0" smtClean="0"/>
              <a:t>Health and Human Services (HHS)</a:t>
            </a:r>
          </a:p>
          <a:p>
            <a:pPr marL="342900" indent="-342900">
              <a:buFont typeface="Wingdings" panose="05000000000000000000" pitchFamily="2" charset="2"/>
              <a:buChar char="q"/>
            </a:pPr>
            <a:r>
              <a:rPr lang="en-US" sz="2800" b="1" dirty="0" smtClean="0"/>
              <a:t>Office of Management and Budget (OMB)</a:t>
            </a:r>
            <a:endParaRPr lang="en-US" sz="2800" b="1" dirty="0"/>
          </a:p>
        </p:txBody>
      </p:sp>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588579" y="1524000"/>
            <a:ext cx="8001000" cy="674132"/>
          </a:xfrm>
        </p:spPr>
        <p:txBody>
          <a:bodyPr>
            <a:normAutofit fontScale="85000" lnSpcReduction="20000"/>
          </a:bodyPr>
          <a:lstStyle/>
          <a:p>
            <a:pPr marL="109728" indent="0">
              <a:spcAft>
                <a:spcPts val="1800"/>
              </a:spcAft>
              <a:buNone/>
            </a:pPr>
            <a:r>
              <a:rPr lang="en-US" sz="3300" b="1" dirty="0" smtClean="0"/>
              <a:t>HIPAA</a:t>
            </a:r>
            <a:r>
              <a:rPr lang="en-US" sz="2400" b="1" dirty="0" smtClean="0"/>
              <a:t> is administered by which Federal Agency: </a:t>
            </a:r>
          </a:p>
          <a:p>
            <a:pPr marL="109728" indent="0">
              <a:spcAft>
                <a:spcPts val="1800"/>
              </a:spcAft>
              <a:buNone/>
            </a:pPr>
            <a:endParaRPr lang="en-US" sz="2300" b="1" dirty="0" smtClean="0"/>
          </a:p>
        </p:txBody>
      </p:sp>
      <p:grpSp>
        <p:nvGrpSpPr>
          <p:cNvPr id="8" name="Group 7"/>
          <p:cNvGrpSpPr/>
          <p:nvPr/>
        </p:nvGrpSpPr>
        <p:grpSpPr>
          <a:xfrm>
            <a:off x="893379" y="3193941"/>
            <a:ext cx="7641021" cy="3240851"/>
            <a:chOff x="893379" y="3193941"/>
            <a:chExt cx="7641021" cy="3240851"/>
          </a:xfrm>
        </p:grpSpPr>
        <p:sp>
          <p:nvSpPr>
            <p:cNvPr id="4" name="TextBox 3"/>
            <p:cNvSpPr txBox="1"/>
            <p:nvPr/>
          </p:nvSpPr>
          <p:spPr>
            <a:xfrm>
              <a:off x="990600" y="4495800"/>
              <a:ext cx="7543800" cy="1938992"/>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The answer is HHS (Health and Human Services)- mandates that patient medical records and other health care data be protected against security breaches and unauthorized use or disclosure</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893379" y="3193941"/>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11774720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497457" y="1371600"/>
            <a:ext cx="8001000" cy="3809999"/>
          </a:xfrm>
        </p:spPr>
        <p:txBody>
          <a:bodyPr>
            <a:normAutofit/>
          </a:bodyPr>
          <a:lstStyle/>
          <a:p>
            <a:pPr marL="109728" indent="0">
              <a:spcAft>
                <a:spcPts val="1800"/>
              </a:spcAft>
              <a:buNone/>
            </a:pPr>
            <a:r>
              <a:rPr lang="en-US" sz="2400" b="1" dirty="0" smtClean="0"/>
              <a:t>In accordance with HIPAA Title II Subtitle F – Administrative Simplification provisions - you are considered a “covered entity” if you are a healthcare organization that create, receive, maintain, or transmit patient health care information</a:t>
            </a:r>
            <a:endParaRPr lang="en-US" sz="2300" b="1" dirty="0" smtClean="0"/>
          </a:p>
          <a:p>
            <a:pPr lvl="3">
              <a:spcAft>
                <a:spcPts val="1800"/>
              </a:spcAft>
              <a:buClrTx/>
              <a:buFont typeface="Wingdings" panose="05000000000000000000" pitchFamily="2" charset="2"/>
              <a:buChar char="q"/>
            </a:pPr>
            <a:r>
              <a:rPr lang="en-US" sz="2800" b="1" dirty="0" smtClean="0"/>
              <a:t>True</a:t>
            </a:r>
          </a:p>
          <a:p>
            <a:pPr lvl="3">
              <a:spcAft>
                <a:spcPts val="1800"/>
              </a:spcAft>
              <a:buClrTx/>
              <a:buFont typeface="Wingdings" panose="05000000000000000000" pitchFamily="2" charset="2"/>
              <a:buChar char="q"/>
            </a:pPr>
            <a:r>
              <a:rPr lang="en-US" sz="2800" b="1" dirty="0" smtClean="0"/>
              <a:t>False</a:t>
            </a:r>
          </a:p>
        </p:txBody>
      </p:sp>
      <p:grpSp>
        <p:nvGrpSpPr>
          <p:cNvPr id="3" name="Group 2"/>
          <p:cNvGrpSpPr/>
          <p:nvPr/>
        </p:nvGrpSpPr>
        <p:grpSpPr>
          <a:xfrm>
            <a:off x="1371600" y="3507828"/>
            <a:ext cx="7239000" cy="2938632"/>
            <a:chOff x="1407543" y="4390846"/>
            <a:chExt cx="7239000" cy="2938632"/>
          </a:xfrm>
        </p:grpSpPr>
        <p:sp>
          <p:nvSpPr>
            <p:cNvPr id="4" name="TextBox 3"/>
            <p:cNvSpPr txBox="1"/>
            <p:nvPr/>
          </p:nvSpPr>
          <p:spPr>
            <a:xfrm>
              <a:off x="1407543" y="5759818"/>
              <a:ext cx="7239000" cy="1569660"/>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True – HIPAA further delineates that all healthcare providers are considered “covered entities”</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1506746" y="4390846"/>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578821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310106" y="457200"/>
            <a:ext cx="8224294"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HIPAA - Administrative Simplification</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8"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36902" y="1796001"/>
            <a:ext cx="2232537" cy="1551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Rectangle 18"/>
          <p:cNvSpPr/>
          <p:nvPr/>
        </p:nvSpPr>
        <p:spPr>
          <a:xfrm>
            <a:off x="2490788" y="1447800"/>
            <a:ext cx="6119812" cy="3447098"/>
          </a:xfrm>
          <a:prstGeom prst="rect">
            <a:avLst/>
          </a:prstGeom>
        </p:spPr>
        <p:txBody>
          <a:bodyPr wrap="square">
            <a:spAutoFit/>
          </a:bodyPr>
          <a:lstStyle/>
          <a:p>
            <a:pPr marL="457200" indent="-457200">
              <a:buFont typeface="Wingdings" panose="05000000000000000000" pitchFamily="2" charset="2"/>
              <a:buChar char="q"/>
            </a:pPr>
            <a:endParaRPr lang="en-US" sz="3200" b="1" dirty="0"/>
          </a:p>
          <a:p>
            <a:pPr marL="457200" indent="-457200">
              <a:buFont typeface="Wingdings" panose="05000000000000000000" pitchFamily="2" charset="2"/>
              <a:buChar char="q"/>
            </a:pPr>
            <a:r>
              <a:rPr lang="en-US" sz="3200" b="1" dirty="0" smtClean="0"/>
              <a:t>Privacy Rule</a:t>
            </a:r>
          </a:p>
          <a:p>
            <a:pPr marL="457200" indent="-457200">
              <a:buFont typeface="Wingdings" panose="05000000000000000000" pitchFamily="2" charset="2"/>
              <a:buChar char="q"/>
            </a:pPr>
            <a:r>
              <a:rPr lang="en-US" sz="3200" b="1" dirty="0"/>
              <a:t>Security </a:t>
            </a:r>
            <a:r>
              <a:rPr lang="en-US" sz="3200" b="1" dirty="0" smtClean="0"/>
              <a:t>Rule</a:t>
            </a:r>
          </a:p>
          <a:p>
            <a:pPr marL="457200" indent="-457200">
              <a:buFont typeface="Wingdings" panose="05000000000000000000" pitchFamily="2" charset="2"/>
              <a:buChar char="q"/>
            </a:pPr>
            <a:r>
              <a:rPr lang="en-US" b="1" dirty="0" smtClean="0"/>
              <a:t>Electronic Transactions and </a:t>
            </a:r>
          </a:p>
          <a:p>
            <a:r>
              <a:rPr lang="en-US" b="1" dirty="0"/>
              <a:t>C</a:t>
            </a:r>
            <a:r>
              <a:rPr lang="en-US" b="1" dirty="0" smtClean="0"/>
              <a:t>ode Set Rule</a:t>
            </a:r>
          </a:p>
          <a:p>
            <a:pPr marL="457200" indent="-457200">
              <a:buFont typeface="Wingdings" panose="05000000000000000000" pitchFamily="2" charset="2"/>
              <a:buChar char="q"/>
            </a:pPr>
            <a:r>
              <a:rPr lang="en-US" b="1" dirty="0" smtClean="0"/>
              <a:t>National Identifiers</a:t>
            </a:r>
          </a:p>
          <a:p>
            <a:pPr marL="457200" indent="-457200">
              <a:buFont typeface="Wingdings" panose="05000000000000000000" pitchFamily="2" charset="2"/>
              <a:buChar char="q"/>
            </a:pPr>
            <a:r>
              <a:rPr lang="en-US" sz="3600" b="1" i="1" dirty="0" smtClean="0">
                <a:solidFill>
                  <a:srgbClr val="FF0000"/>
                </a:solidFill>
              </a:rPr>
              <a:t>Breach Notification Rule</a:t>
            </a:r>
          </a:p>
          <a:p>
            <a:pPr marL="457200" indent="-457200">
              <a:buFont typeface="Wingdings" panose="05000000000000000000" pitchFamily="2" charset="2"/>
              <a:buChar char="q"/>
            </a:pPr>
            <a:r>
              <a:rPr lang="en-US" sz="3200" b="1" dirty="0" smtClean="0"/>
              <a:t>Enforcement Rule</a:t>
            </a:r>
          </a:p>
        </p:txBody>
      </p:sp>
      <p:sp>
        <p:nvSpPr>
          <p:cNvPr id="3" name="Oval 2"/>
          <p:cNvSpPr/>
          <p:nvPr/>
        </p:nvSpPr>
        <p:spPr>
          <a:xfrm>
            <a:off x="741196" y="2571659"/>
            <a:ext cx="511974" cy="381000"/>
          </a:xfrm>
          <a:prstGeom prst="ellipse">
            <a:avLst/>
          </a:prstGeom>
          <a:noFill/>
          <a:ln>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descr="Files locked up with a chai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95691" y="1447800"/>
            <a:ext cx="1619250" cy="204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300689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371600"/>
            <a:ext cx="7696200" cy="1200329"/>
          </a:xfrm>
          <a:prstGeom prst="rect">
            <a:avLst/>
          </a:prstGeom>
        </p:spPr>
        <p:txBody>
          <a:bodyPr wrap="square">
            <a:spAutoFit/>
          </a:bodyPr>
          <a:lstStyle/>
          <a:p>
            <a:r>
              <a:rPr lang="en-US" sz="2400" b="1" i="1" dirty="0" smtClean="0"/>
              <a:t>--Requires Covered entities and Business Associates to provide notification following a breach of unsecured PHI--</a:t>
            </a:r>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Breach Notification Rule</a:t>
            </a:r>
            <a:endParaRPr lang="en-US" sz="3600" dirty="0"/>
          </a:p>
        </p:txBody>
      </p:sp>
      <p:sp>
        <p:nvSpPr>
          <p:cNvPr id="4" name="Rectangle 3"/>
          <p:cNvSpPr/>
          <p:nvPr/>
        </p:nvSpPr>
        <p:spPr>
          <a:xfrm>
            <a:off x="990600" y="2789482"/>
            <a:ext cx="7162800" cy="830997"/>
          </a:xfrm>
          <a:prstGeom prst="rect">
            <a:avLst/>
          </a:prstGeom>
        </p:spPr>
        <p:txBody>
          <a:bodyPr wrap="square">
            <a:spAutoFit/>
          </a:bodyPr>
          <a:lstStyle/>
          <a:p>
            <a:r>
              <a:rPr lang="en-US" sz="2400" b="1" dirty="0" smtClean="0"/>
              <a:t>“Breach” – unauthorized acquisition, access, use, disclosure of unsecured PHI</a:t>
            </a:r>
          </a:p>
        </p:txBody>
      </p:sp>
      <p:sp>
        <p:nvSpPr>
          <p:cNvPr id="5" name="Rectangle 4"/>
          <p:cNvSpPr/>
          <p:nvPr/>
        </p:nvSpPr>
        <p:spPr>
          <a:xfrm>
            <a:off x="948906" y="3856008"/>
            <a:ext cx="7711296" cy="1200329"/>
          </a:xfrm>
          <a:prstGeom prst="rect">
            <a:avLst/>
          </a:prstGeom>
        </p:spPr>
        <p:txBody>
          <a:bodyPr wrap="square">
            <a:spAutoFit/>
          </a:bodyPr>
          <a:lstStyle/>
          <a:p>
            <a:r>
              <a:rPr lang="en-US" sz="2400" b="1" dirty="0" smtClean="0"/>
              <a:t>“Unsecured PHI” – PHI that has not been rendered unusable, unreadable, or indecipherable to unauthorized individuals</a:t>
            </a:r>
          </a:p>
        </p:txBody>
      </p:sp>
      <p:sp>
        <p:nvSpPr>
          <p:cNvPr id="6" name="Rectangle 5"/>
          <p:cNvSpPr/>
          <p:nvPr/>
        </p:nvSpPr>
        <p:spPr>
          <a:xfrm>
            <a:off x="1828800" y="5375846"/>
            <a:ext cx="5372100" cy="461665"/>
          </a:xfrm>
          <a:prstGeom prst="rect">
            <a:avLst/>
          </a:prstGeom>
          <a:solidFill>
            <a:schemeClr val="tx1"/>
          </a:solidFill>
        </p:spPr>
        <p:txBody>
          <a:bodyPr wrap="square">
            <a:spAutoFit/>
          </a:bodyPr>
          <a:lstStyle/>
          <a:p>
            <a:r>
              <a:rPr lang="en-US" sz="2400" b="1" dirty="0" smtClean="0">
                <a:solidFill>
                  <a:schemeClr val="bg1"/>
                </a:solidFill>
              </a:rPr>
              <a:t>Burden of proof is on the CE or BA</a:t>
            </a:r>
          </a:p>
        </p:txBody>
      </p:sp>
    </p:spTree>
    <p:extLst>
      <p:ext uri="{BB962C8B-B14F-4D97-AF65-F5344CB8AC3E}">
        <p14:creationId xmlns:p14="http://schemas.microsoft.com/office/powerpoint/2010/main" val="115888027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19200"/>
            <a:ext cx="8305800" cy="1200329"/>
          </a:xfrm>
          <a:prstGeom prst="rect">
            <a:avLst/>
          </a:prstGeom>
        </p:spPr>
        <p:txBody>
          <a:bodyPr wrap="square">
            <a:spAutoFit/>
          </a:bodyPr>
          <a:lstStyle/>
          <a:p>
            <a:r>
              <a:rPr lang="en-US" sz="2400" b="1" i="1" dirty="0" smtClean="0"/>
              <a:t>Covered entity must provide notification following a breach of unsecured protected health information as follows:</a:t>
            </a:r>
          </a:p>
        </p:txBody>
      </p:sp>
      <p:sp>
        <p:nvSpPr>
          <p:cNvPr id="3" name="Title 1"/>
          <p:cNvSpPr txBox="1">
            <a:spLocks/>
          </p:cNvSpPr>
          <p:nvPr/>
        </p:nvSpPr>
        <p:spPr>
          <a:xfrm>
            <a:off x="457200" y="393940"/>
            <a:ext cx="80772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Breach Notification Requirements</a:t>
            </a:r>
            <a:endParaRPr lang="en-US" sz="3600" dirty="0"/>
          </a:p>
        </p:txBody>
      </p:sp>
      <p:sp>
        <p:nvSpPr>
          <p:cNvPr id="4" name="Rectangle 3"/>
          <p:cNvSpPr/>
          <p:nvPr/>
        </p:nvSpPr>
        <p:spPr>
          <a:xfrm>
            <a:off x="819509" y="2419529"/>
            <a:ext cx="8153400" cy="3816429"/>
          </a:xfrm>
          <a:prstGeom prst="rect">
            <a:avLst/>
          </a:prstGeom>
        </p:spPr>
        <p:txBody>
          <a:bodyPr wrap="square">
            <a:spAutoFit/>
          </a:bodyPr>
          <a:lstStyle/>
          <a:p>
            <a:pPr marL="514350" indent="-514350">
              <a:buFont typeface="+mj-lt"/>
              <a:buAutoNum type="arabicPeriod"/>
            </a:pPr>
            <a:r>
              <a:rPr lang="en-US" sz="2200" b="1" dirty="0" smtClean="0"/>
              <a:t>Individual Notice</a:t>
            </a:r>
          </a:p>
          <a:p>
            <a:pPr marL="971550" lvl="1" indent="-514350">
              <a:buFont typeface="+mj-lt"/>
              <a:buAutoNum type="romanLcPeriod"/>
            </a:pPr>
            <a:r>
              <a:rPr lang="en-US" sz="2200" b="1" dirty="0" smtClean="0"/>
              <a:t>In written form </a:t>
            </a:r>
            <a:r>
              <a:rPr lang="en-US" sz="2200" b="1" dirty="0" err="1" smtClean="0"/>
              <a:t>ie</a:t>
            </a:r>
            <a:r>
              <a:rPr lang="en-US" sz="2200" b="1" dirty="0" smtClean="0"/>
              <a:t>. first class mail or email</a:t>
            </a:r>
          </a:p>
          <a:p>
            <a:pPr marL="971550" lvl="1" indent="-514350">
              <a:buFont typeface="+mj-lt"/>
              <a:buAutoNum type="romanLcPeriod"/>
            </a:pPr>
            <a:r>
              <a:rPr lang="en-US" sz="2200" b="1" dirty="0" smtClean="0"/>
              <a:t>Must occur no later than 60 days</a:t>
            </a:r>
          </a:p>
          <a:p>
            <a:pPr marL="514350" indent="-514350">
              <a:buFont typeface="+mj-lt"/>
              <a:buAutoNum type="arabicPeriod"/>
            </a:pPr>
            <a:r>
              <a:rPr lang="en-US" sz="2200" b="1" dirty="0" smtClean="0"/>
              <a:t>Media Notice</a:t>
            </a:r>
          </a:p>
          <a:p>
            <a:pPr marL="971550" lvl="1" indent="-514350">
              <a:buFont typeface="+mj-lt"/>
              <a:buAutoNum type="romanLcPeriod"/>
            </a:pPr>
            <a:r>
              <a:rPr lang="en-US" sz="2200" b="1" dirty="0" smtClean="0"/>
              <a:t>Breach effecting &gt;500 individuals NLT 60 days</a:t>
            </a:r>
          </a:p>
          <a:p>
            <a:pPr marL="514350" indent="-514350">
              <a:buFont typeface="+mj-lt"/>
              <a:buAutoNum type="arabicPeriod"/>
            </a:pPr>
            <a:r>
              <a:rPr lang="en-US" sz="2200" b="1" dirty="0" smtClean="0"/>
              <a:t>Notice to the Secretary</a:t>
            </a:r>
          </a:p>
          <a:p>
            <a:pPr marL="971550" lvl="1" indent="-514350">
              <a:buFont typeface="+mj-lt"/>
              <a:buAutoNum type="romanLcPeriod"/>
            </a:pPr>
            <a:r>
              <a:rPr lang="en-US" sz="2200" b="1" dirty="0"/>
              <a:t>Breach effecting &gt;500 individuals NLT 60 </a:t>
            </a:r>
            <a:r>
              <a:rPr lang="en-US" sz="2200" b="1" dirty="0" smtClean="0"/>
              <a:t>days</a:t>
            </a:r>
          </a:p>
          <a:p>
            <a:pPr marL="971550" lvl="1" indent="-514350">
              <a:buFont typeface="+mj-lt"/>
              <a:buAutoNum type="romanLcPeriod"/>
            </a:pPr>
            <a:r>
              <a:rPr lang="en-US" sz="2200" b="1" dirty="0" smtClean="0"/>
              <a:t>Breach effecting &lt;500 individuals; annually</a:t>
            </a:r>
          </a:p>
          <a:p>
            <a:pPr marL="514350" indent="-514350">
              <a:buFont typeface="+mj-lt"/>
              <a:buAutoNum type="arabicPeriod"/>
            </a:pPr>
            <a:r>
              <a:rPr lang="en-US" sz="2200" b="1" dirty="0" smtClean="0"/>
              <a:t>Notification by a Business Associate</a:t>
            </a:r>
          </a:p>
          <a:p>
            <a:pPr marL="971550" lvl="1" indent="-514350">
              <a:buFont typeface="+mj-lt"/>
              <a:buAutoNum type="romanLcPeriod"/>
            </a:pPr>
            <a:r>
              <a:rPr lang="en-US" sz="2200" b="1" dirty="0" smtClean="0"/>
              <a:t>Notify CE NLT 60 days</a:t>
            </a:r>
            <a:r>
              <a:rPr lang="en-US" sz="2200" b="1" dirty="0"/>
              <a:t>;</a:t>
            </a:r>
            <a:r>
              <a:rPr lang="en-US" sz="2200" b="1" dirty="0" smtClean="0"/>
              <a:t> CE or BA may notify individua</a:t>
            </a:r>
            <a:r>
              <a:rPr lang="en-US" sz="2200" b="1" dirty="0"/>
              <a:t>l</a:t>
            </a:r>
            <a:endParaRPr lang="en-US" sz="2200" b="1" dirty="0" smtClean="0"/>
          </a:p>
        </p:txBody>
      </p:sp>
    </p:spTree>
    <p:extLst>
      <p:ext uri="{BB962C8B-B14F-4D97-AF65-F5344CB8AC3E}">
        <p14:creationId xmlns:p14="http://schemas.microsoft.com/office/powerpoint/2010/main" val="178914912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437736"/>
            <a:ext cx="8305800" cy="1200329"/>
          </a:xfrm>
          <a:prstGeom prst="rect">
            <a:avLst/>
          </a:prstGeom>
        </p:spPr>
        <p:txBody>
          <a:bodyPr wrap="square">
            <a:spAutoFit/>
          </a:bodyPr>
          <a:lstStyle/>
          <a:p>
            <a:r>
              <a:rPr lang="en-US" sz="2400" b="1" i="1" dirty="0" smtClean="0"/>
              <a:t>The impermissible use of PHI under the Privacy Rule is assumed to be a “breach” unless the CE Or BA perform a Risk Assessment on the following factors:</a:t>
            </a:r>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Risk Assessment - Breach</a:t>
            </a:r>
            <a:endParaRPr lang="en-US" sz="3600" dirty="0"/>
          </a:p>
        </p:txBody>
      </p:sp>
      <p:sp>
        <p:nvSpPr>
          <p:cNvPr id="4" name="Rectangle 3"/>
          <p:cNvSpPr/>
          <p:nvPr/>
        </p:nvSpPr>
        <p:spPr>
          <a:xfrm>
            <a:off x="1104900" y="2971800"/>
            <a:ext cx="7162800" cy="2308324"/>
          </a:xfrm>
          <a:prstGeom prst="rect">
            <a:avLst/>
          </a:prstGeom>
        </p:spPr>
        <p:txBody>
          <a:bodyPr wrap="square">
            <a:spAutoFit/>
          </a:bodyPr>
          <a:lstStyle/>
          <a:p>
            <a:pPr marL="514350" indent="-514350">
              <a:buFont typeface="+mj-lt"/>
              <a:buAutoNum type="arabicPeriod"/>
            </a:pPr>
            <a:r>
              <a:rPr lang="en-US" sz="2400" b="1" dirty="0" smtClean="0"/>
              <a:t>The nature and extent of the PHI involved</a:t>
            </a:r>
          </a:p>
          <a:p>
            <a:pPr marL="514350" indent="-514350">
              <a:buFont typeface="+mj-lt"/>
              <a:buAutoNum type="arabicPeriod"/>
            </a:pPr>
            <a:r>
              <a:rPr lang="en-US" sz="2400" b="1" dirty="0" smtClean="0"/>
              <a:t>The unauthorized person who used the PHI</a:t>
            </a:r>
          </a:p>
          <a:p>
            <a:pPr marL="514350" indent="-514350">
              <a:buFont typeface="+mj-lt"/>
              <a:buAutoNum type="arabicPeriod"/>
            </a:pPr>
            <a:r>
              <a:rPr lang="en-US" sz="2400" b="1" dirty="0" smtClean="0"/>
              <a:t>Whether the PHI was actually acquired or viewed</a:t>
            </a:r>
          </a:p>
          <a:p>
            <a:pPr marL="514350" indent="-514350">
              <a:buFont typeface="+mj-lt"/>
              <a:buAutoNum type="arabicPeriod"/>
            </a:pPr>
            <a:r>
              <a:rPr lang="en-US" sz="2400" b="1" dirty="0" smtClean="0"/>
              <a:t>The extent to which the PHI has been mitigated</a:t>
            </a:r>
          </a:p>
        </p:txBody>
      </p:sp>
    </p:spTree>
    <p:extLst>
      <p:ext uri="{BB962C8B-B14F-4D97-AF65-F5344CB8AC3E}">
        <p14:creationId xmlns:p14="http://schemas.microsoft.com/office/powerpoint/2010/main" val="238933513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457200" y="228600"/>
            <a:ext cx="8229600" cy="1143000"/>
          </a:xfrm>
        </p:spPr>
        <p:txBody>
          <a:bodyPr>
            <a:normAutofit/>
          </a:bodyPr>
          <a:lstStyle/>
          <a:p>
            <a:r>
              <a:rPr lang="en-US" sz="3200" dirty="0" smtClean="0"/>
              <a:t>Breach Notification Highlights*?</a:t>
            </a:r>
            <a:endParaRPr lang="en-US" sz="3200" dirty="0"/>
          </a:p>
        </p:txBody>
      </p:sp>
      <p:sp>
        <p:nvSpPr>
          <p:cNvPr id="4" name="Rectangle 3"/>
          <p:cNvSpPr/>
          <p:nvPr/>
        </p:nvSpPr>
        <p:spPr>
          <a:xfrm>
            <a:off x="638355" y="1371600"/>
            <a:ext cx="7696200" cy="4893647"/>
          </a:xfrm>
          <a:prstGeom prst="rect">
            <a:avLst/>
          </a:prstGeom>
        </p:spPr>
        <p:txBody>
          <a:bodyPr wrap="square">
            <a:spAutoFit/>
          </a:bodyPr>
          <a:lstStyle/>
          <a:p>
            <a:pPr marL="342900" indent="-342900">
              <a:buFont typeface="Wingdings" panose="05000000000000000000" pitchFamily="2" charset="2"/>
              <a:buChar char="q"/>
            </a:pPr>
            <a:r>
              <a:rPr lang="en-US" sz="2400" b="1" dirty="0" smtClean="0"/>
              <a:t>571 reports involving over 500 individuals</a:t>
            </a:r>
          </a:p>
          <a:p>
            <a:pPr marL="342900" indent="-342900">
              <a:buFont typeface="Wingdings" panose="05000000000000000000" pitchFamily="2" charset="2"/>
              <a:buChar char="q"/>
            </a:pPr>
            <a:r>
              <a:rPr lang="en-US" sz="2400" b="1" dirty="0" smtClean="0"/>
              <a:t>Over 79,000 reports involving under 500 individuals</a:t>
            </a:r>
          </a:p>
          <a:p>
            <a:pPr marL="342900" indent="-342900">
              <a:buFont typeface="Wingdings" panose="05000000000000000000" pitchFamily="2" charset="2"/>
              <a:buChar char="q"/>
            </a:pPr>
            <a:r>
              <a:rPr lang="en-US" sz="2400" b="1" dirty="0" smtClean="0"/>
              <a:t>Top types of large breaches</a:t>
            </a:r>
          </a:p>
          <a:p>
            <a:pPr marL="800100" lvl="1" indent="-342900">
              <a:buFont typeface="Wingdings" panose="05000000000000000000" pitchFamily="2" charset="2"/>
              <a:buChar char="§"/>
            </a:pPr>
            <a:r>
              <a:rPr lang="en-US" sz="2400" b="1" dirty="0" smtClean="0"/>
              <a:t>Theft </a:t>
            </a:r>
          </a:p>
          <a:p>
            <a:pPr marL="800100" lvl="1" indent="-342900">
              <a:buFont typeface="Wingdings" panose="05000000000000000000" pitchFamily="2" charset="2"/>
              <a:buChar char="§"/>
            </a:pPr>
            <a:r>
              <a:rPr lang="en-US" sz="2400" b="1" dirty="0" smtClean="0"/>
              <a:t>Unauthorized access/disclosures</a:t>
            </a:r>
          </a:p>
          <a:p>
            <a:pPr marL="800100" lvl="1" indent="-342900">
              <a:buFont typeface="Wingdings" panose="05000000000000000000" pitchFamily="2" charset="2"/>
              <a:buChar char="§"/>
            </a:pPr>
            <a:r>
              <a:rPr lang="en-US" sz="2400" b="1" dirty="0" smtClean="0"/>
              <a:t>Loss</a:t>
            </a:r>
          </a:p>
          <a:p>
            <a:pPr marL="342900" indent="-342900">
              <a:buFont typeface="Wingdings" panose="05000000000000000000" pitchFamily="2" charset="2"/>
              <a:buChar char="q"/>
            </a:pPr>
            <a:r>
              <a:rPr lang="en-US" sz="2400" b="1" dirty="0" smtClean="0"/>
              <a:t>Top locations for large breaches</a:t>
            </a:r>
          </a:p>
          <a:p>
            <a:pPr marL="800100" lvl="1" indent="-342900">
              <a:buFont typeface="Wingdings" panose="05000000000000000000" pitchFamily="2" charset="2"/>
              <a:buChar char="§"/>
            </a:pPr>
            <a:r>
              <a:rPr lang="en-US" sz="2400" b="1" dirty="0" smtClean="0"/>
              <a:t>Laptops</a:t>
            </a:r>
          </a:p>
          <a:p>
            <a:pPr marL="800100" lvl="1" indent="-342900">
              <a:buFont typeface="Wingdings" panose="05000000000000000000" pitchFamily="2" charset="2"/>
              <a:buChar char="§"/>
            </a:pPr>
            <a:r>
              <a:rPr lang="en-US" sz="2400" b="1" dirty="0" smtClean="0"/>
              <a:t>Paper records</a:t>
            </a:r>
          </a:p>
          <a:p>
            <a:pPr marL="800100" lvl="1" indent="-342900">
              <a:buFont typeface="Wingdings" panose="05000000000000000000" pitchFamily="2" charset="2"/>
              <a:buChar char="§"/>
            </a:pPr>
            <a:r>
              <a:rPr lang="en-US" sz="2400" b="1" dirty="0" smtClean="0"/>
              <a:t>Desktop computers</a:t>
            </a:r>
          </a:p>
          <a:p>
            <a:pPr marL="800100" lvl="1" indent="-342900">
              <a:buFont typeface="Wingdings" panose="05000000000000000000" pitchFamily="2" charset="2"/>
              <a:buChar char="§"/>
            </a:pPr>
            <a:r>
              <a:rPr lang="en-US" sz="2400" b="1" dirty="0" smtClean="0"/>
              <a:t>Portable electronic devices</a:t>
            </a:r>
          </a:p>
          <a:p>
            <a:endParaRPr lang="en-US" sz="2400" b="1" dirty="0" smtClean="0"/>
          </a:p>
        </p:txBody>
      </p:sp>
      <p:sp>
        <p:nvSpPr>
          <p:cNvPr id="7" name="Content Placeholder 1"/>
          <p:cNvSpPr txBox="1">
            <a:spLocks/>
          </p:cNvSpPr>
          <p:nvPr/>
        </p:nvSpPr>
        <p:spPr>
          <a:xfrm>
            <a:off x="2815087" y="6166399"/>
            <a:ext cx="3342735" cy="240548"/>
          </a:xfrm>
          <a:prstGeom prst="rect">
            <a:avLst/>
          </a:prstGeom>
        </p:spPr>
        <p:txBody>
          <a:bodyPr vert="horz">
            <a:normAutofit fontScale="47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2400" dirty="0" smtClean="0"/>
              <a:t>September 2009 thru April 15, 2013</a:t>
            </a:r>
            <a:endParaRPr lang="en-US" sz="2400" dirty="0"/>
          </a:p>
        </p:txBody>
      </p:sp>
      <p:grpSp>
        <p:nvGrpSpPr>
          <p:cNvPr id="9" name="Group 8"/>
          <p:cNvGrpSpPr/>
          <p:nvPr/>
        </p:nvGrpSpPr>
        <p:grpSpPr>
          <a:xfrm>
            <a:off x="6248400" y="4498130"/>
            <a:ext cx="2176733" cy="673455"/>
            <a:chOff x="381000" y="5017252"/>
            <a:chExt cx="2176733" cy="673455"/>
          </a:xfrm>
        </p:grpSpPr>
        <p:sp>
          <p:nvSpPr>
            <p:cNvPr id="10" name="Content Placeholder 1"/>
            <p:cNvSpPr txBox="1">
              <a:spLocks/>
            </p:cNvSpPr>
            <p:nvPr/>
          </p:nvSpPr>
          <p:spPr>
            <a:xfrm>
              <a:off x="381000" y="5017252"/>
              <a:ext cx="2176733" cy="381892"/>
            </a:xfrm>
            <a:prstGeom prst="rect">
              <a:avLst/>
            </a:prstGeom>
          </p:spPr>
          <p:txBody>
            <a:bodyPr vert="horz">
              <a:normAutofit fontScale="400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2400" b="1" i="1" dirty="0" smtClean="0"/>
                <a:t>*Data extracted from Office of Civil Rights Briefing/Reports</a:t>
              </a:r>
              <a:endParaRPr lang="en-US" sz="2400" b="1" i="1" dirty="0"/>
            </a:p>
          </p:txBody>
        </p:sp>
        <p:pic>
          <p:nvPicPr>
            <p:cNvPr id="1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5348129"/>
              <a:ext cx="928912" cy="342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355610913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457200" y="228600"/>
            <a:ext cx="8229600" cy="1143000"/>
          </a:xfrm>
        </p:spPr>
        <p:txBody>
          <a:bodyPr>
            <a:normAutofit/>
          </a:bodyPr>
          <a:lstStyle/>
          <a:p>
            <a:r>
              <a:rPr lang="en-US" sz="3200" dirty="0" smtClean="0"/>
              <a:t>Breach Notification Highlights*?</a:t>
            </a:r>
            <a:endParaRPr lang="en-US" sz="3200" dirty="0"/>
          </a:p>
        </p:txBody>
      </p:sp>
      <p:sp>
        <p:nvSpPr>
          <p:cNvPr id="7" name="Content Placeholder 1"/>
          <p:cNvSpPr txBox="1">
            <a:spLocks/>
          </p:cNvSpPr>
          <p:nvPr/>
        </p:nvSpPr>
        <p:spPr>
          <a:xfrm>
            <a:off x="2743200" y="5486400"/>
            <a:ext cx="3342735" cy="240548"/>
          </a:xfrm>
          <a:prstGeom prst="rect">
            <a:avLst/>
          </a:prstGeom>
        </p:spPr>
        <p:txBody>
          <a:bodyPr vert="horz">
            <a:normAutofit fontScale="47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2400" dirty="0" smtClean="0"/>
              <a:t>September 2009 thru April 15, 2013</a:t>
            </a:r>
            <a:endParaRPr lang="en-US" sz="2400" dirty="0"/>
          </a:p>
        </p:txBody>
      </p:sp>
      <p:graphicFrame>
        <p:nvGraphicFramePr>
          <p:cNvPr id="6" name="Chart 5"/>
          <p:cNvGraphicFramePr>
            <a:graphicFrameLocks/>
          </p:cNvGraphicFramePr>
          <p:nvPr>
            <p:extLst>
              <p:ext uri="{D42A27DB-BD31-4B8C-83A1-F6EECF244321}">
                <p14:modId xmlns:p14="http://schemas.microsoft.com/office/powerpoint/2010/main" val="398674849"/>
              </p:ext>
            </p:extLst>
          </p:nvPr>
        </p:nvGraphicFramePr>
        <p:xfrm>
          <a:off x="685800" y="1371600"/>
          <a:ext cx="7620000" cy="4267200"/>
        </p:xfrm>
        <a:graphic>
          <a:graphicData uri="http://schemas.openxmlformats.org/drawingml/2006/chart">
            <c:chart xmlns:c="http://schemas.openxmlformats.org/drawingml/2006/chart" xmlns:r="http://schemas.openxmlformats.org/officeDocument/2006/relationships" r:id="rId2"/>
          </a:graphicData>
        </a:graphic>
      </p:graphicFrame>
      <p:grpSp>
        <p:nvGrpSpPr>
          <p:cNvPr id="9" name="Group 8"/>
          <p:cNvGrpSpPr/>
          <p:nvPr/>
        </p:nvGrpSpPr>
        <p:grpSpPr>
          <a:xfrm>
            <a:off x="381000" y="5208198"/>
            <a:ext cx="2176733" cy="673455"/>
            <a:chOff x="381000" y="5017252"/>
            <a:chExt cx="2176733" cy="673455"/>
          </a:xfrm>
        </p:grpSpPr>
        <p:sp>
          <p:nvSpPr>
            <p:cNvPr id="10" name="Content Placeholder 1"/>
            <p:cNvSpPr txBox="1">
              <a:spLocks/>
            </p:cNvSpPr>
            <p:nvPr/>
          </p:nvSpPr>
          <p:spPr>
            <a:xfrm>
              <a:off x="381000" y="5017252"/>
              <a:ext cx="2176733" cy="381892"/>
            </a:xfrm>
            <a:prstGeom prst="rect">
              <a:avLst/>
            </a:prstGeom>
          </p:spPr>
          <p:txBody>
            <a:bodyPr vert="horz">
              <a:normAutofit fontScale="400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2400" b="1" i="1" dirty="0" smtClean="0"/>
                <a:t>*Data extracted from Office of Civil Rights Briefing/Reports</a:t>
              </a:r>
              <a:endParaRPr lang="en-US" sz="2400" b="1" i="1" dirty="0"/>
            </a:p>
          </p:txBody>
        </p:sp>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5348129"/>
              <a:ext cx="928912" cy="342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92633865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457200" y="228600"/>
            <a:ext cx="8229600" cy="1143000"/>
          </a:xfrm>
        </p:spPr>
        <p:txBody>
          <a:bodyPr>
            <a:normAutofit/>
          </a:bodyPr>
          <a:lstStyle/>
          <a:p>
            <a:r>
              <a:rPr lang="en-US" sz="3200" dirty="0" smtClean="0"/>
              <a:t>Breach Notification Highlights*?</a:t>
            </a:r>
            <a:endParaRPr lang="en-US" sz="3200" dirty="0"/>
          </a:p>
        </p:txBody>
      </p:sp>
      <p:sp>
        <p:nvSpPr>
          <p:cNvPr id="7" name="Content Placeholder 1"/>
          <p:cNvSpPr txBox="1">
            <a:spLocks/>
          </p:cNvSpPr>
          <p:nvPr/>
        </p:nvSpPr>
        <p:spPr>
          <a:xfrm>
            <a:off x="3124200" y="5399144"/>
            <a:ext cx="3342735" cy="240548"/>
          </a:xfrm>
          <a:prstGeom prst="rect">
            <a:avLst/>
          </a:prstGeom>
        </p:spPr>
        <p:txBody>
          <a:bodyPr vert="horz">
            <a:normAutofit fontScale="47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2400" dirty="0" smtClean="0"/>
              <a:t>September 2009 thru April 15, 2013</a:t>
            </a:r>
            <a:endParaRPr lang="en-US" sz="2400" dirty="0"/>
          </a:p>
        </p:txBody>
      </p:sp>
      <p:graphicFrame>
        <p:nvGraphicFramePr>
          <p:cNvPr id="9" name="Chart 8"/>
          <p:cNvGraphicFramePr>
            <a:graphicFrameLocks/>
          </p:cNvGraphicFramePr>
          <p:nvPr>
            <p:extLst>
              <p:ext uri="{D42A27DB-BD31-4B8C-83A1-F6EECF244321}">
                <p14:modId xmlns:p14="http://schemas.microsoft.com/office/powerpoint/2010/main" val="1315145718"/>
              </p:ext>
            </p:extLst>
          </p:nvPr>
        </p:nvGraphicFramePr>
        <p:xfrm>
          <a:off x="914400" y="1447800"/>
          <a:ext cx="7391400" cy="3962400"/>
        </p:xfrm>
        <a:graphic>
          <a:graphicData uri="http://schemas.openxmlformats.org/drawingml/2006/chart">
            <c:chart xmlns:c="http://schemas.openxmlformats.org/drawingml/2006/chart" xmlns:r="http://schemas.openxmlformats.org/officeDocument/2006/relationships" r:id="rId2"/>
          </a:graphicData>
        </a:graphic>
      </p:graphicFrame>
      <p:grpSp>
        <p:nvGrpSpPr>
          <p:cNvPr id="2" name="Group 1"/>
          <p:cNvGrpSpPr/>
          <p:nvPr/>
        </p:nvGrpSpPr>
        <p:grpSpPr>
          <a:xfrm>
            <a:off x="381000" y="5017252"/>
            <a:ext cx="2176733" cy="673455"/>
            <a:chOff x="381000" y="5017252"/>
            <a:chExt cx="2176733" cy="673455"/>
          </a:xfrm>
        </p:grpSpPr>
        <p:sp>
          <p:nvSpPr>
            <p:cNvPr id="8" name="Content Placeholder 1"/>
            <p:cNvSpPr txBox="1">
              <a:spLocks/>
            </p:cNvSpPr>
            <p:nvPr/>
          </p:nvSpPr>
          <p:spPr>
            <a:xfrm>
              <a:off x="381000" y="5017252"/>
              <a:ext cx="2176733" cy="381892"/>
            </a:xfrm>
            <a:prstGeom prst="rect">
              <a:avLst/>
            </a:prstGeom>
          </p:spPr>
          <p:txBody>
            <a:bodyPr vert="horz">
              <a:normAutofit fontScale="400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2400" b="1" i="1" dirty="0" smtClean="0"/>
                <a:t>*Data extracted from Office of Civil Rights Briefing/Reports</a:t>
              </a:r>
              <a:endParaRPr lang="en-US" sz="2400" b="1" i="1"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5348129"/>
              <a:ext cx="928912" cy="342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354762551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8200" y="2286000"/>
            <a:ext cx="7564821" cy="1815882"/>
          </a:xfrm>
          <a:prstGeom prst="rect">
            <a:avLst/>
          </a:prstGeom>
        </p:spPr>
        <p:txBody>
          <a:bodyPr wrap="square">
            <a:spAutoFit/>
          </a:bodyPr>
          <a:lstStyle/>
          <a:p>
            <a:pPr marL="342900" indent="-342900">
              <a:buFont typeface="Wingdings" panose="05000000000000000000" pitchFamily="2" charset="2"/>
              <a:buChar char="q"/>
            </a:pPr>
            <a:r>
              <a:rPr lang="en-US" sz="2800" b="1" dirty="0" smtClean="0"/>
              <a:t>Department of Commerce (DOC)</a:t>
            </a:r>
          </a:p>
          <a:p>
            <a:pPr marL="342900" indent="-342900">
              <a:buFont typeface="Wingdings" panose="05000000000000000000" pitchFamily="2" charset="2"/>
              <a:buChar char="q"/>
            </a:pPr>
            <a:r>
              <a:rPr lang="en-US" sz="2800" b="1" dirty="0" smtClean="0"/>
              <a:t>Government Accounting Office (GAO)</a:t>
            </a:r>
          </a:p>
          <a:p>
            <a:pPr marL="342900" indent="-342900">
              <a:buFont typeface="Wingdings" panose="05000000000000000000" pitchFamily="2" charset="2"/>
              <a:buChar char="q"/>
            </a:pPr>
            <a:r>
              <a:rPr lang="en-US" sz="2800" b="1" dirty="0" smtClean="0"/>
              <a:t>Health and Human Services (HHS)</a:t>
            </a:r>
          </a:p>
          <a:p>
            <a:pPr marL="342900" indent="-342900">
              <a:buFont typeface="Wingdings" panose="05000000000000000000" pitchFamily="2" charset="2"/>
              <a:buChar char="q"/>
            </a:pPr>
            <a:r>
              <a:rPr lang="en-US" sz="2800" b="1" dirty="0" smtClean="0"/>
              <a:t>Office of Management and Budget (OMB)</a:t>
            </a:r>
            <a:endParaRPr lang="en-US" sz="2800" b="1" dirty="0"/>
          </a:p>
        </p:txBody>
      </p:sp>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588579" y="1524000"/>
            <a:ext cx="8001000" cy="674132"/>
          </a:xfrm>
        </p:spPr>
        <p:txBody>
          <a:bodyPr>
            <a:normAutofit fontScale="85000" lnSpcReduction="20000"/>
          </a:bodyPr>
          <a:lstStyle/>
          <a:p>
            <a:pPr marL="109728" indent="0">
              <a:spcAft>
                <a:spcPts val="1800"/>
              </a:spcAft>
              <a:buNone/>
            </a:pPr>
            <a:r>
              <a:rPr lang="en-US" sz="3300" b="1" dirty="0" smtClean="0"/>
              <a:t>HIPAA</a:t>
            </a:r>
            <a:r>
              <a:rPr lang="en-US" sz="2400" b="1" dirty="0" smtClean="0"/>
              <a:t> is administered by which Federal Agency: </a:t>
            </a:r>
          </a:p>
          <a:p>
            <a:pPr marL="109728" indent="0">
              <a:spcAft>
                <a:spcPts val="1800"/>
              </a:spcAft>
              <a:buNone/>
            </a:pPr>
            <a:endParaRPr lang="en-US" sz="2300" b="1" dirty="0" smtClean="0"/>
          </a:p>
        </p:txBody>
      </p:sp>
      <p:grpSp>
        <p:nvGrpSpPr>
          <p:cNvPr id="8" name="Group 7"/>
          <p:cNvGrpSpPr/>
          <p:nvPr/>
        </p:nvGrpSpPr>
        <p:grpSpPr>
          <a:xfrm>
            <a:off x="893379" y="3193941"/>
            <a:ext cx="7641021" cy="3240851"/>
            <a:chOff x="893379" y="3193941"/>
            <a:chExt cx="7641021" cy="3240851"/>
          </a:xfrm>
        </p:grpSpPr>
        <p:sp>
          <p:nvSpPr>
            <p:cNvPr id="4" name="TextBox 3"/>
            <p:cNvSpPr txBox="1"/>
            <p:nvPr/>
          </p:nvSpPr>
          <p:spPr>
            <a:xfrm>
              <a:off x="990600" y="4495800"/>
              <a:ext cx="7543800" cy="1938992"/>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The answer is HHS (Health and Human Services)- mandates that patient medical records and other health care data be protected against security breaches and unauthorized use or disclosure</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893379" y="3193941"/>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11774720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497457" y="1371600"/>
            <a:ext cx="8001000" cy="3809999"/>
          </a:xfrm>
        </p:spPr>
        <p:txBody>
          <a:bodyPr>
            <a:normAutofit/>
          </a:bodyPr>
          <a:lstStyle/>
          <a:p>
            <a:pPr marL="109728" indent="0">
              <a:spcAft>
                <a:spcPts val="1800"/>
              </a:spcAft>
              <a:buNone/>
            </a:pPr>
            <a:r>
              <a:rPr lang="en-US" sz="2400" b="1" dirty="0" smtClean="0"/>
              <a:t>In accordance with HIPAA Title II Subtitle F – Administrative Simplification provisions - you are considered a “covered entity” if you are a healthcare organization that create, receive, maintain, or transmit patient health care information</a:t>
            </a:r>
            <a:endParaRPr lang="en-US" sz="2300" b="1" dirty="0" smtClean="0"/>
          </a:p>
          <a:p>
            <a:pPr lvl="3">
              <a:spcAft>
                <a:spcPts val="1800"/>
              </a:spcAft>
              <a:buClrTx/>
              <a:buFont typeface="Wingdings" panose="05000000000000000000" pitchFamily="2" charset="2"/>
              <a:buChar char="q"/>
            </a:pPr>
            <a:r>
              <a:rPr lang="en-US" sz="2800" b="1" dirty="0" smtClean="0"/>
              <a:t>True</a:t>
            </a:r>
          </a:p>
          <a:p>
            <a:pPr lvl="3">
              <a:spcAft>
                <a:spcPts val="1800"/>
              </a:spcAft>
              <a:buClrTx/>
              <a:buFont typeface="Wingdings" panose="05000000000000000000" pitchFamily="2" charset="2"/>
              <a:buChar char="q"/>
            </a:pPr>
            <a:r>
              <a:rPr lang="en-US" sz="2800" b="1" dirty="0" smtClean="0"/>
              <a:t>False</a:t>
            </a:r>
          </a:p>
        </p:txBody>
      </p:sp>
      <p:grpSp>
        <p:nvGrpSpPr>
          <p:cNvPr id="3" name="Group 2"/>
          <p:cNvGrpSpPr/>
          <p:nvPr/>
        </p:nvGrpSpPr>
        <p:grpSpPr>
          <a:xfrm>
            <a:off x="1371600" y="3507828"/>
            <a:ext cx="7239000" cy="2938632"/>
            <a:chOff x="1407543" y="4390846"/>
            <a:chExt cx="7239000" cy="2938632"/>
          </a:xfrm>
        </p:grpSpPr>
        <p:sp>
          <p:nvSpPr>
            <p:cNvPr id="4" name="TextBox 3"/>
            <p:cNvSpPr txBox="1"/>
            <p:nvPr/>
          </p:nvSpPr>
          <p:spPr>
            <a:xfrm>
              <a:off x="1407543" y="5759818"/>
              <a:ext cx="7239000" cy="1569660"/>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True – HIPAA further delineates that all healthcare providers are considered “covered entities”</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1506746" y="4390846"/>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578821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310106" y="457200"/>
            <a:ext cx="8224294"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dirty="0" smtClean="0"/>
              <a:t>HIPAA - Administrative Simplification</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8"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36902" y="1440611"/>
            <a:ext cx="2232537" cy="1551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Rectangle 18"/>
          <p:cNvSpPr/>
          <p:nvPr/>
        </p:nvSpPr>
        <p:spPr>
          <a:xfrm>
            <a:off x="2490788" y="1447800"/>
            <a:ext cx="6119812" cy="3447098"/>
          </a:xfrm>
          <a:prstGeom prst="rect">
            <a:avLst/>
          </a:prstGeom>
        </p:spPr>
        <p:txBody>
          <a:bodyPr wrap="square">
            <a:spAutoFit/>
          </a:bodyPr>
          <a:lstStyle/>
          <a:p>
            <a:pPr marL="457200" indent="-457200">
              <a:buFont typeface="Wingdings" panose="05000000000000000000" pitchFamily="2" charset="2"/>
              <a:buChar char="q"/>
            </a:pPr>
            <a:endParaRPr lang="en-US" sz="3200" b="1" dirty="0"/>
          </a:p>
          <a:p>
            <a:pPr marL="457200" indent="-457200">
              <a:buFont typeface="Wingdings" panose="05000000000000000000" pitchFamily="2" charset="2"/>
              <a:buChar char="q"/>
            </a:pPr>
            <a:r>
              <a:rPr lang="en-US" sz="3200" b="1" dirty="0" smtClean="0"/>
              <a:t>Privacy Rule</a:t>
            </a:r>
          </a:p>
          <a:p>
            <a:pPr marL="457200" indent="-457200">
              <a:buFont typeface="Wingdings" panose="05000000000000000000" pitchFamily="2" charset="2"/>
              <a:buChar char="q"/>
            </a:pPr>
            <a:r>
              <a:rPr lang="en-US" sz="3200" b="1" dirty="0"/>
              <a:t>Security </a:t>
            </a:r>
            <a:r>
              <a:rPr lang="en-US" sz="3200" b="1" dirty="0" smtClean="0"/>
              <a:t>Rule</a:t>
            </a:r>
          </a:p>
          <a:p>
            <a:pPr marL="457200" indent="-457200">
              <a:buFont typeface="Wingdings" panose="05000000000000000000" pitchFamily="2" charset="2"/>
              <a:buChar char="q"/>
            </a:pPr>
            <a:r>
              <a:rPr lang="en-US" b="1" dirty="0" smtClean="0"/>
              <a:t>Electronic Transactions and </a:t>
            </a:r>
          </a:p>
          <a:p>
            <a:r>
              <a:rPr lang="en-US" b="1" dirty="0"/>
              <a:t>C</a:t>
            </a:r>
            <a:r>
              <a:rPr lang="en-US" b="1" dirty="0" smtClean="0"/>
              <a:t>ode Set Rule</a:t>
            </a:r>
          </a:p>
          <a:p>
            <a:pPr marL="457200" indent="-457200">
              <a:buFont typeface="Wingdings" panose="05000000000000000000" pitchFamily="2" charset="2"/>
              <a:buChar char="q"/>
            </a:pPr>
            <a:r>
              <a:rPr lang="en-US" b="1" dirty="0" smtClean="0"/>
              <a:t>National Identifiers</a:t>
            </a:r>
          </a:p>
          <a:p>
            <a:pPr marL="457200" indent="-457200">
              <a:buFont typeface="Wingdings" panose="05000000000000000000" pitchFamily="2" charset="2"/>
              <a:buChar char="q"/>
            </a:pPr>
            <a:r>
              <a:rPr lang="en-US" sz="3200" b="1" dirty="0" smtClean="0"/>
              <a:t>Breach Notification Rule</a:t>
            </a:r>
          </a:p>
          <a:p>
            <a:pPr marL="457200" indent="-457200">
              <a:buFont typeface="Wingdings" panose="05000000000000000000" pitchFamily="2" charset="2"/>
              <a:buChar char="q"/>
            </a:pPr>
            <a:r>
              <a:rPr lang="en-US" sz="3600" b="1" i="1" dirty="0" smtClean="0">
                <a:solidFill>
                  <a:srgbClr val="FF0000"/>
                </a:solidFill>
              </a:rPr>
              <a:t>Enforcement Rule</a:t>
            </a:r>
          </a:p>
        </p:txBody>
      </p:sp>
      <p:pic>
        <p:nvPicPr>
          <p:cNvPr id="22" name="Picture 21"/>
          <p:cNvPicPr/>
          <p:nvPr/>
        </p:nvPicPr>
        <p:blipFill>
          <a:blip r:embed="rId11" cstate="print">
            <a:extLst>
              <a:ext uri="{28A0092B-C50C-407E-A947-70E740481C1C}">
                <a14:useLocalDpi xmlns:a14="http://schemas.microsoft.com/office/drawing/2010/main" val="0"/>
              </a:ext>
            </a:extLst>
          </a:blip>
          <a:stretch>
            <a:fillRect/>
          </a:stretch>
        </p:blipFill>
        <p:spPr>
          <a:xfrm>
            <a:off x="6297822" y="1515982"/>
            <a:ext cx="1800860" cy="1806893"/>
          </a:xfrm>
          <a:prstGeom prst="rect">
            <a:avLst/>
          </a:prstGeom>
        </p:spPr>
      </p:pic>
    </p:spTree>
    <p:extLst>
      <p:ext uri="{BB962C8B-B14F-4D97-AF65-F5344CB8AC3E}">
        <p14:creationId xmlns:p14="http://schemas.microsoft.com/office/powerpoint/2010/main" val="420953656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295400"/>
            <a:ext cx="4724400" cy="1631216"/>
          </a:xfrm>
          <a:prstGeom prst="rect">
            <a:avLst/>
          </a:prstGeom>
        </p:spPr>
        <p:txBody>
          <a:bodyPr wrap="square">
            <a:spAutoFit/>
          </a:bodyPr>
          <a:lstStyle/>
          <a:p>
            <a:r>
              <a:rPr lang="en-US" sz="2000" b="1" dirty="0" smtClean="0"/>
              <a:t>HITECH Act of 2009 strengthen provisions for civil and criminal enforcement for violations of HIPAA Administrative Simplification Rules by establishing:</a:t>
            </a:r>
          </a:p>
        </p:txBody>
      </p:sp>
      <p:sp>
        <p:nvSpPr>
          <p:cNvPr id="3" name="Title 1"/>
          <p:cNvSpPr txBox="1">
            <a:spLocks/>
          </p:cNvSpPr>
          <p:nvPr/>
        </p:nvSpPr>
        <p:spPr>
          <a:xfrm>
            <a:off x="457200" y="393940"/>
            <a:ext cx="80772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Enforcement Rule</a:t>
            </a:r>
            <a:endParaRPr lang="en-US" sz="3600" dirty="0"/>
          </a:p>
        </p:txBody>
      </p:sp>
      <p:sp>
        <p:nvSpPr>
          <p:cNvPr id="4" name="Rectangle 3"/>
          <p:cNvSpPr/>
          <p:nvPr/>
        </p:nvSpPr>
        <p:spPr>
          <a:xfrm>
            <a:off x="685800" y="3124200"/>
            <a:ext cx="7970808" cy="2800767"/>
          </a:xfrm>
          <a:prstGeom prst="rect">
            <a:avLst/>
          </a:prstGeom>
        </p:spPr>
        <p:txBody>
          <a:bodyPr wrap="square">
            <a:spAutoFit/>
          </a:bodyPr>
          <a:lstStyle/>
          <a:p>
            <a:pPr marL="514350" indent="-514350">
              <a:buFont typeface="Wingdings" panose="05000000000000000000" pitchFamily="2" charset="2"/>
              <a:buChar char="q"/>
            </a:pPr>
            <a:r>
              <a:rPr lang="en-US" sz="2200" b="1" dirty="0" smtClean="0"/>
              <a:t>Four categories of violations reflecting increasing levels of culpability</a:t>
            </a:r>
          </a:p>
          <a:p>
            <a:pPr marL="514350" indent="-514350">
              <a:buFont typeface="Wingdings" panose="05000000000000000000" pitchFamily="2" charset="2"/>
              <a:buChar char="q"/>
            </a:pPr>
            <a:r>
              <a:rPr lang="en-US" sz="2200" b="1" dirty="0" smtClean="0"/>
              <a:t>Four corresponding tiers of penalty amounts</a:t>
            </a:r>
          </a:p>
          <a:p>
            <a:pPr marL="514350" indent="-514350">
              <a:buFont typeface="Wingdings" panose="05000000000000000000" pitchFamily="2" charset="2"/>
              <a:buChar char="q"/>
            </a:pPr>
            <a:r>
              <a:rPr lang="en-US" sz="2200" b="1" dirty="0" smtClean="0"/>
              <a:t>A maximum penalty amount of $1.5 million</a:t>
            </a:r>
          </a:p>
          <a:p>
            <a:pPr marL="514350" indent="-514350">
              <a:buFont typeface="Wingdings" panose="05000000000000000000" pitchFamily="2" charset="2"/>
              <a:buChar char="q"/>
            </a:pPr>
            <a:r>
              <a:rPr lang="en-US" sz="2200" b="1" dirty="0" smtClean="0"/>
              <a:t>Eliminated the exception on “did not know” or “would not have known” provisions previously acceptable</a:t>
            </a:r>
          </a:p>
          <a:p>
            <a:pPr marL="514350" indent="-514350">
              <a:buFont typeface="Wingdings" panose="05000000000000000000" pitchFamily="2" charset="2"/>
              <a:buChar char="q"/>
            </a:pPr>
            <a:r>
              <a:rPr lang="en-US" sz="2200" b="1" dirty="0" smtClean="0"/>
              <a:t>Prohibits imposing penalties if violation is corrected within 30 days (if not due to willful neglect)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1"/>
            <a:ext cx="2402675"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5883970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95400"/>
            <a:ext cx="7696200" cy="3539430"/>
          </a:xfrm>
          <a:prstGeom prst="rect">
            <a:avLst/>
          </a:prstGeom>
        </p:spPr>
        <p:txBody>
          <a:bodyPr wrap="square">
            <a:spAutoFit/>
          </a:bodyPr>
          <a:lstStyle/>
          <a:p>
            <a:pPr marL="342900" indent="-342900">
              <a:buFont typeface="Wingdings" panose="05000000000000000000" pitchFamily="2" charset="2"/>
              <a:buChar char="q"/>
            </a:pPr>
            <a:r>
              <a:rPr lang="en-US" sz="2800" b="1" dirty="0" smtClean="0"/>
              <a:t>The minimum fine for a minor HIPAA violation is $100/violation</a:t>
            </a:r>
          </a:p>
          <a:p>
            <a:pPr marL="342900" indent="-342900">
              <a:buFont typeface="Wingdings" panose="05000000000000000000" pitchFamily="2" charset="2"/>
              <a:buChar char="q"/>
            </a:pPr>
            <a:r>
              <a:rPr lang="en-US" sz="2800" b="1" dirty="0" smtClean="0"/>
              <a:t>The maximum fine for a serious HIPAA violation is $50,000/violation – capped at $1.5 million per year</a:t>
            </a:r>
          </a:p>
          <a:p>
            <a:pPr marL="342900" indent="-342900">
              <a:buFont typeface="Wingdings" panose="05000000000000000000" pitchFamily="2" charset="2"/>
              <a:buChar char="q"/>
            </a:pPr>
            <a:r>
              <a:rPr lang="en-US" sz="2800" b="1" dirty="0" smtClean="0"/>
              <a:t>Criminal HIPAA violations can also include prison sentences up to ten years per violation</a:t>
            </a:r>
            <a:endParaRPr lang="en-US" sz="2600" b="1"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HIPAA Penalties</a:t>
            </a:r>
            <a:endParaRPr lang="en-US" sz="3600" dirty="0"/>
          </a:p>
        </p:txBody>
      </p:sp>
      <p:sp>
        <p:nvSpPr>
          <p:cNvPr id="4" name="Rectangle 3"/>
          <p:cNvSpPr/>
          <p:nvPr/>
        </p:nvSpPr>
        <p:spPr>
          <a:xfrm>
            <a:off x="1687902" y="5126961"/>
            <a:ext cx="5257800" cy="830997"/>
          </a:xfrm>
          <a:prstGeom prst="rect">
            <a:avLst/>
          </a:prstGeom>
          <a:solidFill>
            <a:schemeClr val="accent1">
              <a:lumMod val="40000"/>
              <a:lumOff val="60000"/>
            </a:schemeClr>
          </a:solidFill>
        </p:spPr>
        <p:txBody>
          <a:bodyPr wrap="square">
            <a:spAutoFit/>
          </a:bodyPr>
          <a:lstStyle/>
          <a:p>
            <a:pPr lvl="1" algn="ctr"/>
            <a:r>
              <a:rPr lang="en-US" sz="1600" b="1" i="1" dirty="0" smtClean="0"/>
              <a:t>Because ePHI resides on computers/smart devices, everyone using them must practice “safe computing” at all times!!</a:t>
            </a:r>
            <a:endParaRPr lang="en-US" sz="1600" b="1" i="1" dirty="0"/>
          </a:p>
        </p:txBody>
      </p:sp>
    </p:spTree>
    <p:extLst>
      <p:ext uri="{BB962C8B-B14F-4D97-AF65-F5344CB8AC3E}">
        <p14:creationId xmlns:p14="http://schemas.microsoft.com/office/powerpoint/2010/main" val="5505124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8200" y="2286000"/>
            <a:ext cx="7564821" cy="1815882"/>
          </a:xfrm>
          <a:prstGeom prst="rect">
            <a:avLst/>
          </a:prstGeom>
        </p:spPr>
        <p:txBody>
          <a:bodyPr wrap="square">
            <a:spAutoFit/>
          </a:bodyPr>
          <a:lstStyle/>
          <a:p>
            <a:pPr marL="342900" indent="-342900">
              <a:buFont typeface="Wingdings" panose="05000000000000000000" pitchFamily="2" charset="2"/>
              <a:buChar char="q"/>
            </a:pPr>
            <a:r>
              <a:rPr lang="en-US" sz="2800" b="1" dirty="0" smtClean="0"/>
              <a:t>Department of Commerce (DOC)</a:t>
            </a:r>
          </a:p>
          <a:p>
            <a:pPr marL="342900" indent="-342900">
              <a:buFont typeface="Wingdings" panose="05000000000000000000" pitchFamily="2" charset="2"/>
              <a:buChar char="q"/>
            </a:pPr>
            <a:r>
              <a:rPr lang="en-US" sz="2800" b="1" dirty="0" smtClean="0"/>
              <a:t>Government Accounting Office (GAO)</a:t>
            </a:r>
          </a:p>
          <a:p>
            <a:pPr marL="342900" indent="-342900">
              <a:buFont typeface="Wingdings" panose="05000000000000000000" pitchFamily="2" charset="2"/>
              <a:buChar char="q"/>
            </a:pPr>
            <a:r>
              <a:rPr lang="en-US" sz="2800" b="1" dirty="0" smtClean="0"/>
              <a:t>Health and Human Services (HHS)</a:t>
            </a:r>
          </a:p>
          <a:p>
            <a:pPr marL="342900" indent="-342900">
              <a:buFont typeface="Wingdings" panose="05000000000000000000" pitchFamily="2" charset="2"/>
              <a:buChar char="q"/>
            </a:pPr>
            <a:r>
              <a:rPr lang="en-US" sz="2800" b="1" dirty="0" smtClean="0"/>
              <a:t>Office of Management and Budget (OMB)</a:t>
            </a:r>
            <a:endParaRPr lang="en-US" sz="2800" b="1" dirty="0"/>
          </a:p>
        </p:txBody>
      </p:sp>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588579" y="1524000"/>
            <a:ext cx="8001000" cy="674132"/>
          </a:xfrm>
        </p:spPr>
        <p:txBody>
          <a:bodyPr>
            <a:normAutofit fontScale="85000" lnSpcReduction="20000"/>
          </a:bodyPr>
          <a:lstStyle/>
          <a:p>
            <a:pPr marL="109728" indent="0">
              <a:spcAft>
                <a:spcPts val="1800"/>
              </a:spcAft>
              <a:buNone/>
            </a:pPr>
            <a:r>
              <a:rPr lang="en-US" sz="3300" b="1" dirty="0" smtClean="0"/>
              <a:t>HIPAA</a:t>
            </a:r>
            <a:r>
              <a:rPr lang="en-US" sz="2400" b="1" dirty="0" smtClean="0"/>
              <a:t> is administered by which Federal Agency: </a:t>
            </a:r>
          </a:p>
          <a:p>
            <a:pPr marL="109728" indent="0">
              <a:spcAft>
                <a:spcPts val="1800"/>
              </a:spcAft>
              <a:buNone/>
            </a:pPr>
            <a:endParaRPr lang="en-US" sz="2300" b="1" dirty="0" smtClean="0"/>
          </a:p>
        </p:txBody>
      </p:sp>
      <p:grpSp>
        <p:nvGrpSpPr>
          <p:cNvPr id="8" name="Group 7"/>
          <p:cNvGrpSpPr/>
          <p:nvPr/>
        </p:nvGrpSpPr>
        <p:grpSpPr>
          <a:xfrm>
            <a:off x="893379" y="3193941"/>
            <a:ext cx="7641021" cy="3240851"/>
            <a:chOff x="893379" y="3193941"/>
            <a:chExt cx="7641021" cy="3240851"/>
          </a:xfrm>
        </p:grpSpPr>
        <p:sp>
          <p:nvSpPr>
            <p:cNvPr id="4" name="TextBox 3"/>
            <p:cNvSpPr txBox="1"/>
            <p:nvPr/>
          </p:nvSpPr>
          <p:spPr>
            <a:xfrm>
              <a:off x="990600" y="4495800"/>
              <a:ext cx="7543800" cy="1938992"/>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The answer is HHS (Health and Human Services)- mandates that patient medical records and other health care data be protected against security breaches and unauthorized use or disclosure</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893379" y="3193941"/>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11774720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497457" y="1371600"/>
            <a:ext cx="8001000" cy="3809999"/>
          </a:xfrm>
        </p:spPr>
        <p:txBody>
          <a:bodyPr>
            <a:normAutofit/>
          </a:bodyPr>
          <a:lstStyle/>
          <a:p>
            <a:pPr marL="109728" indent="0">
              <a:spcAft>
                <a:spcPts val="1800"/>
              </a:spcAft>
              <a:buNone/>
            </a:pPr>
            <a:r>
              <a:rPr lang="en-US" sz="2400" b="1" dirty="0" smtClean="0"/>
              <a:t>In accordance with HIPAA Title II Subtitle F – Administrative Simplification provisions - you are considered a “covered entity” if you are a healthcare organization that create, receive, maintain, or transmit patient health care information</a:t>
            </a:r>
            <a:endParaRPr lang="en-US" sz="2300" b="1" dirty="0" smtClean="0"/>
          </a:p>
          <a:p>
            <a:pPr lvl="3">
              <a:spcAft>
                <a:spcPts val="1800"/>
              </a:spcAft>
              <a:buClrTx/>
              <a:buFont typeface="Wingdings" panose="05000000000000000000" pitchFamily="2" charset="2"/>
              <a:buChar char="q"/>
            </a:pPr>
            <a:r>
              <a:rPr lang="en-US" sz="2800" b="1" dirty="0" smtClean="0"/>
              <a:t>True</a:t>
            </a:r>
          </a:p>
          <a:p>
            <a:pPr lvl="3">
              <a:spcAft>
                <a:spcPts val="1800"/>
              </a:spcAft>
              <a:buClrTx/>
              <a:buFont typeface="Wingdings" panose="05000000000000000000" pitchFamily="2" charset="2"/>
              <a:buChar char="q"/>
            </a:pPr>
            <a:r>
              <a:rPr lang="en-US" sz="2800" b="1" dirty="0" smtClean="0"/>
              <a:t>False</a:t>
            </a:r>
          </a:p>
        </p:txBody>
      </p:sp>
      <p:grpSp>
        <p:nvGrpSpPr>
          <p:cNvPr id="3" name="Group 2"/>
          <p:cNvGrpSpPr/>
          <p:nvPr/>
        </p:nvGrpSpPr>
        <p:grpSpPr>
          <a:xfrm>
            <a:off x="1371600" y="3507828"/>
            <a:ext cx="7239000" cy="2938632"/>
            <a:chOff x="1407543" y="4390846"/>
            <a:chExt cx="7239000" cy="2938632"/>
          </a:xfrm>
        </p:grpSpPr>
        <p:sp>
          <p:nvSpPr>
            <p:cNvPr id="4" name="TextBox 3"/>
            <p:cNvSpPr txBox="1"/>
            <p:nvPr/>
          </p:nvSpPr>
          <p:spPr>
            <a:xfrm>
              <a:off x="1407543" y="5759818"/>
              <a:ext cx="7239000" cy="1569660"/>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True – HIPAA further delineates that all healthcare providers are considered “covered entities”</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1506746" y="4390846"/>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578821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39083" y="381000"/>
            <a:ext cx="6246760" cy="6858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smtClean="0"/>
              <a:t>Session 3</a:t>
            </a:r>
            <a:endParaRPr lang="en-US" sz="3000" baseline="30000" dirty="0"/>
          </a:p>
        </p:txBody>
      </p:sp>
      <p:pic>
        <p:nvPicPr>
          <p:cNvPr id="2052" name="Picture 4" descr="http://www.cms.gov/ICD10/Downloads/CMS-ICD-10NEWTempproviderV8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431800"/>
            <a:ext cx="66675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ttp://www.cms.gov/ICD10/Downloads/CMS-ICD-10NEWTempproviderV8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5213" y="-431800"/>
            <a:ext cx="6667500"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www.cms.gov/ICD10/Downloads/CMS-ICD-10NEWTempproviderV8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31800"/>
            <a:ext cx="6667500" cy="6667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descr="YouTube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5213" y="-431800"/>
            <a:ext cx="2762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www.cms.gov/ICD10/Downloads/CMS-ICD-10NEWTempproviderV81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17" descr="http://www.cms.gov/ICD10/Downloads/CMS-ICD-10NEWTempproviderV81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431800"/>
            <a:ext cx="5267325" cy="8572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ttp://www.cms.gov/ICD10/Downloads/CMS-ICD-10NEWTempproviderV81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5213" y="-431800"/>
            <a:ext cx="5267325" cy="114300"/>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19" descr="http://www.cms.gov/ICD10/Downloads/CMS-ICD-10NEWTempproviderV81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5213" y="-431800"/>
            <a:ext cx="5267325" cy="2286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1" descr="../0313/images/spacer.gif"/>
          <p:cNvSpPr>
            <a:spLocks noChangeAspect="1" noChangeArrowheads="1"/>
          </p:cNvSpPr>
          <p:nvPr/>
        </p:nvSpPr>
        <p:spPr bwMode="auto">
          <a:xfrm>
            <a:off x="3605213" y="-431800"/>
            <a:ext cx="6286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2" descr="../0313/images/spacer.gif"/>
          <p:cNvSpPr>
            <a:spLocks noChangeAspect="1" noChangeArrowheads="1"/>
          </p:cNvSpPr>
          <p:nvPr/>
        </p:nvSpPr>
        <p:spPr bwMode="auto">
          <a:xfrm>
            <a:off x="3605213" y="-431800"/>
            <a:ext cx="12382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3" descr="../0313/images/spacer.gif"/>
          <p:cNvSpPr>
            <a:spLocks noChangeAspect="1" noChangeArrowheads="1"/>
          </p:cNvSpPr>
          <p:nvPr/>
        </p:nvSpPr>
        <p:spPr bwMode="auto">
          <a:xfrm>
            <a:off x="3605213" y="-431800"/>
            <a:ext cx="85725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4" descr="../0313/images/spacer.gif"/>
          <p:cNvSpPr>
            <a:spLocks noChangeAspect="1" noChangeArrowheads="1"/>
          </p:cNvSpPr>
          <p:nvPr/>
        </p:nvSpPr>
        <p:spPr bwMode="auto">
          <a:xfrm>
            <a:off x="3605213" y="-431800"/>
            <a:ext cx="1590675"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5" descr="../0313/images/spacer.gif"/>
          <p:cNvSpPr>
            <a:spLocks noChangeAspect="1" noChangeArrowheads="1"/>
          </p:cNvSpPr>
          <p:nvPr/>
        </p:nvSpPr>
        <p:spPr bwMode="auto">
          <a:xfrm>
            <a:off x="3605213" y="-431800"/>
            <a:ext cx="28194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26" descr="../0313/images/spacer.gif"/>
          <p:cNvSpPr>
            <a:spLocks noChangeAspect="1" noChangeArrowheads="1"/>
          </p:cNvSpPr>
          <p:nvPr/>
        </p:nvSpPr>
        <p:spPr bwMode="auto">
          <a:xfrm>
            <a:off x="3605213" y="-431800"/>
            <a:ext cx="647700" cy="9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1289380" y="1676400"/>
            <a:ext cx="6400800" cy="3416320"/>
          </a:xfrm>
          <a:prstGeom prst="rect">
            <a:avLst/>
          </a:prstGeom>
        </p:spPr>
        <p:txBody>
          <a:bodyPr wrap="square">
            <a:spAutoFit/>
          </a:bodyPr>
          <a:lstStyle/>
          <a:p>
            <a:pPr algn="just"/>
            <a:r>
              <a:rPr lang="en-US" sz="2400" b="1" dirty="0"/>
              <a:t>Discuss methods and processes to establish a framework for developing and implementing a Privacy and Security Program that demonstrates a “culture of compliance” at the organizational level; and specifically discuss techniques that are required to meet </a:t>
            </a:r>
            <a:r>
              <a:rPr lang="en-US" sz="2400" b="1" dirty="0" smtClean="0"/>
              <a:t>Safeguard </a:t>
            </a:r>
            <a:r>
              <a:rPr lang="en-US" sz="2400" b="1" dirty="0"/>
              <a:t>Standards </a:t>
            </a:r>
            <a:r>
              <a:rPr lang="en-US" sz="2400" b="1" dirty="0" smtClean="0"/>
              <a:t>that </a:t>
            </a:r>
            <a:r>
              <a:rPr lang="en-US" sz="2400" b="1" dirty="0"/>
              <a:t>address technology advancements inherent in EMR/EHR technologies.   </a:t>
            </a:r>
          </a:p>
        </p:txBody>
      </p:sp>
    </p:spTree>
    <p:extLst>
      <p:ext uri="{BB962C8B-B14F-4D97-AF65-F5344CB8AC3E}">
        <p14:creationId xmlns:p14="http://schemas.microsoft.com/office/powerpoint/2010/main" val="2442201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6670" y="1268821"/>
            <a:ext cx="7411529" cy="5632311"/>
          </a:xfrm>
          <a:prstGeom prst="rect">
            <a:avLst/>
          </a:prstGeom>
        </p:spPr>
        <p:txBody>
          <a:bodyPr wrap="square">
            <a:spAutoFit/>
          </a:bodyPr>
          <a:lstStyle/>
          <a:p>
            <a:pPr marL="342900" indent="-342900">
              <a:buFont typeface="Wingdings" panose="05000000000000000000" pitchFamily="2" charset="2"/>
              <a:buChar char="q"/>
            </a:pPr>
            <a:r>
              <a:rPr lang="en-US" b="1" dirty="0" smtClean="0"/>
              <a:t>Risk Management</a:t>
            </a:r>
          </a:p>
          <a:p>
            <a:pPr marL="800100" lvl="1" indent="-342900">
              <a:buFont typeface="Wingdings" panose="05000000000000000000" pitchFamily="2" charset="2"/>
              <a:buChar char="§"/>
            </a:pPr>
            <a:r>
              <a:rPr lang="en-US" dirty="0" smtClean="0"/>
              <a:t>Inventory assets vulnerable to risks, Analyze and quantify risks, </a:t>
            </a:r>
            <a:r>
              <a:rPr lang="en-US" dirty="0"/>
              <a:t>perform threat and vulnerability </a:t>
            </a:r>
            <a:r>
              <a:rPr lang="en-US" dirty="0" smtClean="0"/>
              <a:t>analysis, assess non-technical and technical risk mitigation strategies </a:t>
            </a:r>
          </a:p>
          <a:p>
            <a:pPr marL="342900" indent="-342900">
              <a:buFont typeface="Wingdings" panose="05000000000000000000" pitchFamily="2" charset="2"/>
              <a:buChar char="q"/>
            </a:pPr>
            <a:r>
              <a:rPr lang="en-US" b="1" dirty="0" smtClean="0"/>
              <a:t>Security Governance</a:t>
            </a:r>
          </a:p>
          <a:p>
            <a:pPr marL="800100" lvl="1" indent="-342900">
              <a:buFont typeface="Wingdings" panose="05000000000000000000" pitchFamily="2" charset="2"/>
              <a:buChar char="§"/>
            </a:pPr>
            <a:r>
              <a:rPr lang="en-US" dirty="0" smtClean="0"/>
              <a:t>Assign security responsibilities, develop policies and procedures, institute internal and external audit processes</a:t>
            </a:r>
          </a:p>
          <a:p>
            <a:pPr marL="342900" indent="-342900">
              <a:buFont typeface="Wingdings" panose="05000000000000000000" pitchFamily="2" charset="2"/>
              <a:buChar char="q"/>
            </a:pPr>
            <a:r>
              <a:rPr lang="en-US" b="1" dirty="0" smtClean="0"/>
              <a:t>Security Operations</a:t>
            </a:r>
          </a:p>
          <a:p>
            <a:pPr marL="800100" lvl="1" indent="-342900">
              <a:buFont typeface="Wingdings" panose="05000000000000000000" pitchFamily="2" charset="2"/>
              <a:buChar char="§"/>
            </a:pPr>
            <a:r>
              <a:rPr lang="en-US" dirty="0" smtClean="0"/>
              <a:t>Establish processes to safeguard ePHI, implement policy and procedural instructions, </a:t>
            </a:r>
            <a:r>
              <a:rPr lang="en-US" dirty="0"/>
              <a:t>monitor effectiveness of all safeguards established</a:t>
            </a:r>
            <a:endParaRPr lang="en-US" dirty="0" smtClean="0"/>
          </a:p>
          <a:p>
            <a:pPr marL="342900" indent="-342900">
              <a:buFont typeface="Wingdings" panose="05000000000000000000" pitchFamily="2" charset="2"/>
              <a:buChar char="q"/>
            </a:pPr>
            <a:r>
              <a:rPr lang="en-US" b="1" dirty="0" smtClean="0"/>
              <a:t>Security Awareness</a:t>
            </a:r>
          </a:p>
          <a:p>
            <a:pPr marL="800100" lvl="1" indent="-342900">
              <a:buFont typeface="Wingdings" panose="05000000000000000000" pitchFamily="2" charset="2"/>
              <a:buChar char="§"/>
            </a:pPr>
            <a:r>
              <a:rPr lang="en-US" dirty="0" smtClean="0"/>
              <a:t>Provide initial and periodic HIPAA awareness training to workforce members, provide safeguard specific training as required, establish communication channels and venues for discussing trends, updates and compliance progress/challenges</a:t>
            </a:r>
          </a:p>
          <a:p>
            <a:pPr marL="342900" indent="-342900">
              <a:buFont typeface="Wingdings" panose="05000000000000000000" pitchFamily="2" charset="2"/>
              <a:buChar char="q"/>
            </a:pPr>
            <a:endParaRPr lang="en-US" b="1" dirty="0" smtClean="0"/>
          </a:p>
          <a:p>
            <a:pPr marL="342900" indent="-342900">
              <a:buFont typeface="Wingdings" panose="05000000000000000000" pitchFamily="2" charset="2"/>
              <a:buChar char="q"/>
            </a:pPr>
            <a:endParaRPr lang="en-US"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Effective Security Program</a:t>
            </a:r>
            <a:endParaRPr lang="en-US" sz="3600" dirty="0"/>
          </a:p>
        </p:txBody>
      </p:sp>
    </p:spTree>
    <p:extLst>
      <p:ext uri="{BB962C8B-B14F-4D97-AF65-F5344CB8AC3E}">
        <p14:creationId xmlns:p14="http://schemas.microsoft.com/office/powerpoint/2010/main" val="176205810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1728" y="1279585"/>
            <a:ext cx="7066472" cy="1477328"/>
          </a:xfrm>
          <a:prstGeom prst="rect">
            <a:avLst/>
          </a:prstGeom>
        </p:spPr>
        <p:txBody>
          <a:bodyPr wrap="square">
            <a:spAutoFit/>
          </a:bodyPr>
          <a:lstStyle/>
          <a:p>
            <a:pPr marL="342900" indent="-342900">
              <a:buFont typeface="Wingdings" panose="05000000000000000000" pitchFamily="2" charset="2"/>
              <a:buChar char="q"/>
            </a:pPr>
            <a:r>
              <a:rPr lang="en-US" b="1" dirty="0" smtClean="0"/>
              <a:t>Risk Management</a:t>
            </a:r>
          </a:p>
          <a:p>
            <a:pPr lvl="2"/>
            <a:r>
              <a:rPr lang="en-US" dirty="0" smtClean="0"/>
              <a:t>Inventory assets vulnerable to risks, Analyze and quantify risks, </a:t>
            </a:r>
            <a:r>
              <a:rPr lang="en-US" dirty="0"/>
              <a:t>perform threat and vulnerability </a:t>
            </a:r>
            <a:r>
              <a:rPr lang="en-US" dirty="0" smtClean="0"/>
              <a:t>analysis, assess non-technical and technical risk mitigation strategies </a:t>
            </a:r>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Risk Management</a:t>
            </a:r>
            <a:endParaRPr lang="en-US" sz="3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636431"/>
            <a:ext cx="1828800" cy="1308340"/>
          </a:xfrm>
          <a:prstGeom prst="rect">
            <a:avLst/>
          </a:prstGeom>
        </p:spPr>
      </p:pic>
      <p:sp>
        <p:nvSpPr>
          <p:cNvPr id="5" name="Content Placeholder 1"/>
          <p:cNvSpPr txBox="1">
            <a:spLocks/>
          </p:cNvSpPr>
          <p:nvPr/>
        </p:nvSpPr>
        <p:spPr>
          <a:xfrm>
            <a:off x="818072" y="3124200"/>
            <a:ext cx="7543800" cy="4572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fontAlgn="auto">
              <a:buFont typeface="Wingdings 3"/>
              <a:buNone/>
            </a:pPr>
            <a:r>
              <a:rPr lang="en-US" sz="1800" b="1" i="1" dirty="0" smtClean="0"/>
              <a:t>Risk Management </a:t>
            </a:r>
            <a:r>
              <a:rPr lang="en-US" sz="1400" b="1" dirty="0" smtClean="0"/>
              <a:t>is a key component of the  “Security Management Process”  Standard which also includes the </a:t>
            </a:r>
            <a:r>
              <a:rPr lang="en-US" sz="1800" b="1" i="1" dirty="0" smtClean="0"/>
              <a:t>Risk Analysis </a:t>
            </a:r>
            <a:r>
              <a:rPr lang="en-US" sz="1400" b="1" dirty="0" smtClean="0"/>
              <a:t>Implementation Specification.  </a:t>
            </a:r>
            <a:endParaRPr lang="en-US" sz="1400" b="1" dirty="0"/>
          </a:p>
        </p:txBody>
      </p:sp>
      <p:sp>
        <p:nvSpPr>
          <p:cNvPr id="6" name="Content Placeholder 1"/>
          <p:cNvSpPr txBox="1">
            <a:spLocks/>
          </p:cNvSpPr>
          <p:nvPr/>
        </p:nvSpPr>
        <p:spPr>
          <a:xfrm>
            <a:off x="1098430" y="3810000"/>
            <a:ext cx="7543800" cy="4572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fontAlgn="auto">
              <a:buFont typeface="Wingdings 3"/>
              <a:buNone/>
            </a:pPr>
            <a:r>
              <a:rPr lang="en-US" sz="1400" b="1" i="1" dirty="0" smtClean="0"/>
              <a:t>Your resulting Information Security Program hinges on the results discovered after you’ve conducted a thorough Risk Analysis* of your operations to:</a:t>
            </a:r>
          </a:p>
          <a:p>
            <a:pPr marL="0" indent="0" fontAlgn="auto">
              <a:buFont typeface="Wingdings 3"/>
              <a:buNone/>
            </a:pPr>
            <a:endParaRPr lang="en-US" sz="1400" b="1" i="1" dirty="0" smtClean="0"/>
          </a:p>
          <a:p>
            <a:pPr marL="0" indent="0" fontAlgn="auto">
              <a:buFont typeface="Wingdings 3"/>
              <a:buNone/>
            </a:pPr>
            <a:endParaRPr lang="en-US" sz="1400" b="1" i="1" dirty="0" smtClean="0"/>
          </a:p>
          <a:p>
            <a:pPr marL="493776" lvl="2" indent="0">
              <a:buFont typeface="Wingdings 3"/>
              <a:buNone/>
            </a:pPr>
            <a:r>
              <a:rPr lang="en-US" sz="1400" b="1" i="1" dirty="0" smtClean="0"/>
              <a:t>a) identify potential security risks and</a:t>
            </a:r>
          </a:p>
          <a:p>
            <a:pPr marL="493776" lvl="2" indent="0">
              <a:buFont typeface="Wingdings 3"/>
              <a:buNone/>
            </a:pPr>
            <a:r>
              <a:rPr lang="en-US" sz="1400" b="1" i="1" dirty="0" smtClean="0"/>
              <a:t>b) Determine the probability of occurrence and magnitude of these risks to</a:t>
            </a:r>
          </a:p>
          <a:p>
            <a:pPr marL="493776" lvl="2" indent="0">
              <a:buFont typeface="Wingdings 3"/>
              <a:buNone/>
            </a:pPr>
            <a:endParaRPr lang="en-US" sz="1400" b="1" i="1" dirty="0" smtClean="0"/>
          </a:p>
          <a:p>
            <a:pPr marL="493776" lvl="2" indent="0">
              <a:buFont typeface="Wingdings 3"/>
              <a:buNone/>
            </a:pPr>
            <a:r>
              <a:rPr lang="en-US" sz="1400" b="1" i="1" dirty="0" smtClean="0"/>
              <a:t>c) Implement security measures to reduce or mitigate these risks and/or vulnerabilities uncovered</a:t>
            </a:r>
            <a:r>
              <a:rPr lang="en-US" sz="800" b="1" i="1" dirty="0" smtClean="0"/>
              <a:t>	</a:t>
            </a:r>
            <a:endParaRPr lang="en-US" sz="600" b="1" dirty="0"/>
          </a:p>
        </p:txBody>
      </p:sp>
      <p:sp>
        <p:nvSpPr>
          <p:cNvPr id="7" name="Content Placeholder 1"/>
          <p:cNvSpPr txBox="1">
            <a:spLocks/>
          </p:cNvSpPr>
          <p:nvPr/>
        </p:nvSpPr>
        <p:spPr>
          <a:xfrm>
            <a:off x="1026543" y="4513052"/>
            <a:ext cx="1125747" cy="228600"/>
          </a:xfrm>
          <a:prstGeom prst="rect">
            <a:avLst/>
          </a:prstGeom>
          <a:solidFill>
            <a:srgbClr val="00B0F0"/>
          </a:solidFill>
          <a:effectLst>
            <a:glow rad="101600">
              <a:schemeClr val="accent5">
                <a:satMod val="175000"/>
                <a:alpha val="40000"/>
              </a:schemeClr>
            </a:glow>
            <a:outerShdw blurRad="50800" dist="38100" dir="5400000" algn="t" rotWithShape="0">
              <a:prstClr val="black">
                <a:alpha val="40000"/>
              </a:prstClr>
            </a:outerShdw>
          </a:effectLst>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000" b="1" dirty="0" smtClean="0"/>
              <a:t>Risk Analysis</a:t>
            </a:r>
            <a:endParaRPr lang="en-US" sz="1000" b="1" dirty="0"/>
          </a:p>
        </p:txBody>
      </p:sp>
      <p:sp>
        <p:nvSpPr>
          <p:cNvPr id="8" name="Content Placeholder 1"/>
          <p:cNvSpPr txBox="1">
            <a:spLocks/>
          </p:cNvSpPr>
          <p:nvPr/>
        </p:nvSpPr>
        <p:spPr>
          <a:xfrm>
            <a:off x="1059611" y="5349815"/>
            <a:ext cx="1454989" cy="228600"/>
          </a:xfrm>
          <a:prstGeom prst="rect">
            <a:avLst/>
          </a:prstGeom>
          <a:solidFill>
            <a:srgbClr val="00B0F0"/>
          </a:solidFill>
          <a:effectLst>
            <a:glow rad="101600">
              <a:schemeClr val="accent5">
                <a:satMod val="175000"/>
                <a:alpha val="40000"/>
              </a:schemeClr>
            </a:glow>
            <a:outerShdw blurRad="50800" dist="38100" dir="5400000" algn="t" rotWithShape="0">
              <a:prstClr val="black">
                <a:alpha val="40000"/>
              </a:prstClr>
            </a:outerShdw>
          </a:effectLst>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000" b="1" dirty="0" smtClean="0"/>
              <a:t>Risk Management</a:t>
            </a:r>
            <a:endParaRPr lang="en-US" sz="1000" b="1" dirty="0"/>
          </a:p>
        </p:txBody>
      </p:sp>
      <p:sp>
        <p:nvSpPr>
          <p:cNvPr id="9" name="Content Placeholder 1"/>
          <p:cNvSpPr txBox="1">
            <a:spLocks/>
          </p:cNvSpPr>
          <p:nvPr/>
        </p:nvSpPr>
        <p:spPr>
          <a:xfrm>
            <a:off x="4924964" y="6096000"/>
            <a:ext cx="2154447" cy="4572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fontAlgn="auto">
              <a:buFont typeface="Wingdings 3"/>
              <a:buNone/>
            </a:pPr>
            <a:r>
              <a:rPr lang="en-US" sz="1200" b="1" i="1" dirty="0" smtClean="0"/>
              <a:t>*Key component of Meaningful Use Program</a:t>
            </a:r>
            <a:endParaRPr lang="en-US" sz="1200" b="1" dirty="0"/>
          </a:p>
        </p:txBody>
      </p:sp>
      <p:sp>
        <p:nvSpPr>
          <p:cNvPr id="10" name="Rectangle 9"/>
          <p:cNvSpPr/>
          <p:nvPr/>
        </p:nvSpPr>
        <p:spPr>
          <a:xfrm>
            <a:off x="5554693" y="4507917"/>
            <a:ext cx="2771236" cy="246221"/>
          </a:xfrm>
          <a:prstGeom prst="rect">
            <a:avLst/>
          </a:prstGeom>
          <a:solidFill>
            <a:schemeClr val="accent1">
              <a:lumMod val="75000"/>
            </a:schemeClr>
          </a:solidFill>
        </p:spPr>
        <p:txBody>
          <a:bodyPr wrap="square">
            <a:spAutoFit/>
          </a:bodyPr>
          <a:lstStyle/>
          <a:p>
            <a:r>
              <a:rPr lang="en-US" sz="1000" b="1" dirty="0" smtClean="0">
                <a:solidFill>
                  <a:schemeClr val="bg1"/>
                </a:solidFill>
              </a:rPr>
              <a:t>Vulnerability </a:t>
            </a:r>
            <a:r>
              <a:rPr lang="en-US" sz="1000" dirty="0" smtClean="0">
                <a:solidFill>
                  <a:schemeClr val="bg1"/>
                </a:solidFill>
              </a:rPr>
              <a:t>exploited by</a:t>
            </a:r>
            <a:r>
              <a:rPr lang="en-US" sz="1000" b="1" dirty="0" smtClean="0">
                <a:solidFill>
                  <a:schemeClr val="bg1"/>
                </a:solidFill>
              </a:rPr>
              <a:t> Threat = Risk</a:t>
            </a:r>
          </a:p>
        </p:txBody>
      </p:sp>
    </p:spTree>
    <p:extLst>
      <p:ext uri="{BB962C8B-B14F-4D97-AF65-F5344CB8AC3E}">
        <p14:creationId xmlns:p14="http://schemas.microsoft.com/office/powerpoint/2010/main" val="220002675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312691"/>
            <a:ext cx="7411529" cy="1846659"/>
          </a:xfrm>
          <a:prstGeom prst="rect">
            <a:avLst/>
          </a:prstGeom>
        </p:spPr>
        <p:txBody>
          <a:bodyPr wrap="square">
            <a:spAutoFit/>
          </a:bodyPr>
          <a:lstStyle/>
          <a:p>
            <a:pPr marL="342900" indent="-342900">
              <a:buFont typeface="Wingdings" panose="05000000000000000000" pitchFamily="2" charset="2"/>
              <a:buChar char="q"/>
            </a:pPr>
            <a:r>
              <a:rPr lang="en-US" b="1" dirty="0" smtClean="0"/>
              <a:t>Security Governance</a:t>
            </a:r>
          </a:p>
          <a:p>
            <a:pPr lvl="2"/>
            <a:r>
              <a:rPr lang="en-US" sz="2000" dirty="0" smtClean="0"/>
              <a:t>Assign security responsibilities, develop policies and procedures, institute internal and external audit processes</a:t>
            </a:r>
          </a:p>
          <a:p>
            <a:pPr marL="342900" indent="-342900">
              <a:buFont typeface="Wingdings" panose="05000000000000000000" pitchFamily="2" charset="2"/>
              <a:buChar char="q"/>
            </a:pPr>
            <a:endParaRPr lang="en-US" b="1" dirty="0" smtClean="0"/>
          </a:p>
          <a:p>
            <a:pPr marL="342900" indent="-342900">
              <a:buFont typeface="Wingdings" panose="05000000000000000000" pitchFamily="2" charset="2"/>
              <a:buChar char="q"/>
            </a:pPr>
            <a:endParaRPr lang="en-US"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Security Governance</a:t>
            </a:r>
            <a:endParaRPr lang="en-US" sz="3600" dirty="0"/>
          </a:p>
        </p:txBody>
      </p:sp>
      <p:sp>
        <p:nvSpPr>
          <p:cNvPr id="4" name="Content Placeholder 1"/>
          <p:cNvSpPr txBox="1">
            <a:spLocks/>
          </p:cNvSpPr>
          <p:nvPr/>
        </p:nvSpPr>
        <p:spPr>
          <a:xfrm>
            <a:off x="585875" y="2743200"/>
            <a:ext cx="4676237" cy="4572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fontAlgn="auto">
              <a:buFont typeface="Wingdings 3"/>
              <a:buNone/>
            </a:pPr>
            <a:r>
              <a:rPr lang="en-US" sz="1800" b="1" dirty="0" smtClean="0"/>
              <a:t>The “Assign Security Responsibility” Standard stands alone and instructs that – a covered entity must assign the security responsibility to an individual to assure that the CE complies with </a:t>
            </a:r>
            <a:r>
              <a:rPr lang="en-US" sz="1800" b="1" i="1" u="sng" dirty="0" smtClean="0"/>
              <a:t>both</a:t>
            </a:r>
            <a:r>
              <a:rPr lang="en-US" sz="1800" b="1" dirty="0" smtClean="0"/>
              <a:t> the Privacy and Security Rule.</a:t>
            </a:r>
          </a:p>
          <a:p>
            <a:pPr marL="0" indent="0" fontAlgn="auto">
              <a:buFont typeface="Wingdings 3"/>
              <a:buNone/>
            </a:pPr>
            <a:endParaRPr lang="en-US" sz="1800" b="1" dirty="0" smtClean="0"/>
          </a:p>
          <a:p>
            <a:pPr marL="0" indent="0" fontAlgn="auto">
              <a:buFont typeface="Wingdings 3"/>
              <a:buNone/>
            </a:pPr>
            <a:r>
              <a:rPr lang="en-US" sz="1800" b="1" dirty="0" smtClean="0"/>
              <a:t>A complete suite of policies, procedures and forms comprises evidence of an effective Security Program and must be managed by the Security official.</a:t>
            </a:r>
            <a:endParaRPr lang="en-US" sz="1400" b="1"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7798" y="2743200"/>
            <a:ext cx="3127343" cy="2081212"/>
          </a:xfrm>
          <a:prstGeom prst="rect">
            <a:avLst/>
          </a:prstGeom>
        </p:spPr>
      </p:pic>
    </p:spTree>
    <p:extLst>
      <p:ext uri="{BB962C8B-B14F-4D97-AF65-F5344CB8AC3E}">
        <p14:creationId xmlns:p14="http://schemas.microsoft.com/office/powerpoint/2010/main" val="220002675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371600"/>
            <a:ext cx="7411529" cy="1477328"/>
          </a:xfrm>
          <a:prstGeom prst="rect">
            <a:avLst/>
          </a:prstGeom>
        </p:spPr>
        <p:txBody>
          <a:bodyPr wrap="square">
            <a:spAutoFit/>
          </a:bodyPr>
          <a:lstStyle/>
          <a:p>
            <a:pPr marL="342900" indent="-342900">
              <a:buFont typeface="Wingdings" panose="05000000000000000000" pitchFamily="2" charset="2"/>
              <a:buChar char="q"/>
            </a:pPr>
            <a:r>
              <a:rPr lang="en-US" b="1" dirty="0" smtClean="0"/>
              <a:t>Security Operations</a:t>
            </a:r>
          </a:p>
          <a:p>
            <a:pPr lvl="2"/>
            <a:r>
              <a:rPr lang="en-US" dirty="0" smtClean="0"/>
              <a:t>Establish processes to safeguard ePHI, implement policy and procedural instructions, </a:t>
            </a:r>
            <a:r>
              <a:rPr lang="en-US" dirty="0"/>
              <a:t>monitor effectiveness of all safeguards </a:t>
            </a:r>
            <a:r>
              <a:rPr lang="en-US" dirty="0" smtClean="0"/>
              <a:t>established</a:t>
            </a:r>
            <a:endParaRPr lang="en-US" b="1" dirty="0" smtClean="0"/>
          </a:p>
          <a:p>
            <a:pPr marL="342900" indent="-342900">
              <a:buFont typeface="Wingdings" panose="05000000000000000000" pitchFamily="2" charset="2"/>
              <a:buChar char="q"/>
            </a:pPr>
            <a:endParaRPr lang="en-US"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Security Operations</a:t>
            </a:r>
            <a:endParaRPr lang="en-US" sz="36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3048000"/>
            <a:ext cx="4302288" cy="2743200"/>
          </a:xfrm>
          <a:prstGeom prst="rect">
            <a:avLst/>
          </a:prstGeom>
        </p:spPr>
      </p:pic>
      <p:sp>
        <p:nvSpPr>
          <p:cNvPr id="6" name="Content Placeholder 1"/>
          <p:cNvSpPr txBox="1">
            <a:spLocks/>
          </p:cNvSpPr>
          <p:nvPr/>
        </p:nvSpPr>
        <p:spPr>
          <a:xfrm>
            <a:off x="576532" y="2796064"/>
            <a:ext cx="3352800" cy="3247072"/>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buNone/>
            </a:pPr>
            <a:r>
              <a:rPr lang="en-US" sz="1800" b="1" dirty="0" smtClean="0"/>
              <a:t>Access controls, person or entity </a:t>
            </a:r>
            <a:r>
              <a:rPr lang="en-US" sz="1800" b="1" dirty="0"/>
              <a:t>authentication, workstation use, </a:t>
            </a:r>
            <a:r>
              <a:rPr lang="en-US" sz="1800" b="1" dirty="0" smtClean="0"/>
              <a:t>transmission security and all other </a:t>
            </a:r>
            <a:r>
              <a:rPr lang="en-US" sz="1800" b="1" u="sng" dirty="0" smtClean="0"/>
              <a:t>operational</a:t>
            </a:r>
            <a:r>
              <a:rPr lang="en-US" sz="1800" b="1" dirty="0" smtClean="0"/>
              <a:t> related security measures will be carried out routinely and effectively by personnel in an organization that promotes a “Culture of Compliance” philosophy.</a:t>
            </a:r>
          </a:p>
          <a:p>
            <a:pPr marL="0" indent="0" fontAlgn="auto">
              <a:buFont typeface="Wingdings 3"/>
              <a:buNone/>
            </a:pPr>
            <a:endParaRPr lang="en-US" sz="1800" b="1" dirty="0" smtClean="0"/>
          </a:p>
        </p:txBody>
      </p:sp>
    </p:spTree>
    <p:extLst>
      <p:ext uri="{BB962C8B-B14F-4D97-AF65-F5344CB8AC3E}">
        <p14:creationId xmlns:p14="http://schemas.microsoft.com/office/powerpoint/2010/main" val="220002675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0" y="1219200"/>
            <a:ext cx="5963730" cy="2585323"/>
          </a:xfrm>
          <a:prstGeom prst="rect">
            <a:avLst/>
          </a:prstGeom>
        </p:spPr>
        <p:txBody>
          <a:bodyPr wrap="square">
            <a:spAutoFit/>
          </a:bodyPr>
          <a:lstStyle/>
          <a:p>
            <a:pPr marL="342900" indent="-342900">
              <a:buFont typeface="Wingdings" panose="05000000000000000000" pitchFamily="2" charset="2"/>
              <a:buChar char="q"/>
            </a:pPr>
            <a:r>
              <a:rPr lang="en-US" b="1" dirty="0" smtClean="0"/>
              <a:t>Security Awareness</a:t>
            </a:r>
          </a:p>
          <a:p>
            <a:pPr lvl="2"/>
            <a:r>
              <a:rPr lang="en-US" dirty="0" smtClean="0"/>
              <a:t>Provide initial and periodic HIPAA awareness training to workforce members, provide safeguard specific training as required, establish communication channels and venues for discussing trends, updates and compliance progress/challenges</a:t>
            </a:r>
            <a:endParaRPr lang="en-US" b="1" dirty="0" smtClean="0"/>
          </a:p>
          <a:p>
            <a:pPr marL="342900" indent="-342900">
              <a:buFont typeface="Wingdings" panose="05000000000000000000" pitchFamily="2" charset="2"/>
              <a:buChar char="q"/>
            </a:pPr>
            <a:endParaRPr lang="en-US"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Security Awareness</a:t>
            </a:r>
            <a:endParaRPr lang="en-US" sz="3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659761"/>
            <a:ext cx="2460276" cy="2133600"/>
          </a:xfrm>
          <a:prstGeom prst="rect">
            <a:avLst/>
          </a:prstGeom>
        </p:spPr>
      </p:pic>
      <p:sp>
        <p:nvSpPr>
          <p:cNvPr id="5" name="Content Placeholder 1"/>
          <p:cNvSpPr txBox="1">
            <a:spLocks/>
          </p:cNvSpPr>
          <p:nvPr/>
        </p:nvSpPr>
        <p:spPr>
          <a:xfrm>
            <a:off x="1187570" y="2004204"/>
            <a:ext cx="790036" cy="228600"/>
          </a:xfrm>
          <a:prstGeom prst="rect">
            <a:avLst/>
          </a:prstGeom>
          <a:scene3d>
            <a:camera prst="isometricOffAxis2Left"/>
            <a:lightRig rig="threePt" dir="t"/>
          </a:scene3d>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fontAlgn="auto">
              <a:buFont typeface="Wingdings 3"/>
              <a:buNone/>
            </a:pPr>
            <a:r>
              <a:rPr lang="en-US" sz="1200" b="1" dirty="0" smtClean="0">
                <a:effectLst>
                  <a:outerShdw blurRad="38100" dist="38100" dir="2700000" algn="tl">
                    <a:srgbClr val="000000">
                      <a:alpha val="43137"/>
                    </a:srgbClr>
                  </a:outerShdw>
                </a:effectLst>
              </a:rPr>
              <a:t>HIPAA</a:t>
            </a:r>
            <a:endParaRPr lang="en-US" sz="1200" b="1" dirty="0">
              <a:effectLst>
                <a:outerShdw blurRad="38100" dist="38100" dir="2700000" algn="tl">
                  <a:srgbClr val="000000">
                    <a:alpha val="43137"/>
                  </a:srgbClr>
                </a:outerShdw>
              </a:effectLst>
            </a:endParaRPr>
          </a:p>
        </p:txBody>
      </p:sp>
      <p:sp>
        <p:nvSpPr>
          <p:cNvPr id="6" name="Content Placeholder 1"/>
          <p:cNvSpPr txBox="1">
            <a:spLocks/>
          </p:cNvSpPr>
          <p:nvPr/>
        </p:nvSpPr>
        <p:spPr>
          <a:xfrm>
            <a:off x="1099150" y="3796510"/>
            <a:ext cx="7575430" cy="2014478"/>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buNone/>
            </a:pPr>
            <a:r>
              <a:rPr lang="en-US" sz="1800" b="1" dirty="0" smtClean="0"/>
              <a:t>YOU cannot document or publish enough policies and procedures to mitigate “Breaches” and/or impermissible uses and disclosures of PHI or ePHI, if your workforce is not </a:t>
            </a:r>
            <a:r>
              <a:rPr lang="en-US" sz="1800" b="1" u="sng" dirty="0" smtClean="0"/>
              <a:t>properly</a:t>
            </a:r>
            <a:r>
              <a:rPr lang="en-US" sz="1800" b="1" dirty="0" smtClean="0"/>
              <a:t> trained or receive periodic refresher HIPAA awareness and security measures training.  This is a firm requirement and evidence that supports its implementation will be evaluated by OCR in the event of an audit, or if a “Breach” occurs and a determination of willful neglect is under evaluation.</a:t>
            </a:r>
          </a:p>
          <a:p>
            <a:pPr marL="0" indent="0" fontAlgn="auto">
              <a:buFont typeface="Wingdings 3"/>
              <a:buNone/>
            </a:pPr>
            <a:endParaRPr lang="en-US" sz="1800" b="1" dirty="0" smtClean="0"/>
          </a:p>
        </p:txBody>
      </p:sp>
    </p:spTree>
    <p:extLst>
      <p:ext uri="{BB962C8B-B14F-4D97-AF65-F5344CB8AC3E}">
        <p14:creationId xmlns:p14="http://schemas.microsoft.com/office/powerpoint/2010/main" val="220002675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295400"/>
            <a:ext cx="7269193" cy="4955203"/>
          </a:xfrm>
          <a:prstGeom prst="rect">
            <a:avLst/>
          </a:prstGeom>
        </p:spPr>
        <p:txBody>
          <a:bodyPr wrap="square">
            <a:spAutoFit/>
          </a:bodyPr>
          <a:lstStyle/>
          <a:p>
            <a:r>
              <a:rPr lang="en-US" sz="2800" b="1" dirty="0" smtClean="0"/>
              <a:t>Managing a patient’s right to request restrictions of Disclosures….</a:t>
            </a:r>
          </a:p>
          <a:p>
            <a:endParaRPr lang="en-US" sz="2800" b="1" dirty="0" smtClean="0"/>
          </a:p>
          <a:p>
            <a:pPr lvl="1"/>
            <a:r>
              <a:rPr lang="en-US" sz="2000" b="1" i="1" dirty="0" smtClean="0"/>
              <a:t>HIPAA-Omnibus Rule, effective Sept 2013</a:t>
            </a:r>
            <a:r>
              <a:rPr lang="en-US" sz="2000" b="1" dirty="0" smtClean="0"/>
              <a:t>, </a:t>
            </a:r>
            <a:r>
              <a:rPr lang="en-US" sz="2400" b="1" dirty="0" smtClean="0"/>
              <a:t>“requires that a CE must agree to request of patient to restrict disclosure of PHI about patient to health plan if the disclosure is for the purposes of carrying out payment or health care operations and not otherwise required by law—and the PHI pertains solely to a health care item or service for which the patient has paid the CE in full”</a:t>
            </a:r>
            <a:r>
              <a:rPr lang="en-US" sz="2000" b="1" dirty="0" smtClean="0"/>
              <a:t>.  </a:t>
            </a:r>
          </a:p>
          <a:p>
            <a:pPr marL="342900" indent="-342900">
              <a:buFont typeface="Wingdings" panose="05000000000000000000" pitchFamily="2" charset="2"/>
              <a:buChar char="q"/>
            </a:pPr>
            <a:endParaRPr lang="en-US" sz="2000"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New Privacy Rule Challenge</a:t>
            </a:r>
            <a:endParaRPr lang="en-US" sz="3600" dirty="0"/>
          </a:p>
        </p:txBody>
      </p:sp>
    </p:spTree>
    <p:extLst>
      <p:ext uri="{BB962C8B-B14F-4D97-AF65-F5344CB8AC3E}">
        <p14:creationId xmlns:p14="http://schemas.microsoft.com/office/powerpoint/2010/main" val="143506621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6865" y="1295400"/>
            <a:ext cx="7106728" cy="4431983"/>
          </a:xfrm>
          <a:prstGeom prst="rect">
            <a:avLst/>
          </a:prstGeom>
        </p:spPr>
        <p:txBody>
          <a:bodyPr wrap="square">
            <a:spAutoFit/>
          </a:bodyPr>
          <a:lstStyle/>
          <a:p>
            <a:r>
              <a:rPr lang="en-US" sz="1400" b="1" dirty="0" smtClean="0"/>
              <a:t>Managing a patient’s right to request restrictions of Disclosures......</a:t>
            </a:r>
          </a:p>
          <a:p>
            <a:endParaRPr lang="en-US" sz="2800" b="1" dirty="0" smtClean="0"/>
          </a:p>
          <a:p>
            <a:pPr marL="800100" lvl="1" indent="-342900">
              <a:buFont typeface="Wingdings" panose="05000000000000000000" pitchFamily="2" charset="2"/>
              <a:buChar char="q"/>
            </a:pPr>
            <a:r>
              <a:rPr lang="en-US" sz="2000" b="1" dirty="0" smtClean="0"/>
              <a:t>Re-evaluate Workflow for Challenges</a:t>
            </a:r>
          </a:p>
          <a:p>
            <a:pPr marL="800100" lvl="1" indent="-342900">
              <a:buFont typeface="Wingdings" panose="05000000000000000000" pitchFamily="2" charset="2"/>
              <a:buChar char="q"/>
            </a:pPr>
            <a:r>
              <a:rPr lang="en-US" sz="2000" b="1" dirty="0" smtClean="0"/>
              <a:t>Preparing for receiving request for restriction</a:t>
            </a:r>
          </a:p>
          <a:p>
            <a:pPr marL="800100" lvl="1" indent="-342900">
              <a:buFont typeface="Wingdings" panose="05000000000000000000" pitchFamily="2" charset="2"/>
              <a:buChar char="q"/>
            </a:pPr>
            <a:r>
              <a:rPr lang="en-US" sz="2000" b="1" dirty="0" smtClean="0"/>
              <a:t>Defining Documentation for request for restriction</a:t>
            </a:r>
          </a:p>
          <a:p>
            <a:pPr marL="800100" lvl="1" indent="-342900">
              <a:buFont typeface="Wingdings" panose="05000000000000000000" pitchFamily="2" charset="2"/>
              <a:buChar char="q"/>
            </a:pPr>
            <a:r>
              <a:rPr lang="en-US" sz="2000" b="1" dirty="0" smtClean="0"/>
              <a:t>Notifying Workflow members of restriction protocols</a:t>
            </a:r>
          </a:p>
          <a:p>
            <a:pPr marL="800100" lvl="1" indent="-342900">
              <a:buFont typeface="Wingdings" panose="05000000000000000000" pitchFamily="2" charset="2"/>
              <a:buChar char="q"/>
            </a:pPr>
            <a:r>
              <a:rPr lang="en-US" sz="2000" b="1" dirty="0" smtClean="0"/>
              <a:t>Responding to request for restriction</a:t>
            </a:r>
          </a:p>
          <a:p>
            <a:pPr marL="800100" lvl="1" indent="-342900">
              <a:buFont typeface="Wingdings" panose="05000000000000000000" pitchFamily="2" charset="2"/>
              <a:buChar char="q"/>
            </a:pPr>
            <a:r>
              <a:rPr lang="en-US" sz="2000" b="1" dirty="0" smtClean="0"/>
              <a:t>Reviewing contracts for impact</a:t>
            </a:r>
          </a:p>
          <a:p>
            <a:pPr marL="800100" lvl="1" indent="-342900">
              <a:buFont typeface="Wingdings" panose="05000000000000000000" pitchFamily="2" charset="2"/>
              <a:buChar char="q"/>
            </a:pPr>
            <a:r>
              <a:rPr lang="en-US" sz="2000" b="1" dirty="0" smtClean="0"/>
              <a:t>Terminating a restriction to a health plan</a:t>
            </a:r>
          </a:p>
          <a:p>
            <a:pPr marL="800100" lvl="1" indent="-342900">
              <a:buFont typeface="Wingdings" panose="05000000000000000000" pitchFamily="2" charset="2"/>
              <a:buChar char="q"/>
            </a:pPr>
            <a:r>
              <a:rPr lang="en-US" sz="2000" b="1" dirty="0" smtClean="0"/>
              <a:t>Educating patients on restriction limitations</a:t>
            </a:r>
          </a:p>
          <a:p>
            <a:pPr marL="800100" lvl="1" indent="-342900">
              <a:buFont typeface="Wingdings" panose="05000000000000000000" pitchFamily="2" charset="2"/>
              <a:buChar char="q"/>
            </a:pPr>
            <a:r>
              <a:rPr lang="en-US" sz="2000" b="1" dirty="0" smtClean="0"/>
              <a:t>EHR documentation/interoperability impacts</a:t>
            </a:r>
          </a:p>
          <a:p>
            <a:pPr marL="342900" indent="-342900">
              <a:buFont typeface="Wingdings" panose="05000000000000000000" pitchFamily="2" charset="2"/>
              <a:buChar char="q"/>
            </a:pPr>
            <a:endParaRPr lang="en-US" sz="2000"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Privacy Rule Challenge </a:t>
            </a:r>
            <a:r>
              <a:rPr lang="en-US" sz="2000" dirty="0" smtClean="0"/>
              <a:t>(cont.)</a:t>
            </a:r>
            <a:endParaRPr lang="en-US" sz="2000" dirty="0"/>
          </a:p>
        </p:txBody>
      </p:sp>
    </p:spTree>
    <p:extLst>
      <p:ext uri="{BB962C8B-B14F-4D97-AF65-F5344CB8AC3E}">
        <p14:creationId xmlns:p14="http://schemas.microsoft.com/office/powerpoint/2010/main" val="335897339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6672" y="1447800"/>
            <a:ext cx="7515045" cy="5016758"/>
          </a:xfrm>
          <a:prstGeom prst="rect">
            <a:avLst/>
          </a:prstGeom>
        </p:spPr>
        <p:txBody>
          <a:bodyPr wrap="square">
            <a:spAutoFit/>
          </a:bodyPr>
          <a:lstStyle/>
          <a:p>
            <a:pPr marL="342900" indent="-342900">
              <a:buFont typeface="Wingdings" panose="05000000000000000000" pitchFamily="2" charset="2"/>
              <a:buChar char="q"/>
            </a:pPr>
            <a:r>
              <a:rPr lang="en-US" sz="2000" b="1" dirty="0" smtClean="0"/>
              <a:t>Never access medical or billing records for family, friends or others unless authorized</a:t>
            </a:r>
          </a:p>
          <a:p>
            <a:pPr marL="342900" indent="-342900">
              <a:buFont typeface="Wingdings" panose="05000000000000000000" pitchFamily="2" charset="2"/>
              <a:buChar char="q"/>
            </a:pPr>
            <a:r>
              <a:rPr lang="en-US" sz="2000" b="1" dirty="0" smtClean="0"/>
              <a:t>Use strong passwords and timed screen savers</a:t>
            </a:r>
          </a:p>
          <a:p>
            <a:pPr marL="342900" indent="-342900">
              <a:buFont typeface="Wingdings" panose="05000000000000000000" pitchFamily="2" charset="2"/>
              <a:buChar char="q"/>
            </a:pPr>
            <a:r>
              <a:rPr lang="en-US" sz="2000" b="1" dirty="0" smtClean="0"/>
              <a:t>Don’t access a computer or patient data using someone else’ password</a:t>
            </a:r>
          </a:p>
          <a:p>
            <a:pPr marL="342900" indent="-342900">
              <a:buFont typeface="Wingdings" panose="05000000000000000000" pitchFamily="2" charset="2"/>
              <a:buChar char="q"/>
            </a:pPr>
            <a:r>
              <a:rPr lang="en-US" sz="2000" b="1" dirty="0" smtClean="0"/>
              <a:t>Don’t leave e-PHI open when you walk away</a:t>
            </a:r>
          </a:p>
          <a:p>
            <a:pPr marL="342900" indent="-342900">
              <a:buFont typeface="Wingdings" panose="05000000000000000000" pitchFamily="2" charset="2"/>
              <a:buChar char="q"/>
            </a:pPr>
            <a:r>
              <a:rPr lang="en-US" sz="2000" b="1" dirty="0" smtClean="0"/>
              <a:t>Scan for viruses, spyware, and other threats before installing new data or programs</a:t>
            </a:r>
          </a:p>
          <a:p>
            <a:pPr marL="342900" indent="-342900">
              <a:buFont typeface="Wingdings" panose="05000000000000000000" pitchFamily="2" charset="2"/>
              <a:buChar char="q"/>
            </a:pPr>
            <a:r>
              <a:rPr lang="en-US" sz="2000" b="1" dirty="0" smtClean="0"/>
              <a:t>Use encryption for transmitting e-PHI and also e-PHI at rest</a:t>
            </a:r>
          </a:p>
          <a:p>
            <a:pPr marL="342900" indent="-342900">
              <a:buFont typeface="Wingdings" panose="05000000000000000000" pitchFamily="2" charset="2"/>
              <a:buChar char="q"/>
            </a:pPr>
            <a:r>
              <a:rPr lang="en-US" sz="2000" b="1" dirty="0" smtClean="0"/>
              <a:t>Always close, file, lock or shred or properly dispose of e-PHI when done</a:t>
            </a:r>
          </a:p>
          <a:p>
            <a:pPr marL="342900" indent="-342900">
              <a:buFont typeface="Wingdings" panose="05000000000000000000" pitchFamily="2" charset="2"/>
              <a:buChar char="q"/>
            </a:pPr>
            <a:r>
              <a:rPr lang="en-US" sz="2000" b="1" dirty="0" smtClean="0"/>
              <a:t>Beware of hackers or scammers impersonating staff</a:t>
            </a:r>
          </a:p>
          <a:p>
            <a:pPr marL="342900" indent="-342900">
              <a:buFont typeface="Wingdings" panose="05000000000000000000" pitchFamily="2" charset="2"/>
              <a:buChar char="q"/>
            </a:pPr>
            <a:r>
              <a:rPr lang="en-US" sz="2000" b="1" dirty="0" smtClean="0"/>
              <a:t>Verify identities before giving access to PHI or e-PHI</a:t>
            </a:r>
          </a:p>
          <a:p>
            <a:pPr marL="342900" indent="-342900">
              <a:buFont typeface="Wingdings" panose="05000000000000000000" pitchFamily="2" charset="2"/>
              <a:buChar char="q"/>
            </a:pPr>
            <a:endParaRPr lang="en-US" sz="2000" b="1" dirty="0" smtClean="0"/>
          </a:p>
          <a:p>
            <a:pPr marL="342900" indent="-342900">
              <a:buFont typeface="Wingdings" panose="05000000000000000000" pitchFamily="2" charset="2"/>
              <a:buChar char="q"/>
            </a:pPr>
            <a:endParaRPr lang="en-US" sz="2000" dirty="0" smtClean="0"/>
          </a:p>
        </p:txBody>
      </p:sp>
      <p:sp>
        <p:nvSpPr>
          <p:cNvPr id="3" name="Title 1"/>
          <p:cNvSpPr txBox="1">
            <a:spLocks/>
          </p:cNvSpPr>
          <p:nvPr/>
        </p:nvSpPr>
        <p:spPr>
          <a:xfrm>
            <a:off x="457200" y="393940"/>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“Safe Computing” Guidelines</a:t>
            </a:r>
            <a:endParaRPr lang="en-US" sz="3600" dirty="0"/>
          </a:p>
        </p:txBody>
      </p:sp>
    </p:spTree>
    <p:extLst>
      <p:ext uri="{BB962C8B-B14F-4D97-AF65-F5344CB8AC3E}">
        <p14:creationId xmlns:p14="http://schemas.microsoft.com/office/powerpoint/2010/main" val="364827893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598" y="1635102"/>
            <a:ext cx="6222521" cy="4524315"/>
          </a:xfrm>
          <a:prstGeom prst="rect">
            <a:avLst/>
          </a:prstGeom>
        </p:spPr>
        <p:txBody>
          <a:bodyPr wrap="square">
            <a:spAutoFit/>
          </a:bodyPr>
          <a:lstStyle/>
          <a:p>
            <a:pPr marL="342900" indent="-342900">
              <a:buFont typeface="Wingdings" panose="05000000000000000000" pitchFamily="2" charset="2"/>
              <a:buChar char="q"/>
            </a:pPr>
            <a:r>
              <a:rPr lang="en-US" b="1" dirty="0" smtClean="0"/>
              <a:t>Easily assessable HIPAA Privacy, Security, Breach policies and procedures along with other related documents, specifically updated to reflect latest Omnibus Rule additions</a:t>
            </a:r>
          </a:p>
          <a:p>
            <a:pPr marL="342900" indent="-342900">
              <a:buFont typeface="Wingdings" panose="05000000000000000000" pitchFamily="2" charset="2"/>
              <a:buChar char="q"/>
            </a:pPr>
            <a:r>
              <a:rPr lang="en-US" b="1" dirty="0" smtClean="0"/>
              <a:t>Perform at least annually, a security Risk Analysis and document results along with corrective action/new security measures plans</a:t>
            </a:r>
          </a:p>
          <a:p>
            <a:pPr marL="342900" indent="-342900">
              <a:buFont typeface="Wingdings" panose="05000000000000000000" pitchFamily="2" charset="2"/>
              <a:buChar char="q"/>
            </a:pPr>
            <a:r>
              <a:rPr lang="en-US" b="1" dirty="0" smtClean="0"/>
              <a:t>Develop Comprehensive Contingency Planning documents and make assessable to all responsible workforce members, perform tests/walkthrough of Emergency Operations Plan and document results </a:t>
            </a:r>
          </a:p>
          <a:p>
            <a:pPr marL="342900" indent="-342900">
              <a:buFont typeface="Wingdings" panose="05000000000000000000" pitchFamily="2" charset="2"/>
              <a:buChar char="q"/>
            </a:pPr>
            <a:r>
              <a:rPr lang="en-US" b="1" dirty="0" smtClean="0"/>
              <a:t>Evidence of Workforce Awareness/refresher training activities</a:t>
            </a:r>
          </a:p>
          <a:p>
            <a:pPr marL="342900" indent="-342900">
              <a:buFont typeface="Wingdings" panose="05000000000000000000" pitchFamily="2" charset="2"/>
              <a:buChar char="q"/>
            </a:pPr>
            <a:r>
              <a:rPr lang="en-US" b="1" dirty="0" smtClean="0"/>
              <a:t>Evidence of Audit log reports/results</a:t>
            </a:r>
          </a:p>
          <a:p>
            <a:pPr marL="342900" indent="-342900">
              <a:buFont typeface="Wingdings" panose="05000000000000000000" pitchFamily="2" charset="2"/>
              <a:buChar char="q"/>
            </a:pPr>
            <a:r>
              <a:rPr lang="en-US" b="1" dirty="0" smtClean="0"/>
              <a:t>Develop Audit monitoring plan (internal and external audits) and document/show results</a:t>
            </a:r>
            <a:endParaRPr lang="en-US" dirty="0" smtClean="0"/>
          </a:p>
        </p:txBody>
      </p:sp>
      <p:sp>
        <p:nvSpPr>
          <p:cNvPr id="3" name="Title 1"/>
          <p:cNvSpPr txBox="1">
            <a:spLocks/>
          </p:cNvSpPr>
          <p:nvPr/>
        </p:nvSpPr>
        <p:spPr>
          <a:xfrm>
            <a:off x="457200" y="399691"/>
            <a:ext cx="70104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Evidence of Compliance Tips</a:t>
            </a:r>
            <a:endParaRPr lang="en-US" sz="3600" dirty="0"/>
          </a:p>
        </p:txBody>
      </p:sp>
      <p:sp>
        <p:nvSpPr>
          <p:cNvPr id="5" name="Content Placeholder 1"/>
          <p:cNvSpPr txBox="1">
            <a:spLocks/>
          </p:cNvSpPr>
          <p:nvPr/>
        </p:nvSpPr>
        <p:spPr>
          <a:xfrm>
            <a:off x="299767" y="2971800"/>
            <a:ext cx="1614712" cy="14478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200" b="1" i="1" dirty="0" smtClean="0"/>
              <a:t>*As reported by health care attorney Susan Miller – “national HIPAA/HITECH Act health care expert, Concord MA”</a:t>
            </a:r>
            <a:endParaRPr lang="en-US" sz="1200" b="1" i="1" dirty="0"/>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5567" y="1268479"/>
            <a:ext cx="928912" cy="342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1"/>
          <p:cNvSpPr txBox="1">
            <a:spLocks/>
          </p:cNvSpPr>
          <p:nvPr/>
        </p:nvSpPr>
        <p:spPr>
          <a:xfrm>
            <a:off x="1640659" y="1320238"/>
            <a:ext cx="1614712" cy="3048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fontAlgn="auto">
              <a:buFont typeface="Wingdings 3"/>
              <a:buNone/>
            </a:pPr>
            <a:r>
              <a:rPr lang="en-US" sz="1200" b="1" i="1" dirty="0" smtClean="0"/>
              <a:t>Looks for….</a:t>
            </a:r>
            <a:endParaRPr lang="en-US" sz="1200" b="1" i="1" dirty="0"/>
          </a:p>
        </p:txBody>
      </p:sp>
    </p:spTree>
    <p:extLst>
      <p:ext uri="{BB962C8B-B14F-4D97-AF65-F5344CB8AC3E}">
        <p14:creationId xmlns:p14="http://schemas.microsoft.com/office/powerpoint/2010/main" val="63889936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8200" y="2286000"/>
            <a:ext cx="7564821" cy="1815882"/>
          </a:xfrm>
          <a:prstGeom prst="rect">
            <a:avLst/>
          </a:prstGeom>
        </p:spPr>
        <p:txBody>
          <a:bodyPr wrap="square">
            <a:spAutoFit/>
          </a:bodyPr>
          <a:lstStyle/>
          <a:p>
            <a:pPr marL="342900" indent="-342900">
              <a:buFont typeface="Wingdings" panose="05000000000000000000" pitchFamily="2" charset="2"/>
              <a:buChar char="q"/>
            </a:pPr>
            <a:r>
              <a:rPr lang="en-US" sz="2800" b="1" dirty="0" smtClean="0"/>
              <a:t>Department of Commerce (DOC)</a:t>
            </a:r>
          </a:p>
          <a:p>
            <a:pPr marL="342900" indent="-342900">
              <a:buFont typeface="Wingdings" panose="05000000000000000000" pitchFamily="2" charset="2"/>
              <a:buChar char="q"/>
            </a:pPr>
            <a:r>
              <a:rPr lang="en-US" sz="2800" b="1" dirty="0" smtClean="0"/>
              <a:t>Government Accounting Office (GAO)</a:t>
            </a:r>
          </a:p>
          <a:p>
            <a:pPr marL="342900" indent="-342900">
              <a:buFont typeface="Wingdings" panose="05000000000000000000" pitchFamily="2" charset="2"/>
              <a:buChar char="q"/>
            </a:pPr>
            <a:r>
              <a:rPr lang="en-US" sz="2800" b="1" dirty="0" smtClean="0"/>
              <a:t>Health and Human Services (HHS)</a:t>
            </a:r>
          </a:p>
          <a:p>
            <a:pPr marL="342900" indent="-342900">
              <a:buFont typeface="Wingdings" panose="05000000000000000000" pitchFamily="2" charset="2"/>
              <a:buChar char="q"/>
            </a:pPr>
            <a:r>
              <a:rPr lang="en-US" sz="2800" b="1" dirty="0" smtClean="0"/>
              <a:t>Office of Management and Budget (OMB)</a:t>
            </a:r>
            <a:endParaRPr lang="en-US" sz="2800" b="1" dirty="0"/>
          </a:p>
        </p:txBody>
      </p:sp>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588579" y="1524000"/>
            <a:ext cx="8001000" cy="674132"/>
          </a:xfrm>
        </p:spPr>
        <p:txBody>
          <a:bodyPr>
            <a:normAutofit fontScale="85000" lnSpcReduction="20000"/>
          </a:bodyPr>
          <a:lstStyle/>
          <a:p>
            <a:pPr marL="109728" indent="0">
              <a:spcAft>
                <a:spcPts val="1800"/>
              </a:spcAft>
              <a:buNone/>
            </a:pPr>
            <a:r>
              <a:rPr lang="en-US" sz="3300" b="1" dirty="0" smtClean="0"/>
              <a:t>HIPAA</a:t>
            </a:r>
            <a:r>
              <a:rPr lang="en-US" sz="2400" b="1" dirty="0" smtClean="0"/>
              <a:t> is administered by which Federal Agency: </a:t>
            </a:r>
          </a:p>
          <a:p>
            <a:pPr marL="109728" indent="0">
              <a:spcAft>
                <a:spcPts val="1800"/>
              </a:spcAft>
              <a:buNone/>
            </a:pPr>
            <a:endParaRPr lang="en-US" sz="2300" b="1" dirty="0" smtClean="0"/>
          </a:p>
        </p:txBody>
      </p:sp>
      <p:grpSp>
        <p:nvGrpSpPr>
          <p:cNvPr id="8" name="Group 7"/>
          <p:cNvGrpSpPr/>
          <p:nvPr/>
        </p:nvGrpSpPr>
        <p:grpSpPr>
          <a:xfrm>
            <a:off x="893379" y="3193941"/>
            <a:ext cx="7641021" cy="3240851"/>
            <a:chOff x="893379" y="3193941"/>
            <a:chExt cx="7641021" cy="3240851"/>
          </a:xfrm>
        </p:grpSpPr>
        <p:sp>
          <p:nvSpPr>
            <p:cNvPr id="4" name="TextBox 3"/>
            <p:cNvSpPr txBox="1"/>
            <p:nvPr/>
          </p:nvSpPr>
          <p:spPr>
            <a:xfrm>
              <a:off x="990600" y="4495800"/>
              <a:ext cx="7543800" cy="1938992"/>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The answer is HHS (Health and Human Services)- mandates that patient medical records and other health care data be protected against security breaches and unauthorized use or disclosure</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893379" y="3193941"/>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11774720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62200" y="381000"/>
            <a:ext cx="5105400" cy="639762"/>
          </a:xfrm>
        </p:spPr>
        <p:txBody>
          <a:bodyPr>
            <a:normAutofit fontScale="90000"/>
          </a:bodyPr>
          <a:lstStyle/>
          <a:p>
            <a:r>
              <a:rPr lang="en-US" sz="3600" dirty="0" smtClean="0"/>
              <a:t>Knowledge Check</a:t>
            </a:r>
            <a:endParaRPr lang="en-US" sz="3600" dirty="0"/>
          </a:p>
        </p:txBody>
      </p:sp>
      <p:sp>
        <p:nvSpPr>
          <p:cNvPr id="6" name="Content Placeholder 5"/>
          <p:cNvSpPr>
            <a:spLocks noGrp="1"/>
          </p:cNvSpPr>
          <p:nvPr>
            <p:ph idx="4294967295"/>
          </p:nvPr>
        </p:nvSpPr>
        <p:spPr>
          <a:xfrm>
            <a:off x="497457" y="1371600"/>
            <a:ext cx="8001000" cy="3809999"/>
          </a:xfrm>
        </p:spPr>
        <p:txBody>
          <a:bodyPr>
            <a:normAutofit/>
          </a:bodyPr>
          <a:lstStyle/>
          <a:p>
            <a:pPr marL="109728" indent="0">
              <a:spcAft>
                <a:spcPts val="1800"/>
              </a:spcAft>
              <a:buNone/>
            </a:pPr>
            <a:r>
              <a:rPr lang="en-US" sz="2400" b="1" dirty="0" smtClean="0"/>
              <a:t>In accordance with HIPAA Title II Subtitle F – Administrative Simplification provisions - you are considered a “covered entity” if you are a healthcare organization that create, receive, maintain, or transmit patient health care information</a:t>
            </a:r>
            <a:endParaRPr lang="en-US" sz="2300" b="1" dirty="0" smtClean="0"/>
          </a:p>
          <a:p>
            <a:pPr lvl="3">
              <a:spcAft>
                <a:spcPts val="1800"/>
              </a:spcAft>
              <a:buClrTx/>
              <a:buFont typeface="Wingdings" panose="05000000000000000000" pitchFamily="2" charset="2"/>
              <a:buChar char="q"/>
            </a:pPr>
            <a:r>
              <a:rPr lang="en-US" sz="2800" b="1" dirty="0" smtClean="0"/>
              <a:t>True</a:t>
            </a:r>
          </a:p>
          <a:p>
            <a:pPr lvl="3">
              <a:spcAft>
                <a:spcPts val="1800"/>
              </a:spcAft>
              <a:buClrTx/>
              <a:buFont typeface="Wingdings" panose="05000000000000000000" pitchFamily="2" charset="2"/>
              <a:buChar char="q"/>
            </a:pPr>
            <a:r>
              <a:rPr lang="en-US" sz="2800" b="1" dirty="0" smtClean="0"/>
              <a:t>False</a:t>
            </a:r>
          </a:p>
        </p:txBody>
      </p:sp>
      <p:grpSp>
        <p:nvGrpSpPr>
          <p:cNvPr id="3" name="Group 2"/>
          <p:cNvGrpSpPr/>
          <p:nvPr/>
        </p:nvGrpSpPr>
        <p:grpSpPr>
          <a:xfrm>
            <a:off x="1371600" y="3507828"/>
            <a:ext cx="7239000" cy="2938632"/>
            <a:chOff x="1407543" y="4390846"/>
            <a:chExt cx="7239000" cy="2938632"/>
          </a:xfrm>
        </p:grpSpPr>
        <p:sp>
          <p:nvSpPr>
            <p:cNvPr id="4" name="TextBox 3"/>
            <p:cNvSpPr txBox="1"/>
            <p:nvPr/>
          </p:nvSpPr>
          <p:spPr>
            <a:xfrm>
              <a:off x="1407543" y="5759818"/>
              <a:ext cx="7239000" cy="1569660"/>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True – HIPAA further delineates that all healthcare providers are considered “covered entities”</a:t>
              </a:r>
              <a:endParaRPr lang="en-US" sz="2400" b="1" i="1" u="sng" dirty="0"/>
            </a:p>
            <a:p>
              <a:endParaRPr lang="en-US" sz="2400" b="1" dirty="0">
                <a:latin typeface="Arial" panose="020B0604020202020204" pitchFamily="34" charset="0"/>
                <a:cs typeface="Arial" panose="020B0604020202020204" pitchFamily="34" charset="0"/>
              </a:endParaRPr>
            </a:p>
          </p:txBody>
        </p:sp>
        <p:sp>
          <p:nvSpPr>
            <p:cNvPr id="2" name="TextBox 1"/>
            <p:cNvSpPr txBox="1"/>
            <p:nvPr/>
          </p:nvSpPr>
          <p:spPr>
            <a:xfrm>
              <a:off x="1506746" y="4390846"/>
              <a:ext cx="304800" cy="369332"/>
            </a:xfrm>
            <a:prstGeom prst="rect">
              <a:avLst/>
            </a:prstGeom>
            <a:noFill/>
          </p:spPr>
          <p:txBody>
            <a:bodyPr wrap="square" rtlCol="0">
              <a:spAutoFit/>
            </a:bodyPr>
            <a:lstStyle/>
            <a:p>
              <a:r>
                <a:rPr lang="en-US" b="1" dirty="0" smtClean="0">
                  <a:solidFill>
                    <a:srgbClr val="FF0000"/>
                  </a:solidFill>
                </a:rPr>
                <a:t>X</a:t>
              </a:r>
              <a:endParaRPr lang="en-US" b="1" dirty="0">
                <a:solidFill>
                  <a:srgbClr val="FF0000"/>
                </a:solidFill>
              </a:endParaRPr>
            </a:p>
          </p:txBody>
        </p:sp>
      </p:grpSp>
    </p:spTree>
    <p:extLst>
      <p:ext uri="{BB962C8B-B14F-4D97-AF65-F5344CB8AC3E}">
        <p14:creationId xmlns:p14="http://schemas.microsoft.com/office/powerpoint/2010/main" val="578821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609599" y="304800"/>
            <a:ext cx="3124201"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3600" dirty="0"/>
          </a:p>
        </p:txBody>
      </p:sp>
      <p:sp>
        <p:nvSpPr>
          <p:cNvPr id="7" name="Title 1"/>
          <p:cNvSpPr txBox="1">
            <a:spLocks/>
          </p:cNvSpPr>
          <p:nvPr/>
        </p:nvSpPr>
        <p:spPr>
          <a:xfrm>
            <a:off x="3276600" y="324929"/>
            <a:ext cx="2971800" cy="639762"/>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t>Questions</a:t>
            </a:r>
            <a:endParaRPr lang="en-US" sz="3600"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400" y="1614577"/>
            <a:ext cx="3719423" cy="3719423"/>
          </a:xfrm>
          <a:prstGeom prst="rect">
            <a:avLst/>
          </a:prstGeom>
        </p:spPr>
      </p:pic>
    </p:spTree>
    <p:extLst>
      <p:ext uri="{BB962C8B-B14F-4D97-AF65-F5344CB8AC3E}">
        <p14:creationId xmlns:p14="http://schemas.microsoft.com/office/powerpoint/2010/main" val="187052449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15914</TotalTime>
  <Words>6684</Words>
  <Application>Microsoft Office PowerPoint</Application>
  <PresentationFormat>On-screen Show (4:3)</PresentationFormat>
  <Paragraphs>823</Paragraphs>
  <Slides>103</Slides>
  <Notes>3</Notes>
  <HiddenSlides>0</HiddenSlides>
  <MMClips>1</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103</vt:i4>
      </vt:variant>
    </vt:vector>
  </HeadingPairs>
  <TitlesOfParts>
    <vt:vector size="117" baseType="lpstr">
      <vt:lpstr>Malgun Gothic</vt:lpstr>
      <vt:lpstr>Arial</vt:lpstr>
      <vt:lpstr>Calibri</vt:lpstr>
      <vt:lpstr>Courier New</vt:lpstr>
      <vt:lpstr>FangSong</vt:lpstr>
      <vt:lpstr>FrankRuehl</vt:lpstr>
      <vt:lpstr>Lucida Sans Unicode</vt:lpstr>
      <vt:lpstr>Times New Roman</vt:lpstr>
      <vt:lpstr>Verdana</vt:lpstr>
      <vt:lpstr>Wingdings</vt:lpstr>
      <vt:lpstr>Wingdings 2</vt:lpstr>
      <vt:lpstr>Wingdings 3</vt:lpstr>
      <vt:lpstr>Concourse</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EMR vs. EHR</vt:lpstr>
      <vt:lpstr>PII vs. PHI</vt:lpstr>
      <vt:lpstr>PowerPoint Presentation</vt:lpstr>
      <vt:lpstr>PowerPoint Presentation</vt:lpstr>
      <vt:lpstr>Threats and Vulnerabilities</vt:lpstr>
      <vt:lpstr>Breach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Knowledge Check</vt:lpstr>
      <vt:lpstr>Knowledge Check</vt:lpstr>
      <vt:lpstr>Knowledge Check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HITECH?</vt:lpstr>
      <vt:lpstr>Other HITECH Provisions?</vt:lpstr>
      <vt:lpstr>PowerPoint Presentation</vt:lpstr>
      <vt:lpstr>Knowledge Check</vt:lpstr>
      <vt:lpstr>Knowledge Check</vt:lpstr>
      <vt:lpstr>Knowledge Check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Knowledge Check</vt:lpstr>
      <vt:lpstr>Knowledge Check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Knowledge Check</vt:lpstr>
      <vt:lpstr>Knowledge Check</vt:lpstr>
      <vt:lpstr>PowerPoint Presentation</vt:lpstr>
      <vt:lpstr>PowerPoint Presentation</vt:lpstr>
      <vt:lpstr>PowerPoint Presentation</vt:lpstr>
      <vt:lpstr>PowerPoint Presentation</vt:lpstr>
      <vt:lpstr>Breach Notification Highlights*?</vt:lpstr>
      <vt:lpstr>Breach Notification Highlights*?</vt:lpstr>
      <vt:lpstr>Breach Notification Highlights*?</vt:lpstr>
      <vt:lpstr>Knowledge Check</vt:lpstr>
      <vt:lpstr>Knowledge Check</vt:lpstr>
      <vt:lpstr>PowerPoint Presentation</vt:lpstr>
      <vt:lpstr>PowerPoint Presentation</vt:lpstr>
      <vt:lpstr>PowerPoint Presentation</vt:lpstr>
      <vt:lpstr>Knowledge Check</vt:lpstr>
      <vt:lpstr>Knowledge Check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Knowledge Check</vt:lpstr>
      <vt:lpstr>Knowledge Check</vt:lpstr>
      <vt:lpstr>PowerPoint Presentation</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larry delone</dc:creator>
  <cp:lastModifiedBy>Larry Delone</cp:lastModifiedBy>
  <cp:revision>358</cp:revision>
  <cp:lastPrinted>2014-06-17T14:36:57Z</cp:lastPrinted>
  <dcterms:created xsi:type="dcterms:W3CDTF">2014-01-02T17:16:53Z</dcterms:created>
  <dcterms:modified xsi:type="dcterms:W3CDTF">2015-12-07T19:24:59Z</dcterms:modified>
</cp:coreProperties>
</file>